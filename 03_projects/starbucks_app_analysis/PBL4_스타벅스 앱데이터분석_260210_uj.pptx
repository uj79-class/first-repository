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7" r:id="rId6"/>
    <p:sldId id="268" r:id="rId7"/>
    <p:sldId id="273" r:id="rId8"/>
    <p:sldId id="269" r:id="rId9"/>
    <p:sldId id="270" r:id="rId10"/>
    <p:sldId id="271" r:id="rId11"/>
    <p:sldId id="272" r:id="rId12"/>
    <p:sldId id="261" r:id="rId13"/>
    <p:sldId id="260" r:id="rId14"/>
    <p:sldId id="274" r:id="rId15"/>
    <p:sldId id="262" r:id="rId16"/>
    <p:sldId id="265" r:id="rId17"/>
    <p:sldId id="266" r:id="rId18"/>
  </p:sldIdLst>
  <p:sldSz cx="24384000" cy="13716000"/>
  <p:notesSz cx="6858000" cy="9144000"/>
  <p:embeddedFontLst>
    <p:embeddedFont>
      <p:font typeface="NanumGothic" panose="020D0604000000000000" pitchFamily="34" charset="-127"/>
      <p:regular r:id="rId20"/>
      <p:bold r:id="rId21"/>
    </p:embeddedFont>
    <p:embeddedFont>
      <p:font typeface="맑은 고딕" panose="020B0503020000020004" pitchFamily="34" charset="-127"/>
      <p:regular r:id="rId22"/>
      <p:bold r:id="rId23"/>
    </p:embeddedFont>
    <p:embeddedFont>
      <p:font typeface="Martel Bold" pitchFamily="2" charset="0"/>
      <p:bold r:id="rId24"/>
    </p:embeddedFont>
    <p:embeddedFont>
      <p:font typeface="Martel DemiBold" pitchFamily="2" charset="0"/>
      <p:regular r:id="rId25"/>
      <p:bold r:id="rId26"/>
    </p:embeddedFont>
    <p:embeddedFont>
      <p:font typeface="Martel Light" pitchFamily="2" charset="0"/>
      <p:regular r:id="rId27"/>
    </p:embeddedFont>
    <p:embeddedFont>
      <p:font typeface="Pretendard" panose="02000503000000020004" pitchFamily="2" charset="-127"/>
      <p:regular r:id="rId28"/>
      <p:bold r:id="rId29"/>
    </p:embeddedFont>
    <p:embeddedFont>
      <p:font typeface="Pretendard Bold" panose="02000503000000020004" pitchFamily="2" charset="-127"/>
      <p:bold r:id="rId30"/>
      <p:italic r:id="rId31"/>
    </p:embeddedFont>
    <p:embeddedFont>
      <p:font typeface="Pretendard Medium" panose="02000503000000020004" pitchFamily="2" charset="-127"/>
      <p:regular r:id="rId32"/>
      <p:bold r:id="rId33"/>
    </p:embeddedFont>
    <p:embeddedFont>
      <p:font typeface="Pretendard Regular" panose="02000503000000020004" pitchFamily="2" charset="-127"/>
      <p:regular r:id="rId34"/>
      <p:bold r:id="rId35"/>
    </p:embeddedFont>
    <p:embeddedFont>
      <p:font typeface="Pretendard SemiBold" panose="02000503000000020004" pitchFamily="2" charset="-127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6246"/>
    <a:srgbClr val="1E735A"/>
    <a:srgbClr val="217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81" autoAdjust="0"/>
    <p:restoredTop sz="94653" autoAdjust="0"/>
  </p:normalViewPr>
  <p:slideViewPr>
    <p:cSldViewPr>
      <p:cViewPr varScale="1">
        <p:scale>
          <a:sx n="64" d="100"/>
          <a:sy n="64" d="100"/>
        </p:scale>
        <p:origin x="1408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viewProps" Target="view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0DB49-46A8-6341-8F50-C7530C45AD9F}" type="datetimeFigureOut">
              <a:rPr kumimoji="1" lang="ko-KR" altLang="en-US" smtClean="0"/>
              <a:t>2026. 2. 10.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21D45-67D6-E740-A4B9-37E668D79E4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697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21D45-67D6-E740-A4B9-37E668D79E47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2823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1.png"/><Relationship Id="rId7" Type="http://schemas.openxmlformats.org/officeDocument/2006/relationships/image" Target="../media/image3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24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1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3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2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58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0.png"/><Relationship Id="rId7" Type="http://schemas.openxmlformats.org/officeDocument/2006/relationships/image" Target="../media/image3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5.png"/><Relationship Id="rId5" Type="http://schemas.openxmlformats.org/officeDocument/2006/relationships/image" Target="../media/image61.png"/><Relationship Id="rId10" Type="http://schemas.openxmlformats.org/officeDocument/2006/relationships/image" Target="../media/image64.png"/><Relationship Id="rId4" Type="http://schemas.openxmlformats.org/officeDocument/2006/relationships/image" Target="../media/image55.png"/><Relationship Id="rId9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6.png"/><Relationship Id="rId7" Type="http://schemas.openxmlformats.org/officeDocument/2006/relationships/image" Target="../media/image6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1.png"/><Relationship Id="rId9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1600"/>
            <a:ext cx="190500" cy="6807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0"/>
            <a:ext cx="12192000" cy="13741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10527018"/>
            <a:ext cx="10414000" cy="2451100"/>
          </a:xfrm>
          <a:prstGeom prst="rect">
            <a:avLst/>
          </a:prstGeom>
          <a:noFill/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900" y="12752982"/>
            <a:ext cx="6985000" cy="25400"/>
          </a:xfrm>
          <a:prstGeom prst="rect">
            <a:avLst/>
          </a:prstGeom>
          <a:solidFill>
            <a:srgbClr val="217F64"/>
          </a:solidFill>
          <a:ln>
            <a:solidFill>
              <a:srgbClr val="217F64"/>
            </a:solidFill>
            <a:prstDash val="sysDot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1E735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594100" y="11943068"/>
            <a:ext cx="762000" cy="762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1E735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594100" y="10990568"/>
            <a:ext cx="762000" cy="762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04327" y="12084500"/>
            <a:ext cx="61468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ko-KR" altLang="en-US" sz="4000" b="0" i="0" u="none" strike="noStrike" dirty="0" err="1">
                <a:solidFill>
                  <a:srgbClr val="1E735A"/>
                </a:solidFill>
                <a:latin typeface="Pretendard SemiBold"/>
                <a:ea typeface="Pretendard SemiBold"/>
                <a:cs typeface="Pretendard SemiBold"/>
              </a:rPr>
              <a:t>데분</a:t>
            </a:r>
            <a:r>
              <a:rPr lang="ko-KR" altLang="en-US" sz="4000" b="0" i="0" u="none" strike="noStrike" dirty="0">
                <a:solidFill>
                  <a:srgbClr val="1E735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4000" b="0" i="0" u="none" strike="noStrike" dirty="0">
                <a:solidFill>
                  <a:srgbClr val="1E735A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ko-KR" altLang="en-US" sz="4000" b="0" i="0" u="none" strike="noStrike" dirty="0">
                <a:solidFill>
                  <a:srgbClr val="1E735A"/>
                </a:solidFill>
                <a:latin typeface="Pretendard SemiBold"/>
                <a:ea typeface="Pretendard SemiBold"/>
                <a:cs typeface="Pretendard SemiBold"/>
              </a:rPr>
              <a:t>기 </a:t>
            </a:r>
            <a:r>
              <a:rPr lang="en-US" altLang="ko-KR" sz="4000" b="0" i="0" u="none" strike="noStrike" dirty="0">
                <a:solidFill>
                  <a:srgbClr val="1E735A"/>
                </a:solidFill>
                <a:latin typeface="Pretendard SemiBold"/>
                <a:ea typeface="Pretendard SemiBold"/>
                <a:cs typeface="Pretendard SemiBold"/>
              </a:rPr>
              <a:t>/</a:t>
            </a:r>
            <a:r>
              <a:rPr lang="ko-KR" altLang="en-US" sz="4000" b="0" i="0" u="none" strike="noStrike" dirty="0">
                <a:solidFill>
                  <a:srgbClr val="1E735A"/>
                </a:solidFill>
                <a:latin typeface="Pretendard SemiBold"/>
                <a:ea typeface="Pretendard SemiBold"/>
                <a:cs typeface="Pretendard SemiBold"/>
              </a:rPr>
              <a:t> 박 의 진 </a:t>
            </a:r>
            <a:endParaRPr lang="en-US" sz="4000" b="0" i="0" u="none" strike="noStrike" dirty="0">
              <a:solidFill>
                <a:srgbClr val="1E735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54550" y="11201850"/>
            <a:ext cx="61087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sz="4000" b="0" i="0" u="none" strike="noStrike" dirty="0">
                <a:solidFill>
                  <a:srgbClr val="1E735A"/>
                </a:solidFill>
                <a:latin typeface="Pretendard SemiBold"/>
                <a:ea typeface="Pretendard SemiBold"/>
                <a:cs typeface="Pretendard SemiBold"/>
              </a:rPr>
              <a:t>20</a:t>
            </a:r>
            <a:r>
              <a:rPr lang="en-US" altLang="ko-KR" sz="4000" b="0" i="0" u="none" strike="noStrike" dirty="0">
                <a:solidFill>
                  <a:srgbClr val="1E735A"/>
                </a:solidFill>
                <a:latin typeface="Pretendard SemiBold"/>
                <a:ea typeface="Pretendard SemiBold"/>
                <a:cs typeface="Pretendard SemiBold"/>
              </a:rPr>
              <a:t>26</a:t>
            </a:r>
            <a:r>
              <a:rPr lang="en-US" sz="4000" b="0" i="0" u="none" strike="noStrike" dirty="0">
                <a:solidFill>
                  <a:srgbClr val="1E735A"/>
                </a:solidFill>
                <a:latin typeface="Pretendard SemiBold"/>
                <a:ea typeface="Pretendard SemiBold"/>
                <a:cs typeface="Pretendard SemiBold"/>
              </a:rPr>
              <a:t>.02.</a:t>
            </a:r>
            <a:r>
              <a:rPr lang="en-US" altLang="ko-KR" sz="4000" dirty="0">
                <a:solidFill>
                  <a:srgbClr val="1E735A"/>
                </a:solidFill>
                <a:latin typeface="Pretendard SemiBold"/>
                <a:ea typeface="Pretendard SemiBold"/>
                <a:cs typeface="Pretendard SemiBold"/>
              </a:rPr>
              <a:t>10</a:t>
            </a:r>
            <a:endParaRPr lang="en-US" sz="2400" b="0" i="0" u="none" strike="noStrike" dirty="0">
              <a:solidFill>
                <a:srgbClr val="1E735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98550" y="11079468"/>
            <a:ext cx="2044700" cy="1066800"/>
          </a:xfrm>
          <a:prstGeom prst="rect">
            <a:avLst/>
          </a:prstGeom>
        </p:spPr>
        <p:txBody>
          <a:bodyPr lIns="0" tIns="9737" rIns="0" bIns="0" rtlCol="0" anchor="t"/>
          <a:lstStyle/>
          <a:p>
            <a:pPr lvl="0" algn="l">
              <a:lnSpc>
                <a:spcPct val="112050"/>
              </a:lnSpc>
            </a:pPr>
            <a:r>
              <a:rPr lang="ko-KR" altLang="en-US" sz="4400" b="0" i="0" u="none" strike="noStrike" dirty="0">
                <a:solidFill>
                  <a:srgbClr val="1E735A"/>
                </a:solidFill>
                <a:latin typeface="Pretendard Bold"/>
                <a:ea typeface="Pretendard Bold"/>
                <a:cs typeface="Pretendard Bold"/>
              </a:rPr>
              <a:t>제출자 </a:t>
            </a:r>
            <a:r>
              <a:rPr lang="en-US" altLang="ko-KR" sz="4400" b="0" i="0" u="none" strike="noStrike" dirty="0">
                <a:solidFill>
                  <a:srgbClr val="1E735A"/>
                </a:solidFill>
                <a:latin typeface="Pretendard Bold"/>
                <a:ea typeface="Pretendard Bold"/>
                <a:cs typeface="Pretendard Bold"/>
              </a:rPr>
              <a:t>:</a:t>
            </a:r>
            <a:r>
              <a:rPr lang="ko-KR" altLang="en-US" sz="4400" b="0" i="0" u="none" strike="noStrike" dirty="0">
                <a:solidFill>
                  <a:srgbClr val="1E735A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4400" b="0" i="0" u="none" strike="noStrike" dirty="0">
              <a:solidFill>
                <a:srgbClr val="1E73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47700" y="6032500"/>
            <a:ext cx="9893300" cy="7493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2800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Starbucks app customer rewards program 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7700" y="2406650"/>
            <a:ext cx="11455400" cy="3505200"/>
          </a:xfrm>
          <a:prstGeom prst="rect">
            <a:avLst/>
          </a:prstGeom>
        </p:spPr>
        <p:txBody>
          <a:bodyPr lIns="0" tIns="99060" rIns="0" bIns="0" rtlCol="0" anchor="t"/>
          <a:lstStyle/>
          <a:p>
            <a:pPr>
              <a:lnSpc>
                <a:spcPct val="150000"/>
              </a:lnSpc>
            </a:pPr>
            <a:r>
              <a:rPr kumimoji="1" lang="ko-KR" altLang="en-US" sz="6600" b="1" dirty="0">
                <a:solidFill>
                  <a:schemeClr val="accent2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고객 행동 데이터 분석을 통한</a:t>
            </a:r>
            <a:endParaRPr kumimoji="1" lang="en-US" altLang="ko-KR" sz="6600" b="1" dirty="0">
              <a:solidFill>
                <a:schemeClr val="accent2">
                  <a:lumMod val="7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6600" b="1" dirty="0">
                <a:solidFill>
                  <a:schemeClr val="accent2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앱 프로덕트 성장 전략 도출 </a:t>
            </a:r>
            <a:endParaRPr kumimoji="1" lang="en-US" altLang="ko-KR" sz="6600" b="1" dirty="0">
              <a:solidFill>
                <a:schemeClr val="accent2">
                  <a:lumMod val="7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03749"/>
              </a:lnSpc>
            </a:pPr>
            <a:endParaRPr lang="en-US" sz="7200" b="0" i="0" u="none" strike="noStrike" spc="200" dirty="0">
              <a:solidFill>
                <a:schemeClr val="accent2">
                  <a:lumMod val="75000"/>
                </a:schemeClr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0" name="Picture 5">
            <a:extLst>
              <a:ext uri="{FF2B5EF4-FFF2-40B4-BE49-F238E27FC236}">
                <a16:creationId xmlns:a16="http://schemas.microsoft.com/office/drawing/2014/main" id="{F5EC4407-8A96-8F3C-FC2D-A83810512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886" y="11824150"/>
            <a:ext cx="6985000" cy="25400"/>
          </a:xfrm>
          <a:prstGeom prst="rect">
            <a:avLst/>
          </a:prstGeom>
          <a:solidFill>
            <a:srgbClr val="217F64"/>
          </a:solidFill>
          <a:ln>
            <a:solidFill>
              <a:srgbClr val="217F64"/>
            </a:solidFill>
            <a:prstDash val="sysDot"/>
          </a:ln>
        </p:spPr>
      </p:pic>
      <p:pic>
        <p:nvPicPr>
          <p:cNvPr id="21" name="그림 20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173F1D-203E-1257-51F4-99EDCE406E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18749" y="11641282"/>
            <a:ext cx="3210624" cy="12485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600" y="6438900"/>
            <a:ext cx="24587200" cy="7353300"/>
          </a:xfrm>
          <a:prstGeom prst="rect">
            <a:avLst/>
          </a:prstGeom>
        </p:spPr>
      </p:pic>
      <p:sp>
        <p:nvSpPr>
          <p:cNvPr id="35" name="오른쪽 화살표[R] 34">
            <a:extLst>
              <a:ext uri="{FF2B5EF4-FFF2-40B4-BE49-F238E27FC236}">
                <a16:creationId xmlns:a16="http://schemas.microsoft.com/office/drawing/2014/main" id="{D62E1E85-87D6-E6E2-68FD-D2B5EADCD336}"/>
              </a:ext>
            </a:extLst>
          </p:cNvPr>
          <p:cNvSpPr/>
          <p:nvPr/>
        </p:nvSpPr>
        <p:spPr>
          <a:xfrm>
            <a:off x="5769429" y="11415229"/>
            <a:ext cx="17983200" cy="28354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4" name="오른쪽 화살표[R] 33">
            <a:extLst>
              <a:ext uri="{FF2B5EF4-FFF2-40B4-BE49-F238E27FC236}">
                <a16:creationId xmlns:a16="http://schemas.microsoft.com/office/drawing/2014/main" id="{86CFA2CC-7376-3F23-E4B7-022887D597BD}"/>
              </a:ext>
            </a:extLst>
          </p:cNvPr>
          <p:cNvSpPr/>
          <p:nvPr/>
        </p:nvSpPr>
        <p:spPr>
          <a:xfrm>
            <a:off x="5780314" y="9793770"/>
            <a:ext cx="17983200" cy="28354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3" name="오른쪽 화살표[R] 32">
            <a:extLst>
              <a:ext uri="{FF2B5EF4-FFF2-40B4-BE49-F238E27FC236}">
                <a16:creationId xmlns:a16="http://schemas.microsoft.com/office/drawing/2014/main" id="{D32476A8-C6C4-4419-9FFC-F4AB81801FF5}"/>
              </a:ext>
            </a:extLst>
          </p:cNvPr>
          <p:cNvSpPr/>
          <p:nvPr/>
        </p:nvSpPr>
        <p:spPr>
          <a:xfrm>
            <a:off x="5791200" y="8172589"/>
            <a:ext cx="17983200" cy="28354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41400"/>
            <a:ext cx="24536400" cy="5689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891012" y="8068641"/>
            <a:ext cx="6511787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ko-KR" altLang="en-US" sz="2933" dirty="0" err="1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오퍼</a:t>
            </a:r>
            <a:r>
              <a:rPr lang="ko-KR" altLang="en-US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ko-KR" altLang="en-US" sz="2933" dirty="0" err="1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퍼널</a:t>
            </a:r>
            <a:r>
              <a:rPr lang="ko-KR" altLang="en-US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 구조</a:t>
            </a:r>
            <a:endParaRPr lang="en-US" sz="2933" b="0" i="0" u="none" strike="noStrike" dirty="0">
              <a:solidFill>
                <a:srgbClr val="F3F1ED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932080" y="8068641"/>
            <a:ext cx="7432120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ko-KR" altLang="en-US" sz="2933" dirty="0" err="1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전처리</a:t>
            </a:r>
            <a:r>
              <a:rPr lang="ko-KR" altLang="en-US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 및 분석 단위</a:t>
            </a:r>
            <a:r>
              <a:rPr 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19800" y="8068641"/>
            <a:ext cx="7432120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ko-KR" altLang="en-US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문제 정의 </a:t>
            </a:r>
            <a:r>
              <a:rPr lang="en-US" altLang="ko-KR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&amp;</a:t>
            </a:r>
            <a:r>
              <a:rPr lang="ko-KR" altLang="en-US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 분석 배경 </a:t>
            </a:r>
            <a:endParaRPr lang="en-US" sz="2933" b="0" i="0" u="none" strike="noStrike" dirty="0">
              <a:solidFill>
                <a:srgbClr val="F3F1ED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06500" y="7454900"/>
            <a:ext cx="5537200" cy="1866900"/>
          </a:xfrm>
          <a:prstGeom prst="rect">
            <a:avLst/>
          </a:prstGeom>
        </p:spPr>
        <p:txBody>
          <a:bodyPr lIns="0" tIns="33443" rIns="0" bIns="33443" rtlCol="0" anchor="ctr"/>
          <a:lstStyle/>
          <a:p>
            <a:pPr lvl="0" algn="l">
              <a:lnSpc>
                <a:spcPct val="112050"/>
              </a:lnSpc>
            </a:pPr>
            <a:r>
              <a:rPr lang="en-US" sz="10533" b="0" i="0" u="none" strike="noStrike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953E6315-827C-FA17-1637-81FEDDE5403B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5DCE1786-2A6E-112C-62D3-FAEACDB259A1}"/>
              </a:ext>
            </a:extLst>
          </p:cNvPr>
          <p:cNvSpPr txBox="1"/>
          <p:nvPr/>
        </p:nvSpPr>
        <p:spPr>
          <a:xfrm>
            <a:off x="20078700" y="8068641"/>
            <a:ext cx="3695700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ko-KR" altLang="en-US" sz="2933" b="0" i="0" u="none" strike="noStrike" dirty="0" err="1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오퍼</a:t>
            </a:r>
            <a:r>
              <a:rPr lang="ko-KR" alt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 속성 단독 분석 </a:t>
            </a:r>
            <a:r>
              <a:rPr lang="en-US" altLang="ko-KR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1,2</a:t>
            </a:r>
            <a:endParaRPr lang="en-US" sz="2933" b="0" i="0" u="none" strike="noStrike" dirty="0">
              <a:solidFill>
                <a:srgbClr val="F3F1ED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73DD08C1-8ECC-7131-F4E1-96A9490F15BB}"/>
              </a:ext>
            </a:extLst>
          </p:cNvPr>
          <p:cNvSpPr txBox="1"/>
          <p:nvPr/>
        </p:nvSpPr>
        <p:spPr>
          <a:xfrm>
            <a:off x="15891012" y="9666632"/>
            <a:ext cx="6511787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RFM </a:t>
            </a:r>
            <a:r>
              <a:rPr lang="ko-KR" alt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기반 고객가치 분포</a:t>
            </a:r>
            <a:endParaRPr lang="en-US" sz="2933" b="0" i="0" u="none" strike="noStrike" dirty="0">
              <a:solidFill>
                <a:srgbClr val="F3F1ED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D4BB1DE5-3F20-E3C8-E029-71A7F39D2EFC}"/>
              </a:ext>
            </a:extLst>
          </p:cNvPr>
          <p:cNvSpPr txBox="1"/>
          <p:nvPr/>
        </p:nvSpPr>
        <p:spPr>
          <a:xfrm>
            <a:off x="10932080" y="9666632"/>
            <a:ext cx="7432120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ko-KR" altLang="en-US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코호트</a:t>
            </a:r>
            <a:r>
              <a:rPr lang="ko-KR" alt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ko-KR" altLang="en-US" sz="2933" b="0" i="0" u="none" strike="noStrike" dirty="0" err="1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리텐션</a:t>
            </a:r>
            <a:r>
              <a:rPr lang="ko-KR" alt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 분석</a:t>
            </a:r>
            <a:r>
              <a:rPr 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 </a:t>
            </a: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389ED1D8-1210-4ED5-CBC4-8A24642BF7C1}"/>
              </a:ext>
            </a:extLst>
          </p:cNvPr>
          <p:cNvSpPr txBox="1"/>
          <p:nvPr/>
        </p:nvSpPr>
        <p:spPr>
          <a:xfrm>
            <a:off x="6019800" y="9666632"/>
            <a:ext cx="7432120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ko-KR" altLang="en-US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실패 세그먼트 </a:t>
            </a:r>
            <a:r>
              <a:rPr lang="en-US" altLang="ko-KR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1,</a:t>
            </a:r>
            <a:r>
              <a:rPr lang="ko-KR" altLang="en-US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2</a:t>
            </a:r>
            <a:r>
              <a:rPr lang="ko-KR" altLang="en-US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2933" b="0" i="0" u="none" strike="noStrike" dirty="0">
              <a:solidFill>
                <a:srgbClr val="F3F1ED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76590ABF-8AC1-03E3-232E-47D0A000619C}"/>
              </a:ext>
            </a:extLst>
          </p:cNvPr>
          <p:cNvSpPr txBox="1"/>
          <p:nvPr/>
        </p:nvSpPr>
        <p:spPr>
          <a:xfrm>
            <a:off x="20078700" y="9666632"/>
            <a:ext cx="3695700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ko-KR" alt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이탈 예측 모델</a:t>
            </a:r>
            <a:endParaRPr lang="en-US" sz="2933" b="0" i="0" u="none" strike="noStrike" dirty="0">
              <a:solidFill>
                <a:srgbClr val="F3F1ED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350FE950-B248-9E03-66DA-14F850ECF064}"/>
              </a:ext>
            </a:extLst>
          </p:cNvPr>
          <p:cNvSpPr txBox="1"/>
          <p:nvPr/>
        </p:nvSpPr>
        <p:spPr>
          <a:xfrm>
            <a:off x="15891012" y="11296650"/>
            <a:ext cx="6511787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ko-KR" alt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시사점 </a:t>
            </a:r>
            <a:r>
              <a:rPr lang="en-US" altLang="ko-KR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&amp;</a:t>
            </a:r>
            <a:r>
              <a:rPr lang="ko-KR" alt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 전략 도출</a:t>
            </a:r>
            <a:endParaRPr lang="en-US" sz="2933" b="0" i="0" u="none" strike="noStrike" dirty="0">
              <a:solidFill>
                <a:srgbClr val="F3F1ED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3D0DA431-0ED7-34D8-857F-354D397C9B70}"/>
              </a:ext>
            </a:extLst>
          </p:cNvPr>
          <p:cNvSpPr txBox="1"/>
          <p:nvPr/>
        </p:nvSpPr>
        <p:spPr>
          <a:xfrm>
            <a:off x="10932080" y="11296650"/>
            <a:ext cx="7432120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ko-KR" alt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모델 해석 </a:t>
            </a:r>
            <a:r>
              <a:rPr lang="en-US" altLang="ko-KR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altLang="ko-KR" sz="2933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SHAP)</a:t>
            </a:r>
            <a:r>
              <a:rPr 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 </a:t>
            </a: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0A766C50-6081-2911-6828-5885366984BA}"/>
              </a:ext>
            </a:extLst>
          </p:cNvPr>
          <p:cNvSpPr txBox="1"/>
          <p:nvPr/>
        </p:nvSpPr>
        <p:spPr>
          <a:xfrm>
            <a:off x="6019800" y="11296650"/>
            <a:ext cx="7432120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ko-KR" alt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모델 성능 요약</a:t>
            </a:r>
            <a:endParaRPr lang="en-US" sz="2933" b="0" i="0" u="none" strike="noStrike" dirty="0">
              <a:solidFill>
                <a:srgbClr val="F3F1ED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642549C6-8084-835C-A60B-7D0962008FAB}"/>
              </a:ext>
            </a:extLst>
          </p:cNvPr>
          <p:cNvSpPr txBox="1"/>
          <p:nvPr/>
        </p:nvSpPr>
        <p:spPr>
          <a:xfrm>
            <a:off x="20078700" y="11296650"/>
            <a:ext cx="3695700" cy="5207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103749"/>
              </a:lnSpc>
            </a:pPr>
            <a:r>
              <a:rPr lang="ko-KR" altLang="en-US" sz="2933" b="0" i="0" u="none" strike="noStrike" dirty="0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프로젝트 회고 </a:t>
            </a:r>
            <a:endParaRPr lang="en-US" sz="2933" b="0" i="0" u="none" strike="noStrike" dirty="0">
              <a:solidFill>
                <a:srgbClr val="F3F1ED"/>
              </a:solidFill>
              <a:latin typeface="Pretendard Bold"/>
              <a:ea typeface="Pretendard Bold"/>
              <a:cs typeface="Pretendard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304" y="8621448"/>
            <a:ext cx="24460032" cy="6369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1601"/>
            <a:ext cx="211646" cy="756281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1" y="2222698"/>
            <a:ext cx="16078199" cy="394950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9" name="TextBox 19"/>
          <p:cNvSpPr txBox="1"/>
          <p:nvPr/>
        </p:nvSpPr>
        <p:spPr>
          <a:xfrm>
            <a:off x="8153400" y="2539001"/>
            <a:ext cx="15246351" cy="34807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</a:t>
            </a:r>
            <a:r>
              <a:rPr lang="ko-KR" altLang="en-US" sz="2800" i="0" u="none" strike="noStrike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데이터는 </a:t>
            </a:r>
            <a:r>
              <a:rPr lang="en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Udacity 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장학생들이 혁신적인 프로젝트를 수행할 수 있도록 </a:t>
            </a:r>
            <a:r>
              <a:rPr lang="en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Starbucks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제공한 데이터임</a:t>
            </a:r>
            <a:endParaRPr lang="en-US" altLang="ko-KR" sz="28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ko-KR" altLang="en-US" sz="28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오퍼와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고객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고객 행동 로그 정보에 대한 총 세 개의 </a:t>
            </a:r>
            <a:r>
              <a:rPr lang="en-US" altLang="ko-KR" sz="28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json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파일로 구성</a:t>
            </a:r>
            <a:endParaRPr lang="en-US" altLang="ko-KR" sz="28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고객의 </a:t>
            </a:r>
            <a:r>
              <a:rPr lang="ko-KR" altLang="en-US" sz="28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수신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(Received) -&gt; 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조회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(Viewed) -&gt; 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완료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(Completed) 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과정을 이벤트 단위로 기록하고 있어 </a:t>
            </a:r>
            <a:r>
              <a:rPr lang="ko-KR" altLang="en-US" sz="28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오퍼가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전달된 이후 고객 행동의 변화를 단계적으로 관측할 수 있는 특징 존재</a:t>
            </a:r>
            <a:endParaRPr lang="en-US" altLang="ko-KR" sz="28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b="1" dirty="0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</a:t>
            </a:r>
            <a:r>
              <a:rPr lang="ko-KR" altLang="en-US" sz="3200" b="1" dirty="0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</a:t>
            </a:r>
            <a:r>
              <a:rPr lang="en-US" altLang="ko-KR" sz="3200" b="1" dirty="0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[</a:t>
            </a:r>
            <a:r>
              <a:rPr lang="ko-KR" altLang="en-US" sz="3200" b="1" dirty="0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분석 목적 수립</a:t>
            </a:r>
            <a:r>
              <a:rPr lang="en-US" altLang="ko-KR" sz="3200" b="1" dirty="0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] </a:t>
            </a:r>
            <a:r>
              <a:rPr lang="ko-KR" altLang="en-US" sz="3200" b="1" dirty="0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</a:t>
            </a:r>
            <a:r>
              <a:rPr lang="ko-KR" altLang="en-US" sz="2800" dirty="0" err="1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오퍼</a:t>
            </a:r>
            <a:r>
              <a:rPr lang="ko-KR" altLang="en-US" sz="2800" dirty="0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인지</a:t>
            </a:r>
            <a:r>
              <a:rPr lang="en-US" altLang="ko-KR" sz="2800" dirty="0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(</a:t>
            </a:r>
            <a:r>
              <a:rPr lang="ko-KR" altLang="en-US" sz="2800" dirty="0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조회</a:t>
            </a:r>
            <a:r>
              <a:rPr lang="en-US" altLang="ko-KR" sz="2800" dirty="0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)</a:t>
            </a:r>
            <a:r>
              <a:rPr lang="ko-KR" altLang="en-US" sz="2800" dirty="0">
                <a:solidFill>
                  <a:srgbClr val="217F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이후 이탈의 구조적 원인을 규명하고 이에 대한 개선 방향 도출 </a:t>
            </a:r>
            <a:endParaRPr lang="en-US" altLang="ko-KR" sz="2800" dirty="0">
              <a:solidFill>
                <a:srgbClr val="217F6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endParaRPr lang="ko-KR" altLang="en-US" sz="28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918450" y="1379682"/>
            <a:ext cx="662536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l">
              <a:lnSpc>
                <a:spcPct val="112050"/>
              </a:lnSpc>
            </a:pPr>
            <a:r>
              <a:rPr 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Starbucks app data 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분석 개요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1107400" y="330200"/>
            <a:ext cx="2768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sz="2400" b="0" i="0" u="none" strike="noStrike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3009" y="8026400"/>
            <a:ext cx="5580994" cy="7493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 Proposal Background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6900" y="4686300"/>
            <a:ext cx="5651500" cy="1422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12050"/>
              </a:lnSpc>
            </a:pP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문제 정의 </a:t>
            </a:r>
            <a:r>
              <a:rPr lang="en-US" altLang="ko-KR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&amp;</a:t>
            </a:r>
          </a:p>
          <a:p>
            <a:pPr lvl="0" algn="l">
              <a:lnSpc>
                <a:spcPct val="112050"/>
              </a:lnSpc>
            </a:pP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분석 </a:t>
            </a:r>
            <a:r>
              <a:rPr lang="en-US" sz="8000" b="0" i="0" u="none" strike="noStrike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배경</a:t>
            </a:r>
            <a:endParaRPr lang="en-US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6900" y="2273300"/>
            <a:ext cx="35687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6666" b="0" i="0" u="none" strike="noStrike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01.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6523E7-6119-1EAD-D8BF-1F1FFFAA7780}"/>
              </a:ext>
            </a:extLst>
          </p:cNvPr>
          <p:cNvGrpSpPr/>
          <p:nvPr/>
        </p:nvGrpSpPr>
        <p:grpSpPr>
          <a:xfrm>
            <a:off x="7696200" y="6481147"/>
            <a:ext cx="15977270" cy="6930053"/>
            <a:chOff x="7696200" y="6481147"/>
            <a:chExt cx="15977270" cy="6930053"/>
          </a:xfrm>
        </p:grpSpPr>
        <p:pic>
          <p:nvPicPr>
            <p:cNvPr id="41" name="Picture 8">
              <a:extLst>
                <a:ext uri="{FF2B5EF4-FFF2-40B4-BE49-F238E27FC236}">
                  <a16:creationId xmlns:a16="http://schemas.microsoft.com/office/drawing/2014/main" id="{C3548973-8C8A-2FCA-32EA-6E8A63CCE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898494" y="7643814"/>
              <a:ext cx="1980528" cy="1980528"/>
            </a:xfrm>
            <a:prstGeom prst="rect">
              <a:avLst/>
            </a:prstGeom>
          </p:spPr>
        </p:pic>
        <p:pic>
          <p:nvPicPr>
            <p:cNvPr id="40" name="Picture 8">
              <a:extLst>
                <a:ext uri="{FF2B5EF4-FFF2-40B4-BE49-F238E27FC236}">
                  <a16:creationId xmlns:a16="http://schemas.microsoft.com/office/drawing/2014/main" id="{A5C77948-F3C1-D60B-465B-E71A4165F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376834" y="7622827"/>
              <a:ext cx="1980528" cy="1980528"/>
            </a:xfrm>
            <a:prstGeom prst="rect">
              <a:avLst/>
            </a:prstGeom>
          </p:spPr>
        </p:pic>
        <p:pic>
          <p:nvPicPr>
            <p:cNvPr id="28" name="Picture 8">
              <a:extLst>
                <a:ext uri="{FF2B5EF4-FFF2-40B4-BE49-F238E27FC236}">
                  <a16:creationId xmlns:a16="http://schemas.microsoft.com/office/drawing/2014/main" id="{7391E6CB-F7D7-7F3B-60DF-8C242FAC4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2815" y="7631649"/>
              <a:ext cx="1980528" cy="1980528"/>
            </a:xfrm>
            <a:prstGeom prst="rect">
              <a:avLst/>
            </a:prstGeom>
          </p:spPr>
        </p:pic>
        <p:pic>
          <p:nvPicPr>
            <p:cNvPr id="30" name="그래픽 29" descr="전체 액세스 윤곽선">
              <a:extLst>
                <a:ext uri="{FF2B5EF4-FFF2-40B4-BE49-F238E27FC236}">
                  <a16:creationId xmlns:a16="http://schemas.microsoft.com/office/drawing/2014/main" id="{09486551-A905-DA83-D557-273C7BAFA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81969" y="8090331"/>
              <a:ext cx="1282473" cy="1087495"/>
            </a:xfrm>
            <a:prstGeom prst="rect">
              <a:avLst/>
            </a:prstGeom>
          </p:spPr>
        </p:pic>
        <p:pic>
          <p:nvPicPr>
            <p:cNvPr id="32" name="그래픽 31" descr="라떼 컵 윤곽선">
              <a:extLst>
                <a:ext uri="{FF2B5EF4-FFF2-40B4-BE49-F238E27FC236}">
                  <a16:creationId xmlns:a16="http://schemas.microsoft.com/office/drawing/2014/main" id="{56164ABC-68C6-29B2-254D-3FCBA66CA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705205" y="8000429"/>
              <a:ext cx="1323786" cy="1323786"/>
            </a:xfrm>
            <a:prstGeom prst="rect">
              <a:avLst/>
            </a:prstGeom>
          </p:spPr>
        </p:pic>
        <p:pic>
          <p:nvPicPr>
            <p:cNvPr id="34" name="그래픽 33" descr="전자 상거래 윤곽선">
              <a:extLst>
                <a:ext uri="{FF2B5EF4-FFF2-40B4-BE49-F238E27FC236}">
                  <a16:creationId xmlns:a16="http://schemas.microsoft.com/office/drawing/2014/main" id="{107F88BC-CBC3-1E31-9FBE-BBC7807E3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0298410" y="8048403"/>
              <a:ext cx="1199612" cy="1199612"/>
            </a:xfrm>
            <a:prstGeom prst="rect">
              <a:avLst/>
            </a:prstGeom>
          </p:spPr>
        </p:pic>
        <p:sp>
          <p:nvSpPr>
            <p:cNvPr id="35" name="TextBox 20">
              <a:extLst>
                <a:ext uri="{FF2B5EF4-FFF2-40B4-BE49-F238E27FC236}">
                  <a16:creationId xmlns:a16="http://schemas.microsoft.com/office/drawing/2014/main" id="{4F60E9C2-70AF-D9EF-2760-96335D49DD8F}"/>
                </a:ext>
              </a:extLst>
            </p:cNvPr>
            <p:cNvSpPr txBox="1"/>
            <p:nvPr/>
          </p:nvSpPr>
          <p:spPr>
            <a:xfrm>
              <a:off x="7696200" y="9855301"/>
              <a:ext cx="4768896" cy="779318"/>
            </a:xfrm>
            <a:prstGeom prst="rect">
              <a:avLst/>
            </a:prstGeom>
          </p:spPr>
          <p:txBody>
            <a:bodyPr lIns="0" tIns="11853" rIns="0" bIns="11853" rtlCol="0" anchor="ctr"/>
            <a:lstStyle/>
            <a:p>
              <a:pPr lvl="0" algn="ctr">
                <a:lnSpc>
                  <a:spcPct val="112050"/>
                </a:lnSpc>
              </a:pPr>
              <a:r>
                <a:rPr lang="en-US" sz="3733" dirty="0" err="1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Portfolio.json</a:t>
              </a:r>
              <a:endParaRPr 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endParaRPr>
            </a:p>
            <a:p>
              <a:pPr lvl="0" algn="ctr">
                <a:lnSpc>
                  <a:spcPct val="112050"/>
                </a:lnSpc>
              </a:pPr>
              <a:r>
                <a:rPr lang="ko-KR" altLang="en-US" sz="2800" dirty="0" err="1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오퍼</a:t>
              </a:r>
              <a:r>
                <a:rPr lang="en-US" altLang="ko-KR" sz="2800" dirty="0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(offer)</a:t>
              </a:r>
              <a:r>
                <a:rPr lang="ko-KR" altLang="en-US" sz="2800" dirty="0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 설계 속성  정보</a:t>
              </a:r>
              <a:endParaRPr lang="en-US" sz="28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endParaRPr>
            </a:p>
          </p:txBody>
        </p:sp>
        <p:sp>
          <p:nvSpPr>
            <p:cNvPr id="36" name="TextBox 20">
              <a:extLst>
                <a:ext uri="{FF2B5EF4-FFF2-40B4-BE49-F238E27FC236}">
                  <a16:creationId xmlns:a16="http://schemas.microsoft.com/office/drawing/2014/main" id="{17E5689A-2DD5-251D-9DB2-E6632D325109}"/>
                </a:ext>
              </a:extLst>
            </p:cNvPr>
            <p:cNvSpPr txBox="1"/>
            <p:nvPr/>
          </p:nvSpPr>
          <p:spPr>
            <a:xfrm>
              <a:off x="13066880" y="9795020"/>
              <a:ext cx="4768896" cy="779318"/>
            </a:xfrm>
            <a:prstGeom prst="rect">
              <a:avLst/>
            </a:prstGeom>
          </p:spPr>
          <p:txBody>
            <a:bodyPr lIns="0" tIns="11853" rIns="0" bIns="11853" rtlCol="0" anchor="ctr"/>
            <a:lstStyle/>
            <a:p>
              <a:pPr lvl="0" algn="ctr">
                <a:lnSpc>
                  <a:spcPct val="112050"/>
                </a:lnSpc>
              </a:pPr>
              <a:r>
                <a:rPr lang="en-US" sz="3733" dirty="0" err="1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profile.json</a:t>
              </a:r>
              <a:endParaRPr 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endParaRPr>
            </a:p>
            <a:p>
              <a:pPr lvl="0" algn="ctr">
                <a:lnSpc>
                  <a:spcPct val="112050"/>
                </a:lnSpc>
              </a:pPr>
              <a:r>
                <a:rPr lang="ko-KR" altLang="en-US" sz="2800" dirty="0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고객</a:t>
              </a:r>
              <a:r>
                <a:rPr lang="en-US" altLang="ko-KR" sz="2800" dirty="0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(customer)</a:t>
              </a:r>
              <a:r>
                <a:rPr lang="ko-KR" altLang="en-US" sz="2800" dirty="0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 인구통계 정보</a:t>
              </a:r>
              <a:endParaRPr lang="en-US" sz="28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endParaRPr>
            </a:p>
          </p:txBody>
        </p:sp>
        <p:sp>
          <p:nvSpPr>
            <p:cNvPr id="37" name="TextBox 20">
              <a:extLst>
                <a:ext uri="{FF2B5EF4-FFF2-40B4-BE49-F238E27FC236}">
                  <a16:creationId xmlns:a16="http://schemas.microsoft.com/office/drawing/2014/main" id="{0159443F-F318-EC6B-7960-92EBB0028A68}"/>
                </a:ext>
              </a:extLst>
            </p:cNvPr>
            <p:cNvSpPr txBox="1"/>
            <p:nvPr/>
          </p:nvSpPr>
          <p:spPr>
            <a:xfrm>
              <a:off x="18221422" y="9773411"/>
              <a:ext cx="4768896" cy="779318"/>
            </a:xfrm>
            <a:prstGeom prst="rect">
              <a:avLst/>
            </a:prstGeom>
          </p:spPr>
          <p:txBody>
            <a:bodyPr lIns="0" tIns="11853" rIns="0" bIns="11853" rtlCol="0" anchor="ctr"/>
            <a:lstStyle/>
            <a:p>
              <a:pPr lvl="0" algn="ctr">
                <a:lnSpc>
                  <a:spcPct val="112050"/>
                </a:lnSpc>
              </a:pPr>
              <a:r>
                <a:rPr lang="en-US" sz="3733" dirty="0" err="1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transcript.json</a:t>
              </a:r>
              <a:endParaRPr 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endParaRPr>
            </a:p>
            <a:p>
              <a:pPr lvl="0" algn="ctr">
                <a:lnSpc>
                  <a:spcPct val="112050"/>
                </a:lnSpc>
              </a:pPr>
              <a:r>
                <a:rPr lang="ko-KR" altLang="en-US" sz="2800" dirty="0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행동 이벤트 로그 정보</a:t>
              </a:r>
              <a:endParaRPr lang="en-US" sz="28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endParaRPr>
            </a:p>
          </p:txBody>
        </p:sp>
        <p:sp>
          <p:nvSpPr>
            <p:cNvPr id="38" name="TextBox 20">
              <a:extLst>
                <a:ext uri="{FF2B5EF4-FFF2-40B4-BE49-F238E27FC236}">
                  <a16:creationId xmlns:a16="http://schemas.microsoft.com/office/drawing/2014/main" id="{4DB534F0-CCA7-13A2-50AF-5D45A102B766}"/>
                </a:ext>
              </a:extLst>
            </p:cNvPr>
            <p:cNvSpPr txBox="1"/>
            <p:nvPr/>
          </p:nvSpPr>
          <p:spPr>
            <a:xfrm>
              <a:off x="12361570" y="6481147"/>
              <a:ext cx="6625360" cy="779318"/>
            </a:xfrm>
            <a:prstGeom prst="rect">
              <a:avLst/>
            </a:prstGeom>
          </p:spPr>
          <p:txBody>
            <a:bodyPr lIns="0" tIns="11853" rIns="0" bIns="11853" rtlCol="0" anchor="ctr"/>
            <a:lstStyle/>
            <a:p>
              <a:pPr lvl="0" algn="l">
                <a:lnSpc>
                  <a:spcPct val="112050"/>
                </a:lnSpc>
              </a:pPr>
              <a:r>
                <a:rPr lang="en-US" altLang="ko-KR" sz="3733" dirty="0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&lt;</a:t>
              </a:r>
              <a:r>
                <a:rPr lang="ko-KR" altLang="en-US" sz="3733" dirty="0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 데이터셋 구성 및 포함 정보 </a:t>
              </a:r>
              <a:r>
                <a:rPr lang="en-US" altLang="ko-KR" sz="3733" dirty="0">
                  <a:solidFill>
                    <a:srgbClr val="801A00"/>
                  </a:solidFill>
                  <a:latin typeface="Pretendard Bold"/>
                  <a:ea typeface="Pretendard Bold"/>
                  <a:cs typeface="Pretendard Bold"/>
                </a:rPr>
                <a:t>&gt;</a:t>
              </a:r>
              <a:endParaRPr lang="en-US" sz="3733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endParaRPr>
            </a:p>
          </p:txBody>
        </p:sp>
        <p:sp>
          <p:nvSpPr>
            <p:cNvPr id="39" name="TextBox 19">
              <a:extLst>
                <a:ext uri="{FF2B5EF4-FFF2-40B4-BE49-F238E27FC236}">
                  <a16:creationId xmlns:a16="http://schemas.microsoft.com/office/drawing/2014/main" id="{39CF0843-10F9-286A-AA55-09DAED1D2BB1}"/>
                </a:ext>
              </a:extLst>
            </p:cNvPr>
            <p:cNvSpPr txBox="1"/>
            <p:nvPr/>
          </p:nvSpPr>
          <p:spPr>
            <a:xfrm>
              <a:off x="8427666" y="11166767"/>
              <a:ext cx="4273551" cy="22444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reward (</a:t>
              </a:r>
              <a:r>
                <a:rPr lang="ko-KR" altLang="en-US" sz="2400" dirty="0">
                  <a:solidFill>
                    <a:srgbClr val="217F64"/>
                  </a:solidFill>
                </a:rPr>
                <a:t>보상 금액</a:t>
              </a:r>
              <a:r>
                <a:rPr lang="en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difficulty (</a:t>
              </a:r>
              <a:r>
                <a:rPr lang="ko-KR" altLang="en-US" sz="2400" dirty="0" err="1">
                  <a:solidFill>
                    <a:srgbClr val="217F64"/>
                  </a:solidFill>
                </a:rPr>
                <a:t>오퍼</a:t>
              </a:r>
              <a:r>
                <a:rPr lang="ko-KR" altLang="en-US" sz="2400" dirty="0">
                  <a:solidFill>
                    <a:srgbClr val="217F64"/>
                  </a:solidFill>
                </a:rPr>
                <a:t> 달성 조건</a:t>
              </a:r>
              <a:r>
                <a:rPr lang="en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duration (</a:t>
              </a:r>
              <a:r>
                <a:rPr lang="ko-KR" altLang="en-US" sz="2400" dirty="0" err="1">
                  <a:solidFill>
                    <a:srgbClr val="217F64"/>
                  </a:solidFill>
                </a:rPr>
                <a:t>오퍼</a:t>
              </a:r>
              <a:r>
                <a:rPr lang="ko-KR" altLang="en-US" sz="2400" dirty="0">
                  <a:solidFill>
                    <a:srgbClr val="217F64"/>
                  </a:solidFill>
                </a:rPr>
                <a:t> 유효 기간</a:t>
              </a:r>
              <a:r>
                <a:rPr lang="en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channels (</a:t>
              </a:r>
              <a:r>
                <a:rPr lang="ko-KR" altLang="en-US" sz="2400" dirty="0" err="1">
                  <a:solidFill>
                    <a:srgbClr val="217F64"/>
                  </a:solidFill>
                </a:rPr>
                <a:t>오퍼</a:t>
              </a:r>
              <a:r>
                <a:rPr lang="ko-KR" altLang="en-US" sz="2400" dirty="0">
                  <a:solidFill>
                    <a:srgbClr val="217F64"/>
                  </a:solidFill>
                </a:rPr>
                <a:t> 전달 채널</a:t>
              </a:r>
              <a:r>
                <a:rPr lang="en-US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 err="1">
                  <a:solidFill>
                    <a:srgbClr val="217F64"/>
                  </a:solidFill>
                </a:rPr>
                <a:t>offer_type</a:t>
              </a:r>
              <a:r>
                <a:rPr lang="en" altLang="ko-KR" sz="2400" dirty="0">
                  <a:solidFill>
                    <a:srgbClr val="217F64"/>
                  </a:solidFill>
                </a:rPr>
                <a:t> (</a:t>
              </a:r>
              <a:r>
                <a:rPr lang="ko-KR" altLang="en-US" sz="2400" dirty="0" err="1">
                  <a:solidFill>
                    <a:srgbClr val="217F64"/>
                  </a:solidFill>
                </a:rPr>
                <a:t>오퍼</a:t>
              </a:r>
              <a:r>
                <a:rPr lang="ko-KR" altLang="en-US" sz="2400" dirty="0">
                  <a:solidFill>
                    <a:srgbClr val="217F64"/>
                  </a:solidFill>
                </a:rPr>
                <a:t> 유형</a:t>
              </a:r>
              <a:r>
                <a:rPr lang="en-US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id (</a:t>
              </a:r>
              <a:r>
                <a:rPr lang="ko-KR" altLang="en-US" sz="2400" dirty="0" err="1">
                  <a:solidFill>
                    <a:srgbClr val="217F64"/>
                  </a:solidFill>
                </a:rPr>
                <a:t>오퍼</a:t>
              </a:r>
              <a:r>
                <a:rPr lang="ko-KR" altLang="en-US" sz="2400" dirty="0">
                  <a:solidFill>
                    <a:srgbClr val="217F64"/>
                  </a:solidFill>
                </a:rPr>
                <a:t> </a:t>
              </a:r>
              <a:r>
                <a:rPr lang="en" altLang="ko-KR" sz="2400" dirty="0">
                  <a:solidFill>
                    <a:srgbClr val="217F64"/>
                  </a:solidFill>
                </a:rPr>
                <a:t>ID</a:t>
              </a:r>
              <a:r>
                <a:rPr lang="en-US" altLang="ko-KR" sz="2400" dirty="0">
                  <a:solidFill>
                    <a:srgbClr val="217F64"/>
                  </a:solidFill>
                </a:rPr>
                <a:t>)</a:t>
              </a:r>
            </a:p>
          </p:txBody>
        </p:sp>
        <p:sp>
          <p:nvSpPr>
            <p:cNvPr id="42" name="TextBox 19">
              <a:extLst>
                <a:ext uri="{FF2B5EF4-FFF2-40B4-BE49-F238E27FC236}">
                  <a16:creationId xmlns:a16="http://schemas.microsoft.com/office/drawing/2014/main" id="{1465FA86-C347-80B4-9936-195E8E12B2B9}"/>
                </a:ext>
              </a:extLst>
            </p:cNvPr>
            <p:cNvSpPr txBox="1"/>
            <p:nvPr/>
          </p:nvSpPr>
          <p:spPr>
            <a:xfrm>
              <a:off x="13290505" y="11095497"/>
              <a:ext cx="4768896" cy="22444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age (</a:t>
              </a:r>
              <a:r>
                <a:rPr lang="ko-KR" altLang="en-US" sz="2400" dirty="0">
                  <a:solidFill>
                    <a:srgbClr val="217F64"/>
                  </a:solidFill>
                </a:rPr>
                <a:t>나이</a:t>
              </a:r>
              <a:r>
                <a:rPr lang="en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 err="1">
                  <a:solidFill>
                    <a:srgbClr val="217F64"/>
                  </a:solidFill>
                </a:rPr>
                <a:t>became_member_on</a:t>
              </a:r>
              <a:r>
                <a:rPr lang="en" altLang="ko-KR" sz="2400" dirty="0">
                  <a:solidFill>
                    <a:srgbClr val="217F64"/>
                  </a:solidFill>
                </a:rPr>
                <a:t> (</a:t>
              </a:r>
              <a:r>
                <a:rPr lang="ko-KR" altLang="en-US" sz="2400" dirty="0">
                  <a:solidFill>
                    <a:srgbClr val="217F64"/>
                  </a:solidFill>
                </a:rPr>
                <a:t>가입 일자</a:t>
              </a:r>
              <a:r>
                <a:rPr lang="en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income (</a:t>
              </a:r>
              <a:r>
                <a:rPr lang="ko-KR" altLang="en-US" sz="2400" dirty="0">
                  <a:solidFill>
                    <a:srgbClr val="217F64"/>
                  </a:solidFill>
                </a:rPr>
                <a:t>소득</a:t>
              </a:r>
              <a:r>
                <a:rPr lang="en" altLang="ko-KR" sz="2400" dirty="0">
                  <a:solidFill>
                    <a:srgbClr val="217F64"/>
                  </a:solidFill>
                </a:rPr>
                <a:t>)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gender (</a:t>
              </a:r>
              <a:r>
                <a:rPr lang="ko-KR" altLang="en-US" sz="2400" dirty="0">
                  <a:solidFill>
                    <a:srgbClr val="217F64"/>
                  </a:solidFill>
                </a:rPr>
                <a:t>성별</a:t>
              </a:r>
              <a:r>
                <a:rPr lang="en-US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id (</a:t>
              </a:r>
              <a:r>
                <a:rPr lang="ko-KR" altLang="en-US" sz="2400" dirty="0">
                  <a:solidFill>
                    <a:srgbClr val="217F64"/>
                  </a:solidFill>
                </a:rPr>
                <a:t>고객 </a:t>
              </a:r>
              <a:r>
                <a:rPr lang="en" altLang="ko-KR" sz="2400" dirty="0">
                  <a:solidFill>
                    <a:srgbClr val="217F64"/>
                  </a:solidFill>
                </a:rPr>
                <a:t>ID</a:t>
              </a:r>
              <a:r>
                <a:rPr lang="en-US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" altLang="ko-KR" sz="2400" dirty="0">
                <a:solidFill>
                  <a:srgbClr val="217F64"/>
                </a:solidFill>
              </a:endParaRPr>
            </a:p>
          </p:txBody>
        </p:sp>
        <p:sp>
          <p:nvSpPr>
            <p:cNvPr id="43" name="TextBox 19">
              <a:extLst>
                <a:ext uri="{FF2B5EF4-FFF2-40B4-BE49-F238E27FC236}">
                  <a16:creationId xmlns:a16="http://schemas.microsoft.com/office/drawing/2014/main" id="{B97030A1-1F6A-452C-5780-1D081A56DFE4}"/>
                </a:ext>
              </a:extLst>
            </p:cNvPr>
            <p:cNvSpPr txBox="1"/>
            <p:nvPr/>
          </p:nvSpPr>
          <p:spPr>
            <a:xfrm>
              <a:off x="18904574" y="11095497"/>
              <a:ext cx="4768896" cy="22444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time (</a:t>
              </a:r>
              <a:r>
                <a:rPr lang="ko-KR" altLang="en-US" sz="2400" dirty="0">
                  <a:solidFill>
                    <a:srgbClr val="217F64"/>
                  </a:solidFill>
                </a:rPr>
                <a:t>이벤트 발생 시점</a:t>
              </a:r>
              <a:r>
                <a:rPr lang="en" altLang="ko-KR" sz="2400" dirty="0">
                  <a:solidFill>
                    <a:srgbClr val="217F64"/>
                  </a:solidFill>
                </a:rPr>
                <a:t>)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person (</a:t>
              </a:r>
              <a:r>
                <a:rPr lang="ko-KR" altLang="en-US" sz="2400" dirty="0">
                  <a:solidFill>
                    <a:srgbClr val="217F64"/>
                  </a:solidFill>
                </a:rPr>
                <a:t>고객 </a:t>
              </a:r>
              <a:r>
                <a:rPr lang="en" altLang="ko-KR" sz="2400" dirty="0">
                  <a:solidFill>
                    <a:srgbClr val="217F64"/>
                  </a:solidFill>
                </a:rPr>
                <a:t>ID</a:t>
              </a:r>
              <a:r>
                <a:rPr lang="en-US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event (</a:t>
              </a:r>
              <a:r>
                <a:rPr lang="ko-KR" altLang="en-US" sz="2400" dirty="0">
                  <a:solidFill>
                    <a:srgbClr val="217F64"/>
                  </a:solidFill>
                </a:rPr>
                <a:t>이벤트 유형</a:t>
              </a:r>
              <a:r>
                <a:rPr lang="en-US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altLang="ko-KR" sz="2400" dirty="0">
                  <a:solidFill>
                    <a:srgbClr val="217F64"/>
                  </a:solidFill>
                </a:rPr>
                <a:t>value (</a:t>
              </a:r>
              <a:r>
                <a:rPr lang="ko-KR" altLang="en-US" sz="2400" dirty="0" err="1">
                  <a:solidFill>
                    <a:srgbClr val="217F64"/>
                  </a:solidFill>
                </a:rPr>
                <a:t>오퍼</a:t>
              </a:r>
              <a:r>
                <a:rPr lang="ko-KR" altLang="en-US" sz="2400" dirty="0">
                  <a:solidFill>
                    <a:srgbClr val="217F64"/>
                  </a:solidFill>
                </a:rPr>
                <a:t> </a:t>
              </a:r>
              <a:r>
                <a:rPr lang="en" altLang="ko-KR" sz="2400" dirty="0">
                  <a:solidFill>
                    <a:srgbClr val="217F64"/>
                  </a:solidFill>
                </a:rPr>
                <a:t>ID, </a:t>
              </a:r>
              <a:r>
                <a:rPr lang="ko-KR" altLang="en-US" sz="2400" dirty="0">
                  <a:solidFill>
                    <a:srgbClr val="217F64"/>
                  </a:solidFill>
                </a:rPr>
                <a:t>금액 등의 정보가 담긴 </a:t>
              </a:r>
              <a:r>
                <a:rPr lang="ko-KR" altLang="en-US" sz="2400" dirty="0" err="1">
                  <a:solidFill>
                    <a:srgbClr val="217F64"/>
                  </a:solidFill>
                </a:rPr>
                <a:t>딕셔너리</a:t>
              </a:r>
              <a:r>
                <a:rPr lang="en-US" altLang="ko-KR" sz="2400" dirty="0">
                  <a:solidFill>
                    <a:srgbClr val="217F64"/>
                  </a:solidFill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" altLang="ko-KR" sz="2400" dirty="0">
                <a:solidFill>
                  <a:srgbClr val="217F64"/>
                </a:solidFill>
              </a:endParaRPr>
            </a:p>
          </p:txBody>
        </p:sp>
        <p:sp>
          <p:nvSpPr>
            <p:cNvPr id="44" name="아래쪽 화살표[D] 43">
              <a:extLst>
                <a:ext uri="{FF2B5EF4-FFF2-40B4-BE49-F238E27FC236}">
                  <a16:creationId xmlns:a16="http://schemas.microsoft.com/office/drawing/2014/main" id="{B5CFE529-8DB3-5942-B352-4CF71B1BFCE0}"/>
                </a:ext>
              </a:extLst>
            </p:cNvPr>
            <p:cNvSpPr/>
            <p:nvPr/>
          </p:nvSpPr>
          <p:spPr>
            <a:xfrm rot="2634113">
              <a:off x="21647213" y="7590881"/>
              <a:ext cx="609600" cy="584612"/>
            </a:xfrm>
            <a:prstGeom prst="down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45" name="TextBox 20">
              <a:extLst>
                <a:ext uri="{FF2B5EF4-FFF2-40B4-BE49-F238E27FC236}">
                  <a16:creationId xmlns:a16="http://schemas.microsoft.com/office/drawing/2014/main" id="{BCE8081E-1096-559A-E734-4C4F92945B08}"/>
                </a:ext>
              </a:extLst>
            </p:cNvPr>
            <p:cNvSpPr txBox="1"/>
            <p:nvPr/>
          </p:nvSpPr>
          <p:spPr>
            <a:xfrm>
              <a:off x="21770473" y="6877694"/>
              <a:ext cx="1886549" cy="779318"/>
            </a:xfrm>
            <a:prstGeom prst="rect">
              <a:avLst/>
            </a:prstGeom>
            <a:noFill/>
          </p:spPr>
          <p:txBody>
            <a:bodyPr lIns="0" tIns="11853" rIns="0" bIns="11853" rtlCol="0" anchor="ctr"/>
            <a:lstStyle/>
            <a:p>
              <a:pPr lvl="0" algn="l">
                <a:lnSpc>
                  <a:spcPct val="112050"/>
                </a:lnSpc>
              </a:pPr>
              <a:r>
                <a:rPr lang="ko-KR" altLang="en-US" sz="3200" b="0" i="0" u="none" strike="noStrike" dirty="0">
                  <a:solidFill>
                    <a:srgbClr val="0070C0"/>
                  </a:solidFill>
                  <a:latin typeface="Pretendard Bold"/>
                  <a:ea typeface="Pretendard Bold"/>
                  <a:cs typeface="Pretendard Bold"/>
                </a:rPr>
                <a:t>분석의 핵심</a:t>
              </a:r>
              <a:endParaRPr lang="en-US" sz="3200" b="0" i="0" u="none" strike="noStrike" dirty="0">
                <a:solidFill>
                  <a:srgbClr val="0070C0"/>
                </a:solidFill>
                <a:latin typeface="Pretendard Bold"/>
                <a:ea typeface="Pretendard Bold"/>
                <a:cs typeface="Pretendard Bold"/>
              </a:endParaRPr>
            </a:p>
          </p:txBody>
        </p:sp>
      </p:grpSp>
      <p:sp>
        <p:nvSpPr>
          <p:cNvPr id="47" name="TextBox 12">
            <a:extLst>
              <a:ext uri="{FF2B5EF4-FFF2-40B4-BE49-F238E27FC236}">
                <a16:creationId xmlns:a16="http://schemas.microsoft.com/office/drawing/2014/main" id="{53402CA2-F7A8-13A1-35DF-328CC13549C6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2658918"/>
            <a:ext cx="15252700" cy="648508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9400" y="9512300"/>
            <a:ext cx="7607300" cy="3975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600" y="9512300"/>
            <a:ext cx="7607300" cy="3975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5773400" y="11010900"/>
            <a:ext cx="70993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Viewed = True  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&amp; </a:t>
            </a:r>
            <a:r>
              <a:rPr lang="en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Completed = False</a:t>
            </a:r>
            <a:endParaRPr lang="en" altLang="ko-KR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인지했으나 행동으로 이어지지 않은 경우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무관심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미조회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구분하여 실패 구조 분석</a:t>
            </a:r>
          </a:p>
          <a:p>
            <a:pPr marL="457200" lvl="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0" i="0" u="none" strike="noStrike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141700" y="9950450"/>
            <a:ext cx="5448300" cy="6223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ko-KR" altLang="en-US" sz="3466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이탈 정의 </a:t>
            </a:r>
            <a:endParaRPr lang="en-US" sz="34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115300" y="10782300"/>
            <a:ext cx="7073900" cy="224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Person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</a:t>
            </a:r>
            <a:r>
              <a:rPr lang="en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offer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단위로 이벤트를 재구성</a:t>
            </a:r>
            <a:endParaRPr lang="en" altLang="ko-KR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동일 고객이라도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오퍼별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행동은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조건에 따라 독립적으로 발생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실패는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단위에서 정의하는 것이 타당</a:t>
            </a:r>
          </a:p>
          <a:p>
            <a:pPr marL="457200" lvl="0" indent="-457200" algn="l">
              <a:lnSpc>
                <a:spcPct val="132800"/>
              </a:lnSpc>
              <a:buFont typeface="Arial" panose="020B0604020202020204" pitchFamily="34" charset="0"/>
              <a:buChar char="•"/>
            </a:pPr>
            <a:endParaRPr lang="en-US" sz="2600" b="0" i="0" u="none" strike="noStrike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509000" y="9944100"/>
            <a:ext cx="5448300" cy="6223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ko-KR" altLang="en-US" sz="34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분석 단위 설정</a:t>
            </a:r>
            <a:endParaRPr lang="en-US" sz="34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1107400" y="330200"/>
            <a:ext cx="2768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sz="2400" b="0" i="0" u="none" strike="noStrike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6900" y="4686300"/>
            <a:ext cx="5651500" cy="1422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12050"/>
              </a:lnSpc>
            </a:pPr>
            <a:r>
              <a:rPr lang="ko-KR" altLang="en-US" sz="8000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전처리</a:t>
            </a: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및</a:t>
            </a:r>
            <a:endParaRPr lang="en-US" altLang="ko-KR" sz="8000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r>
              <a:rPr lang="en-US" sz="8000" b="0" i="0" u="none" strike="noStrike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분석</a:t>
            </a: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단위</a:t>
            </a:r>
            <a:endParaRPr lang="en-US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96900" y="2273300"/>
            <a:ext cx="16129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6666" b="0" i="0" u="none" strike="noStrike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02.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C866085C-035A-1205-CCC4-A6139259F6DD}"/>
              </a:ext>
            </a:extLst>
          </p:cNvPr>
          <p:cNvSpPr txBox="1"/>
          <p:nvPr/>
        </p:nvSpPr>
        <p:spPr>
          <a:xfrm>
            <a:off x="523009" y="8026400"/>
            <a:ext cx="4785591" cy="7493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 Preprocess</a:t>
            </a: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ing</a:t>
            </a: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step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CFE4E9-0E6E-F0AC-318E-F41695DE0A22}"/>
              </a:ext>
            </a:extLst>
          </p:cNvPr>
          <p:cNvSpPr txBox="1"/>
          <p:nvPr/>
        </p:nvSpPr>
        <p:spPr>
          <a:xfrm>
            <a:off x="7920470" y="1638300"/>
            <a:ext cx="662536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l">
              <a:lnSpc>
                <a:spcPct val="112050"/>
              </a:lnSpc>
            </a:pP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데이터 구조 파악 및 </a:t>
            </a:r>
            <a:r>
              <a:rPr lang="ko-KR" altLang="en-US" sz="3733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전처리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과정 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ABF9B204-0F72-BADC-6A74-DB3F45491EEA}"/>
              </a:ext>
            </a:extLst>
          </p:cNvPr>
          <p:cNvSpPr txBox="1"/>
          <p:nvPr/>
        </p:nvSpPr>
        <p:spPr>
          <a:xfrm>
            <a:off x="8305800" y="2895600"/>
            <a:ext cx="14833600" cy="597708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규모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8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고객수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(17,000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명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8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단위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이벤트 로그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(30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28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이벤트 로그를 통해 </a:t>
            </a:r>
            <a:r>
              <a:rPr lang="ko-KR" altLang="en-US" sz="28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라이프사이클 구조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8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퍼널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구조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확인</a:t>
            </a:r>
            <a:endParaRPr lang="en-US" altLang="ko-KR" sz="28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offer received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 viewed  completed  transaction </a:t>
            </a:r>
            <a:endParaRPr lang="en-US" altLang="ko-KR" sz="2800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Value 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컬럼은 이벤트 유형에 따라 서로 다른 정보를 담고 있음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이벤트별 스키마 차이 존재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28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800" dirty="0" err="1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isinstance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(x, </a:t>
            </a:r>
            <a:r>
              <a:rPr lang="en-US" altLang="ko-KR" sz="2800" dirty="0" err="1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dict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타입 확인 후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key </a:t>
            </a:r>
            <a:r>
              <a:rPr lang="ko-KR" altLang="en-US" sz="2800" dirty="0" err="1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추줄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방식으로 컬럼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2800" dirty="0" err="1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offer_id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reward, amount)</a:t>
            </a:r>
            <a:r>
              <a:rPr lang="ko-KR" altLang="en-US" sz="2800" dirty="0" err="1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분리</a:t>
            </a:r>
            <a:endParaRPr lang="en-US" altLang="ko-KR" sz="2800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offer id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</a:t>
            </a:r>
            <a:r>
              <a:rPr lang="en-US" altLang="ko-KR" sz="28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offer_id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혼재되어 </a:t>
            </a:r>
            <a:r>
              <a:rPr lang="ko-KR" altLang="en-US" sz="28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컬럼명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통일</a:t>
            </a:r>
            <a:endParaRPr lang="en-US" altLang="ko-KR" sz="28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조인 키 무결성 확인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(id 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유일성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결측 없음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기본 품질 점검 </a:t>
            </a:r>
            <a:endParaRPr lang="en-US" altLang="ko-KR" sz="28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비현실적인 값 또는 명백한 오류 여부 점검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시간 컬럼 이상 여부 확인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8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결측값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해석 진행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24463B03-41B3-AE6E-5A9F-6DFFF9AC7232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5" name="그래픽 24" descr="연구 단색으로 채워진">
            <a:extLst>
              <a:ext uri="{FF2B5EF4-FFF2-40B4-BE49-F238E27FC236}">
                <a16:creationId xmlns:a16="http://schemas.microsoft.com/office/drawing/2014/main" id="{B5ABBCAD-4138-2D8F-865E-A0F7A2D03E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68400" y="9781309"/>
            <a:ext cx="914400" cy="914400"/>
          </a:xfrm>
          <a:prstGeom prst="rect">
            <a:avLst/>
          </a:prstGeom>
        </p:spPr>
      </p:pic>
      <p:pic>
        <p:nvPicPr>
          <p:cNvPr id="33" name="그래픽 32" descr="댄스 스텝 단색으로 채워진">
            <a:extLst>
              <a:ext uri="{FF2B5EF4-FFF2-40B4-BE49-F238E27FC236}">
                <a16:creationId xmlns:a16="http://schemas.microsoft.com/office/drawing/2014/main" id="{0E73A881-36BA-B4CB-F6F2-802EF7E963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564600" y="9829800"/>
            <a:ext cx="914400" cy="914400"/>
          </a:xfrm>
          <a:prstGeom prst="rect">
            <a:avLst/>
          </a:prstGeom>
        </p:spPr>
      </p:pic>
      <p:pic>
        <p:nvPicPr>
          <p:cNvPr id="34" name="Picture 4">
            <a:extLst>
              <a:ext uri="{FF2B5EF4-FFF2-40B4-BE49-F238E27FC236}">
                <a16:creationId xmlns:a16="http://schemas.microsoft.com/office/drawing/2014/main" id="{52F30B9C-A9F6-3D42-8FBB-8ABF7F559B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101601"/>
            <a:ext cx="211646" cy="75628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ADA94-1A84-479C-78E9-A4D945C6E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189406F-7A0E-719E-09D0-387BD1BDD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7CF18116-6E4C-DB04-F90A-0E424373B3EA}"/>
              </a:ext>
            </a:extLst>
          </p:cNvPr>
          <p:cNvSpPr/>
          <p:nvPr/>
        </p:nvSpPr>
        <p:spPr>
          <a:xfrm>
            <a:off x="7848600" y="2667000"/>
            <a:ext cx="15544800" cy="7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C32AC24-A464-C31E-3144-58171E426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4C59289-F544-53E6-C857-19E67C570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10426171"/>
            <a:ext cx="15544800" cy="3061229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4C937519-0B9F-6623-B644-49BC9CFC4FDF}"/>
              </a:ext>
            </a:extLst>
          </p:cNvPr>
          <p:cNvSpPr txBox="1"/>
          <p:nvPr/>
        </p:nvSpPr>
        <p:spPr>
          <a:xfrm>
            <a:off x="8137252" y="10820400"/>
            <a:ext cx="14798947" cy="232731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왼쪽은 전체 이벤트 기준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라이프사이클 분포를 보여주며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오른쪽은 고객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단위로 재정렬한 최종 결과로 각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시도의 성공과 실패를 구분하여 구조적 병목이 어느 단계에 있는지를 보여줌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오퍼를</a:t>
            </a:r>
            <a:r>
              <a:rPr lang="ko-KR" altLang="en-US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 끝까지 완료하는 경우는 절반 이하 수준이며</a:t>
            </a:r>
            <a:r>
              <a:rPr lang="en-US" altLang="ko-KR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많은 경우가 </a:t>
            </a:r>
            <a:r>
              <a:rPr lang="en-US" altLang="ko-KR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Viewed </a:t>
            </a:r>
            <a:r>
              <a:rPr lang="ko-KR" altLang="en-US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이후 단계에서 이탈함</a:t>
            </a:r>
            <a:r>
              <a:rPr lang="en-US" altLang="ko-KR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이는 </a:t>
            </a:r>
            <a:r>
              <a:rPr lang="ko-KR" altLang="en-US" sz="2400" b="1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오퍼</a:t>
            </a:r>
            <a:r>
              <a:rPr lang="ko-KR" altLang="en-US" sz="2400" b="1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실패의 주원인이 노출 부족이 아니라 인지 후 실행 단계에 존재함을 시사</a:t>
            </a:r>
            <a:r>
              <a:rPr lang="ko-KR" altLang="en-US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함</a:t>
            </a:r>
            <a:r>
              <a:rPr lang="en-US" altLang="ko-KR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r>
              <a:rPr lang="ko-KR" altLang="en-US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endParaRPr lang="en-US" sz="2400" b="0" i="0" u="none" strike="noStrike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AEA5067-CCA4-50B5-475F-A071E03630B0}"/>
              </a:ext>
            </a:extLst>
          </p:cNvPr>
          <p:cNvSpPr txBox="1"/>
          <p:nvPr/>
        </p:nvSpPr>
        <p:spPr>
          <a:xfrm>
            <a:off x="21107400" y="330200"/>
            <a:ext cx="2768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sz="2400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0</a:t>
            </a: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3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10F033A-4D16-E72C-6B53-C514416AA09A}"/>
              </a:ext>
            </a:extLst>
          </p:cNvPr>
          <p:cNvSpPr txBox="1"/>
          <p:nvPr/>
        </p:nvSpPr>
        <p:spPr>
          <a:xfrm>
            <a:off x="596900" y="4686300"/>
            <a:ext cx="5651500" cy="1422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12050"/>
              </a:lnSpc>
            </a:pPr>
            <a:r>
              <a:rPr lang="ko-KR" altLang="en-US" sz="8000" b="0" i="0" u="none" strike="noStrike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오퍼</a:t>
            </a: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r>
              <a:rPr lang="ko-KR" altLang="en-US" sz="8000" b="0" i="0" u="none" strike="noStrike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퍼널</a:t>
            </a: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구조</a:t>
            </a:r>
            <a:endParaRPr lang="en-US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A840E5C-8B73-E8D7-49F4-C86EECB6CB3C}"/>
              </a:ext>
            </a:extLst>
          </p:cNvPr>
          <p:cNvSpPr txBox="1"/>
          <p:nvPr/>
        </p:nvSpPr>
        <p:spPr>
          <a:xfrm>
            <a:off x="596900" y="2273300"/>
            <a:ext cx="16129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0</a:t>
            </a:r>
            <a:r>
              <a:rPr lang="en-US" altLang="ko-KR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3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6BED55A8-5E85-F739-B2EA-7BFC258AD2C9}"/>
              </a:ext>
            </a:extLst>
          </p:cNvPr>
          <p:cNvSpPr txBox="1"/>
          <p:nvPr/>
        </p:nvSpPr>
        <p:spPr>
          <a:xfrm>
            <a:off x="596900" y="7523018"/>
            <a:ext cx="5334000" cy="22860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 </a:t>
            </a: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Offer Lifecycle</a:t>
            </a:r>
          </a:p>
          <a:p>
            <a:pPr lvl="0" algn="l">
              <a:lnSpc>
                <a:spcPct val="112050"/>
              </a:lnSpc>
            </a:pPr>
            <a:r>
              <a:rPr lang="en-US" altLang="ko-KR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:</a:t>
            </a:r>
            <a:r>
              <a:rPr lang="ko-KR" alt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문제는 어디서 발생하는가</a:t>
            </a:r>
            <a:r>
              <a:rPr lang="en-US" altLang="ko-KR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?</a:t>
            </a: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76CF07-308D-9516-6164-89382E509CCB}"/>
              </a:ext>
            </a:extLst>
          </p:cNvPr>
          <p:cNvSpPr txBox="1"/>
          <p:nvPr/>
        </p:nvSpPr>
        <p:spPr>
          <a:xfrm>
            <a:off x="7920470" y="1638300"/>
            <a:ext cx="1547293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Viewed 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이후 </a:t>
            </a:r>
            <a:r>
              <a:rPr lang="en-US" altLang="ko-KR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Completed 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단계의 이탈율이 높음 </a:t>
            </a:r>
            <a:r>
              <a:rPr lang="en-US" altLang="ko-KR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  <a:sym typeface="Wingdings" pitchFamily="2" charset="2"/>
              </a:rPr>
              <a:t>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  <a:sym typeface="Wingdings" pitchFamily="2" charset="2"/>
              </a:rPr>
              <a:t> 문제 인식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E99454BA-920E-A9F3-3F96-1355D1523117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5C1AD22B-C737-3A1F-CC19-42D673BEB8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1601"/>
            <a:ext cx="211646" cy="756281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A4615BA-4DFA-743E-0423-A273D5CBC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0598" y="3563379"/>
            <a:ext cx="6705601" cy="526517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A661CFB-4F80-C3BA-8135-68EA3DBB73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470" y="3630105"/>
            <a:ext cx="8274827" cy="6418821"/>
          </a:xfrm>
          <a:prstGeom prst="rect">
            <a:avLst/>
          </a:prstGeom>
        </p:spPr>
      </p:pic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6CABCFA0-EF98-6B7F-EB04-85445A132474}"/>
              </a:ext>
            </a:extLst>
          </p:cNvPr>
          <p:cNvSpPr/>
          <p:nvPr/>
        </p:nvSpPr>
        <p:spPr>
          <a:xfrm>
            <a:off x="10896600" y="5181600"/>
            <a:ext cx="5029200" cy="4419600"/>
          </a:xfrm>
          <a:prstGeom prst="roundRect">
            <a:avLst>
              <a:gd name="adj" fmla="val 6209"/>
            </a:avLst>
          </a:prstGeom>
          <a:noFill/>
          <a:ln w="31750">
            <a:solidFill>
              <a:schemeClr val="accent2">
                <a:lumMod val="75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79A6BD-33AB-3C1C-4307-CDFEB7861631}"/>
              </a:ext>
            </a:extLst>
          </p:cNvPr>
          <p:cNvSpPr txBox="1"/>
          <p:nvPr/>
        </p:nvSpPr>
        <p:spPr>
          <a:xfrm>
            <a:off x="11016688" y="5235253"/>
            <a:ext cx="1283074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ctr">
              <a:lnSpc>
                <a:spcPct val="112050"/>
              </a:lnSpc>
            </a:pPr>
            <a:r>
              <a:rPr lang="en-US" sz="2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100%</a:t>
            </a:r>
          </a:p>
        </p:txBody>
      </p:sp>
      <p:sp>
        <p:nvSpPr>
          <p:cNvPr id="28" name="오른쪽 화살표[R] 27">
            <a:extLst>
              <a:ext uri="{FF2B5EF4-FFF2-40B4-BE49-F238E27FC236}">
                <a16:creationId xmlns:a16="http://schemas.microsoft.com/office/drawing/2014/main" id="{F73FE088-4867-2A3B-CC44-C10FE2C264C8}"/>
              </a:ext>
            </a:extLst>
          </p:cNvPr>
          <p:cNvSpPr/>
          <p:nvPr/>
        </p:nvSpPr>
        <p:spPr>
          <a:xfrm rot="1952792">
            <a:off x="12433588" y="6112453"/>
            <a:ext cx="584200" cy="356177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오른쪽 화살표[R] 29">
            <a:extLst>
              <a:ext uri="{FF2B5EF4-FFF2-40B4-BE49-F238E27FC236}">
                <a16:creationId xmlns:a16="http://schemas.microsoft.com/office/drawing/2014/main" id="{9A149B14-4395-FE7C-0AF8-98FAF46ACB81}"/>
              </a:ext>
            </a:extLst>
          </p:cNvPr>
          <p:cNvSpPr/>
          <p:nvPr/>
        </p:nvSpPr>
        <p:spPr>
          <a:xfrm rot="2445132">
            <a:off x="14190067" y="6790696"/>
            <a:ext cx="584200" cy="356177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83D5BD-17FF-021B-3197-7E9510978301}"/>
              </a:ext>
            </a:extLst>
          </p:cNvPr>
          <p:cNvSpPr txBox="1"/>
          <p:nvPr/>
        </p:nvSpPr>
        <p:spPr>
          <a:xfrm>
            <a:off x="11056997" y="4406594"/>
            <a:ext cx="4940673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ctr">
              <a:lnSpc>
                <a:spcPct val="112050"/>
              </a:lnSpc>
            </a:pPr>
            <a:r>
              <a:rPr lang="en-US" sz="24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Offer Lifecycle</a:t>
            </a:r>
            <a:endParaRPr lang="en-US" sz="24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C77FB2-08C9-55D8-9862-F1FD40358F76}"/>
              </a:ext>
            </a:extLst>
          </p:cNvPr>
          <p:cNvSpPr txBox="1"/>
          <p:nvPr/>
        </p:nvSpPr>
        <p:spPr>
          <a:xfrm>
            <a:off x="12890126" y="5820335"/>
            <a:ext cx="1283074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ctr">
              <a:lnSpc>
                <a:spcPct val="112050"/>
              </a:lnSpc>
            </a:pPr>
            <a:r>
              <a:rPr lang="en-US" sz="2000" dirty="0">
                <a:solidFill>
                  <a:srgbClr val="801A00"/>
                </a:solidFill>
                <a:highlight>
                  <a:srgbClr val="FFFF00"/>
                </a:highlight>
                <a:latin typeface="Pretendard Bold"/>
                <a:ea typeface="Pretendard Bold"/>
                <a:cs typeface="Pretendard Bold"/>
              </a:rPr>
              <a:t>76</a:t>
            </a:r>
            <a:r>
              <a:rPr lang="en-US" sz="2000" b="0" i="0" u="none" strike="noStrike" dirty="0">
                <a:solidFill>
                  <a:srgbClr val="801A00"/>
                </a:solidFill>
                <a:highlight>
                  <a:srgbClr val="FFFF00"/>
                </a:highlight>
                <a:latin typeface="Pretendard Bold"/>
                <a:ea typeface="Pretendard Bold"/>
                <a:cs typeface="Pretendard Bold"/>
              </a:rPr>
              <a:t>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CF0761-1A3D-911F-833C-10D3B6644C09}"/>
              </a:ext>
            </a:extLst>
          </p:cNvPr>
          <p:cNvSpPr txBox="1"/>
          <p:nvPr/>
        </p:nvSpPr>
        <p:spPr>
          <a:xfrm>
            <a:off x="14601365" y="6504024"/>
            <a:ext cx="1283074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ctr">
              <a:lnSpc>
                <a:spcPct val="112050"/>
              </a:lnSpc>
            </a:pPr>
            <a:r>
              <a:rPr lang="en-US" sz="2000" dirty="0">
                <a:solidFill>
                  <a:srgbClr val="801A00"/>
                </a:solidFill>
                <a:highlight>
                  <a:srgbClr val="FFFF00"/>
                </a:highlight>
                <a:latin typeface="Pretendard Bold"/>
                <a:ea typeface="Pretendard Bold"/>
                <a:cs typeface="Pretendard Bold"/>
              </a:rPr>
              <a:t>44</a:t>
            </a:r>
            <a:r>
              <a:rPr lang="en-US" sz="2000" b="0" i="0" u="none" strike="noStrike" dirty="0">
                <a:solidFill>
                  <a:srgbClr val="801A00"/>
                </a:solidFill>
                <a:highlight>
                  <a:srgbClr val="FFFF00"/>
                </a:highlight>
                <a:latin typeface="Pretendard Bold"/>
                <a:ea typeface="Pretendard Bold"/>
                <a:cs typeface="Pretendard Bold"/>
              </a:rPr>
              <a:t>%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0367B6C7-3B2B-47A2-CC8C-FBCC996A6913}"/>
              </a:ext>
            </a:extLst>
          </p:cNvPr>
          <p:cNvSpPr/>
          <p:nvPr/>
        </p:nvSpPr>
        <p:spPr>
          <a:xfrm>
            <a:off x="20002500" y="5983274"/>
            <a:ext cx="2771397" cy="1789125"/>
          </a:xfrm>
          <a:prstGeom prst="roundRect">
            <a:avLst>
              <a:gd name="adj" fmla="val 6209"/>
            </a:avLst>
          </a:prstGeom>
          <a:noFill/>
          <a:ln w="31750">
            <a:solidFill>
              <a:schemeClr val="accent2">
                <a:lumMod val="75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9383A0-BFA5-116D-4892-60D41E9AD64D}"/>
              </a:ext>
            </a:extLst>
          </p:cNvPr>
          <p:cNvSpPr txBox="1"/>
          <p:nvPr/>
        </p:nvSpPr>
        <p:spPr>
          <a:xfrm>
            <a:off x="19646324" y="5329382"/>
            <a:ext cx="3518476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ctr">
              <a:lnSpc>
                <a:spcPct val="112050"/>
              </a:lnSpc>
            </a:pPr>
            <a:r>
              <a:rPr lang="ko-KR" altLang="en-US" sz="24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구조적 병목 단계</a:t>
            </a:r>
            <a:endParaRPr lang="en-US" sz="24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315171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C5527-AD15-2F95-D906-B04CA2911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2574D17-F7FF-23B0-16D2-6172AE468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5B6A541-C784-DCDD-C1E6-C81709F0F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7D1F2788-111D-6D65-2328-C21FD3A4F3D5}"/>
              </a:ext>
            </a:extLst>
          </p:cNvPr>
          <p:cNvSpPr txBox="1"/>
          <p:nvPr/>
        </p:nvSpPr>
        <p:spPr>
          <a:xfrm>
            <a:off x="21107400" y="330200"/>
            <a:ext cx="2768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sz="2400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0</a:t>
            </a:r>
            <a:r>
              <a:rPr lang="en-US" altLang="ko-KR" sz="2400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4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9DFCFD4-3684-A9BE-60ED-27102A36CFC9}"/>
              </a:ext>
            </a:extLst>
          </p:cNvPr>
          <p:cNvSpPr txBox="1"/>
          <p:nvPr/>
        </p:nvSpPr>
        <p:spPr>
          <a:xfrm>
            <a:off x="596900" y="4686300"/>
            <a:ext cx="5651500" cy="1422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12050"/>
              </a:lnSpc>
            </a:pPr>
            <a:r>
              <a:rPr lang="ko-KR" altLang="en-US" sz="8000" b="0" i="0" u="none" strike="noStrike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오퍼</a:t>
            </a: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속성 </a:t>
            </a:r>
            <a:endParaRPr lang="en-US" altLang="ko-KR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단독 분석</a:t>
            </a:r>
            <a:r>
              <a:rPr lang="en-US" altLang="ko-KR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_1</a:t>
            </a:r>
            <a:endParaRPr lang="en-US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941CE19-FACB-0BF4-236C-264907130631}"/>
              </a:ext>
            </a:extLst>
          </p:cNvPr>
          <p:cNvSpPr txBox="1"/>
          <p:nvPr/>
        </p:nvSpPr>
        <p:spPr>
          <a:xfrm>
            <a:off x="596900" y="2273300"/>
            <a:ext cx="16129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0</a:t>
            </a:r>
            <a:r>
              <a:rPr lang="en-US" sz="6666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4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25C6C29A-141A-6BC8-B3B8-5A57EEC88660}"/>
              </a:ext>
            </a:extLst>
          </p:cNvPr>
          <p:cNvSpPr txBox="1"/>
          <p:nvPr/>
        </p:nvSpPr>
        <p:spPr>
          <a:xfrm>
            <a:off x="596899" y="7523018"/>
            <a:ext cx="5651499" cy="22860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 </a:t>
            </a: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Type</a:t>
            </a:r>
            <a:r>
              <a:rPr lang="en-US" altLang="ko-KR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, Difficulty, Reward</a:t>
            </a: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</a:t>
            </a:r>
            <a:endParaRPr lang="en-US" sz="3466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  <a:p>
            <a:pPr lvl="0" algn="l">
              <a:lnSpc>
                <a:spcPct val="112050"/>
              </a:lnSpc>
            </a:pPr>
            <a:r>
              <a:rPr lang="en-US" altLang="ko-KR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:</a:t>
            </a:r>
            <a:r>
              <a:rPr lang="ko-KR" alt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</a:t>
            </a:r>
            <a:r>
              <a:rPr lang="ko-KR" altLang="en-US" sz="3466" dirty="0" err="1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오퍼</a:t>
            </a:r>
            <a:r>
              <a:rPr lang="ko-KR" alt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자체만으로 </a:t>
            </a:r>
            <a:endParaRPr lang="en-US" altLang="ko-KR" sz="3466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  <a:p>
            <a:pPr lvl="0" algn="l">
              <a:lnSpc>
                <a:spcPct val="112050"/>
              </a:lnSpc>
            </a:pPr>
            <a:r>
              <a:rPr lang="ko-KR" alt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 실패를 설명할 수 있는가 </a:t>
            </a:r>
            <a:r>
              <a:rPr lang="en-US" altLang="ko-KR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?</a:t>
            </a: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DA90BA-DECC-14FD-69B5-B0B556EC3DEB}"/>
              </a:ext>
            </a:extLst>
          </p:cNvPr>
          <p:cNvSpPr txBox="1"/>
          <p:nvPr/>
        </p:nvSpPr>
        <p:spPr>
          <a:xfrm>
            <a:off x="7043056" y="1637838"/>
            <a:ext cx="16832943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l">
              <a:lnSpc>
                <a:spcPct val="112050"/>
              </a:lnSpc>
            </a:pPr>
            <a:r>
              <a:rPr lang="ko-KR" altLang="en-US" sz="3733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오퍼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단일 속성만으로 이탈 원인을 설명하기 어려움 </a:t>
            </a:r>
            <a:r>
              <a:rPr lang="en-US" altLang="ko-KR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  <a:sym typeface="Wingdings" pitchFamily="2" charset="2"/>
              </a:rPr>
              <a:t>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  <a:sym typeface="Wingdings" pitchFamily="2" charset="2"/>
              </a:rPr>
              <a:t> 조건 </a:t>
            </a:r>
            <a:r>
              <a:rPr lang="ko-KR" altLang="en-US" sz="3733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  <a:sym typeface="Wingdings" pitchFamily="2" charset="2"/>
              </a:rPr>
              <a:t>조합・고객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  <a:sym typeface="Wingdings" pitchFamily="2" charset="2"/>
              </a:rPr>
              <a:t> 맥락 확장 필요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56DA0078-8542-5260-D42F-DD5F9B337104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39700A3-F0FF-9053-FEB7-FFD22DFE2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1601"/>
            <a:ext cx="211646" cy="756281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5198FEF3-289F-2F76-7F5B-92561DDA2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057" y="2571750"/>
            <a:ext cx="5727700" cy="61468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E0A8F5D-6080-C0B0-7EA9-1BD92E056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4211" y="2571750"/>
            <a:ext cx="5596446" cy="6146800"/>
          </a:xfrm>
          <a:prstGeom prst="rect">
            <a:avLst/>
          </a:prstGeom>
        </p:spPr>
      </p:pic>
      <p:pic>
        <p:nvPicPr>
          <p:cNvPr id="25" name="Picture 14">
            <a:extLst>
              <a:ext uri="{FF2B5EF4-FFF2-40B4-BE49-F238E27FC236}">
                <a16:creationId xmlns:a16="http://schemas.microsoft.com/office/drawing/2014/main" id="{D7D3858B-5C48-5EC7-7376-4CC73D985D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00" y="8634267"/>
            <a:ext cx="889000" cy="889000"/>
          </a:xfrm>
          <a:prstGeom prst="rect">
            <a:avLst/>
          </a:prstGeom>
        </p:spPr>
      </p:pic>
      <p:sp>
        <p:nvSpPr>
          <p:cNvPr id="29" name="TextBox 15">
            <a:extLst>
              <a:ext uri="{FF2B5EF4-FFF2-40B4-BE49-F238E27FC236}">
                <a16:creationId xmlns:a16="http://schemas.microsoft.com/office/drawing/2014/main" id="{B5AE3FF1-B2DB-864B-F250-95FA732AEBC2}"/>
              </a:ext>
            </a:extLst>
          </p:cNvPr>
          <p:cNvSpPr txBox="1"/>
          <p:nvPr/>
        </p:nvSpPr>
        <p:spPr>
          <a:xfrm>
            <a:off x="21043900" y="8713932"/>
            <a:ext cx="711200" cy="812800"/>
          </a:xfrm>
          <a:prstGeom prst="rect">
            <a:avLst/>
          </a:prstGeom>
        </p:spPr>
        <p:txBody>
          <a:bodyPr lIns="0" tIns="11853" rIns="0" bIns="0" rtlCol="0" anchor="t"/>
          <a:lstStyle/>
          <a:p>
            <a:pPr lvl="0" algn="ctr">
              <a:lnSpc>
                <a:spcPct val="112050"/>
              </a:lnSpc>
            </a:pPr>
            <a:r>
              <a:rPr lang="en-US" sz="3733" b="0" i="0" u="none" strike="noStrike">
                <a:solidFill>
                  <a:srgbClr val="FFFFFF"/>
                </a:solidFill>
                <a:latin typeface="Martel DemiBold"/>
                <a:ea typeface="Martel DemiBold"/>
                <a:cs typeface="Martel DemiBold"/>
              </a:rPr>
              <a:t>3</a:t>
            </a:r>
          </a:p>
        </p:txBody>
      </p:sp>
      <p:pic>
        <p:nvPicPr>
          <p:cNvPr id="33" name="Picture 16">
            <a:extLst>
              <a:ext uri="{FF2B5EF4-FFF2-40B4-BE49-F238E27FC236}">
                <a16:creationId xmlns:a16="http://schemas.microsoft.com/office/drawing/2014/main" id="{B3E756EF-968F-7A97-DAED-41FDA42F67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0" y="8634267"/>
            <a:ext cx="889000" cy="889000"/>
          </a:xfrm>
          <a:prstGeom prst="rect">
            <a:avLst/>
          </a:prstGeom>
        </p:spPr>
      </p:pic>
      <p:sp>
        <p:nvSpPr>
          <p:cNvPr id="37" name="TextBox 17">
            <a:extLst>
              <a:ext uri="{FF2B5EF4-FFF2-40B4-BE49-F238E27FC236}">
                <a16:creationId xmlns:a16="http://schemas.microsoft.com/office/drawing/2014/main" id="{11DC77AE-9033-1867-87EB-A72423F355C6}"/>
              </a:ext>
            </a:extLst>
          </p:cNvPr>
          <p:cNvSpPr txBox="1"/>
          <p:nvPr/>
        </p:nvSpPr>
        <p:spPr>
          <a:xfrm>
            <a:off x="15328900" y="8745682"/>
            <a:ext cx="711200" cy="812800"/>
          </a:xfrm>
          <a:prstGeom prst="rect">
            <a:avLst/>
          </a:prstGeom>
        </p:spPr>
        <p:txBody>
          <a:bodyPr lIns="0" tIns="11853" rIns="0" bIns="0" rtlCol="0" anchor="t"/>
          <a:lstStyle/>
          <a:p>
            <a:pPr lvl="0" algn="ctr">
              <a:lnSpc>
                <a:spcPct val="112050"/>
              </a:lnSpc>
            </a:pPr>
            <a:r>
              <a:rPr lang="en-US" sz="3733" b="0" i="0" u="none" strike="noStrike">
                <a:solidFill>
                  <a:srgbClr val="FFFFFF"/>
                </a:solidFill>
                <a:latin typeface="Martel DemiBold"/>
                <a:ea typeface="Martel DemiBold"/>
                <a:cs typeface="Martel DemiBold"/>
              </a:rPr>
              <a:t>2</a:t>
            </a:r>
          </a:p>
        </p:txBody>
      </p:sp>
      <p:pic>
        <p:nvPicPr>
          <p:cNvPr id="38" name="Picture 18">
            <a:extLst>
              <a:ext uri="{FF2B5EF4-FFF2-40B4-BE49-F238E27FC236}">
                <a16:creationId xmlns:a16="http://schemas.microsoft.com/office/drawing/2014/main" id="{4B0133DD-05DB-47D8-CD31-745F040103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8675832"/>
            <a:ext cx="889000" cy="889000"/>
          </a:xfrm>
          <a:prstGeom prst="rect">
            <a:avLst/>
          </a:prstGeom>
        </p:spPr>
      </p:pic>
      <p:sp>
        <p:nvSpPr>
          <p:cNvPr id="39" name="TextBox 19">
            <a:extLst>
              <a:ext uri="{FF2B5EF4-FFF2-40B4-BE49-F238E27FC236}">
                <a16:creationId xmlns:a16="http://schemas.microsoft.com/office/drawing/2014/main" id="{3BC6B9A3-D907-4E31-0152-65A1497C4494}"/>
              </a:ext>
            </a:extLst>
          </p:cNvPr>
          <p:cNvSpPr txBox="1"/>
          <p:nvPr/>
        </p:nvSpPr>
        <p:spPr>
          <a:xfrm>
            <a:off x="9639300" y="8750300"/>
            <a:ext cx="711200" cy="812800"/>
          </a:xfrm>
          <a:prstGeom prst="rect">
            <a:avLst/>
          </a:prstGeom>
        </p:spPr>
        <p:txBody>
          <a:bodyPr lIns="0" tIns="11853" rIns="0" bIns="0" rtlCol="0" anchor="t"/>
          <a:lstStyle/>
          <a:p>
            <a:pPr lvl="0" algn="ctr">
              <a:lnSpc>
                <a:spcPct val="112050"/>
              </a:lnSpc>
            </a:pPr>
            <a:r>
              <a:rPr lang="en-US" sz="3733" b="0" i="0" u="none" strike="noStrike" dirty="0">
                <a:solidFill>
                  <a:srgbClr val="FFFFFF"/>
                </a:solidFill>
                <a:latin typeface="Martel DemiBold"/>
                <a:ea typeface="Martel DemiBold"/>
                <a:cs typeface="Martel DemiBold"/>
              </a:rPr>
              <a:t>1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07D501DB-F46D-0743-C591-2B50FD95AE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15213" y="2571750"/>
            <a:ext cx="5686597" cy="61341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910C9BB-FF66-B7A1-46D9-24945A1A115A}"/>
              </a:ext>
            </a:extLst>
          </p:cNvPr>
          <p:cNvSpPr txBox="1"/>
          <p:nvPr/>
        </p:nvSpPr>
        <p:spPr>
          <a:xfrm>
            <a:off x="19725736" y="396240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45.1%</a:t>
            </a:r>
            <a:endParaRPr kumimoji="1"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E3E526-77C7-CAFB-B50B-4563874F2007}"/>
              </a:ext>
            </a:extLst>
          </p:cNvPr>
          <p:cNvSpPr txBox="1"/>
          <p:nvPr/>
        </p:nvSpPr>
        <p:spPr>
          <a:xfrm>
            <a:off x="22226729" y="5076763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30..9%</a:t>
            </a:r>
            <a:endParaRPr kumimoji="1" lang="ko-KR" altLang="en-US" dirty="0"/>
          </a:p>
        </p:txBody>
      </p:sp>
      <p:pic>
        <p:nvPicPr>
          <p:cNvPr id="54" name="Picture 7">
            <a:extLst>
              <a:ext uri="{FF2B5EF4-FFF2-40B4-BE49-F238E27FC236}">
                <a16:creationId xmlns:a16="http://schemas.microsoft.com/office/drawing/2014/main" id="{08ECC60A-432D-206C-0906-463E6ED04D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3057" y="9467850"/>
            <a:ext cx="5783941" cy="3975100"/>
          </a:xfrm>
          <a:prstGeom prst="rect">
            <a:avLst/>
          </a:prstGeom>
        </p:spPr>
      </p:pic>
      <p:sp>
        <p:nvSpPr>
          <p:cNvPr id="44" name="TextBox 24">
            <a:extLst>
              <a:ext uri="{FF2B5EF4-FFF2-40B4-BE49-F238E27FC236}">
                <a16:creationId xmlns:a16="http://schemas.microsoft.com/office/drawing/2014/main" id="{629DD819-84A6-9AB1-169F-950803AF3140}"/>
              </a:ext>
            </a:extLst>
          </p:cNvPr>
          <p:cNvSpPr txBox="1"/>
          <p:nvPr/>
        </p:nvSpPr>
        <p:spPr>
          <a:xfrm>
            <a:off x="7315200" y="10363200"/>
            <a:ext cx="5445300" cy="2657929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유형별로 보면 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informational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오퍼는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구매 행동을 직접 유도하지 않는 구조로 인해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전부 이탈함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" altLang="ko-KR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bogo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discount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간에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이탈률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차이는 존재하나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특정 </a:t>
            </a:r>
            <a:r>
              <a:rPr lang="ko-KR" altLang="en-US" sz="240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유형 하나만으로 </a:t>
            </a:r>
            <a:r>
              <a:rPr lang="en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Viewed → Completed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이탈을 설명하기에는 한계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ctr">
              <a:lnSpc>
                <a:spcPct val="150000"/>
              </a:lnSpc>
              <a:buFont typeface="Wingdings" pitchFamily="2" charset="2"/>
              <a:buChar char="Ø"/>
            </a:pPr>
            <a:endParaRPr lang="en-US" sz="2400" b="0" i="0" u="none" strike="noStrike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5" name="Picture 7">
            <a:extLst>
              <a:ext uri="{FF2B5EF4-FFF2-40B4-BE49-F238E27FC236}">
                <a16:creationId xmlns:a16="http://schemas.microsoft.com/office/drawing/2014/main" id="{A87D5792-9133-3BB2-DE30-D3FBF90778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84843" y="9467850"/>
            <a:ext cx="5439182" cy="3975100"/>
          </a:xfrm>
          <a:prstGeom prst="rect">
            <a:avLst/>
          </a:prstGeom>
        </p:spPr>
      </p:pic>
      <p:sp>
        <p:nvSpPr>
          <p:cNvPr id="56" name="TextBox 24">
            <a:extLst>
              <a:ext uri="{FF2B5EF4-FFF2-40B4-BE49-F238E27FC236}">
                <a16:creationId xmlns:a16="http://schemas.microsoft.com/office/drawing/2014/main" id="{56D31B11-09BB-5690-AD89-09960D72F695}"/>
              </a:ext>
            </a:extLst>
          </p:cNvPr>
          <p:cNvSpPr txBox="1"/>
          <p:nvPr/>
        </p:nvSpPr>
        <p:spPr>
          <a:xfrm>
            <a:off x="13219245" y="10003172"/>
            <a:ext cx="5042484" cy="3377984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단기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Short)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이탈률이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높게 관찰됨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기간이 길어질수록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이탈률은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감소하는 경향을 보이나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기간 단독 요인만으로는 실패 여부를 명확히 구분하기 어려움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 제약은 이탈에 영향을 주지만 결정 요인으로 보기에는 아직 역부족임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ctr">
              <a:lnSpc>
                <a:spcPct val="150000"/>
              </a:lnSpc>
              <a:buFont typeface="Wingdings" pitchFamily="2" charset="2"/>
              <a:buChar char="Ø"/>
            </a:pPr>
            <a:endParaRPr lang="en-US" sz="2400" b="0" i="0" u="none" strike="noStrike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7" name="Picture 7">
            <a:extLst>
              <a:ext uri="{FF2B5EF4-FFF2-40B4-BE49-F238E27FC236}">
                <a16:creationId xmlns:a16="http://schemas.microsoft.com/office/drawing/2014/main" id="{267D08D4-DA91-11B4-2604-DB152C8AFE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81871" y="9448328"/>
            <a:ext cx="5419940" cy="3975100"/>
          </a:xfrm>
          <a:prstGeom prst="rect">
            <a:avLst/>
          </a:prstGeom>
        </p:spPr>
      </p:pic>
      <p:sp>
        <p:nvSpPr>
          <p:cNvPr id="58" name="TextBox 24">
            <a:extLst>
              <a:ext uri="{FF2B5EF4-FFF2-40B4-BE49-F238E27FC236}">
                <a16:creationId xmlns:a16="http://schemas.microsoft.com/office/drawing/2014/main" id="{481D0005-D4AF-8BF3-2E9F-DFAA07EB441A}"/>
              </a:ext>
            </a:extLst>
          </p:cNvPr>
          <p:cNvSpPr txBox="1"/>
          <p:nvPr/>
        </p:nvSpPr>
        <p:spPr>
          <a:xfrm>
            <a:off x="18698888" y="9078767"/>
            <a:ext cx="5157887" cy="3816324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보상 대비 조건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(Reward/Difficulty)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합리적으로 분류된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오퍼에서도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상대적으로 높은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이탈률이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관찰됨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이는 기대 형성 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실행 불가능 시 이탈로 이어질 가능성을 시사</a:t>
            </a:r>
            <a:endParaRPr lang="en-US" altLang="ko-KR" sz="24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Wingdings" pitchFamily="2" charset="2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9CA9FC-BE85-0ED8-82DC-61786F0444CE}"/>
              </a:ext>
            </a:extLst>
          </p:cNvPr>
          <p:cNvSpPr txBox="1"/>
          <p:nvPr/>
        </p:nvSpPr>
        <p:spPr>
          <a:xfrm>
            <a:off x="13834131" y="7213384"/>
            <a:ext cx="720069" cy="305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chemeClr val="bg1"/>
                </a:solidFill>
              </a:rPr>
              <a:t>1-4</a:t>
            </a:r>
            <a:r>
              <a:rPr kumimoji="1" lang="ko-KR" altLang="en-US" dirty="0">
                <a:solidFill>
                  <a:schemeClr val="bg1"/>
                </a:solidFill>
              </a:rPr>
              <a:t>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F17E41-60AA-DA3B-8A61-874B71EFD0B4}"/>
              </a:ext>
            </a:extLst>
          </p:cNvPr>
          <p:cNvSpPr txBox="1"/>
          <p:nvPr/>
        </p:nvSpPr>
        <p:spPr>
          <a:xfrm>
            <a:off x="15358131" y="7250668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chemeClr val="bg1"/>
                </a:solidFill>
              </a:rPr>
              <a:t>5-7</a:t>
            </a:r>
            <a:r>
              <a:rPr kumimoji="1" lang="ko-KR" altLang="en-US" dirty="0">
                <a:solidFill>
                  <a:schemeClr val="bg1"/>
                </a:solidFill>
              </a:rPr>
              <a:t>일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A40FFE-AA7A-814A-A342-6C680271712D}"/>
              </a:ext>
            </a:extLst>
          </p:cNvPr>
          <p:cNvSpPr txBox="1"/>
          <p:nvPr/>
        </p:nvSpPr>
        <p:spPr>
          <a:xfrm>
            <a:off x="16958331" y="7239000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chemeClr val="bg1"/>
                </a:solidFill>
              </a:rPr>
              <a:t>8-10</a:t>
            </a:r>
            <a:r>
              <a:rPr kumimoji="1" lang="ko-KR" altLang="en-US" dirty="0">
                <a:solidFill>
                  <a:schemeClr val="bg1"/>
                </a:solidFill>
              </a:rPr>
              <a:t>일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3BB4EC-1D2C-CA81-43A4-61E3ECBFB0A3}"/>
              </a:ext>
            </a:extLst>
          </p:cNvPr>
          <p:cNvSpPr txBox="1"/>
          <p:nvPr/>
        </p:nvSpPr>
        <p:spPr>
          <a:xfrm>
            <a:off x="579352" y="10282937"/>
            <a:ext cx="548521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보상대비 조건에 따른 </a:t>
            </a:r>
            <a:r>
              <a:rPr lang="ko-KR" altLang="en-US" sz="2000" b="1" dirty="0" err="1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가치 구간화 기준</a:t>
            </a:r>
            <a:endParaRPr lang="en-US" altLang="ko-KR" sz="2000" b="1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buFont typeface="Wingdings" pitchFamily="2" charset="2"/>
              <a:buChar char="u"/>
            </a:pP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Low Value (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보상 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 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조건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 </a:t>
            </a:r>
          </a:p>
          <a:p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 / difficulty &lt; 1  </a:t>
            </a:r>
          </a:p>
          <a:p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</a:t>
            </a:r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고객이 체감하는 보상 대비 조건 부담이 큰 </a:t>
            </a:r>
            <a:r>
              <a:rPr lang="ko-KR" altLang="en-US" sz="20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endParaRPr lang="ko-KR" altLang="en-US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buFont typeface="Wingdings" pitchFamily="2" charset="2"/>
              <a:buChar char="u"/>
            </a:pP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Fair Value (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보상 ≥ 조건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=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 / difficulty ≥ 1  </a:t>
            </a:r>
          </a:p>
          <a:p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</a:t>
            </a:r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고객이 보상 대비 조건이 합리적이라고 인식할 가능성이 있는 </a:t>
            </a:r>
            <a:r>
              <a:rPr lang="ko-KR" altLang="en-US" sz="20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endParaRPr lang="ko-KR" altLang="en-US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buFont typeface="Wingdings" pitchFamily="2" charset="2"/>
              <a:buChar char="u"/>
            </a:pP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`</a:t>
            </a:r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difficulty = 0`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 </a:t>
            </a:r>
            <a:r>
              <a:rPr lang="ko-KR" altLang="en-US" sz="20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오퍼는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실제 행동 완료 조건이 없는 구조이므로 본 분석에서는 제외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0360AB-3B15-32A9-F5E7-E7166F9A290B}"/>
              </a:ext>
            </a:extLst>
          </p:cNvPr>
          <p:cNvSpPr txBox="1"/>
          <p:nvPr/>
        </p:nvSpPr>
        <p:spPr>
          <a:xfrm>
            <a:off x="18516635" y="12469527"/>
            <a:ext cx="5283752" cy="788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Difficulty: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6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완료를 위해 요구되는 최소 지출 조건</a:t>
            </a:r>
            <a:endParaRPr lang="en-US" altLang="ko-KR" sz="16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Reward: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오퍼를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완료했을 때 고객이 얻는 보상 크기</a:t>
            </a:r>
            <a:endParaRPr lang="en-US" altLang="ko-KR" sz="16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26AADF-EF21-310A-4272-2B6F12D3F451}"/>
              </a:ext>
            </a:extLst>
          </p:cNvPr>
          <p:cNvSpPr txBox="1"/>
          <p:nvPr/>
        </p:nvSpPr>
        <p:spPr>
          <a:xfrm>
            <a:off x="21622656" y="6734966"/>
            <a:ext cx="1999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8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 / difficulty </a:t>
            </a:r>
          </a:p>
          <a:p>
            <a:pPr algn="ctr"/>
            <a:r>
              <a:rPr lang="en" altLang="ko-KR" sz="18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 1 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3F0B3A-2C4F-4E96-73EA-8BCF8908A217}"/>
              </a:ext>
            </a:extLst>
          </p:cNvPr>
          <p:cNvSpPr txBox="1"/>
          <p:nvPr/>
        </p:nvSpPr>
        <p:spPr>
          <a:xfrm>
            <a:off x="19137711" y="6800502"/>
            <a:ext cx="1999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8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 / difficulty </a:t>
            </a:r>
          </a:p>
          <a:p>
            <a:pPr algn="ctr"/>
            <a:r>
              <a:rPr lang="en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≥ </a:t>
            </a:r>
            <a:r>
              <a:rPr lang="en" altLang="ko-KR" sz="18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  </a:t>
            </a:r>
          </a:p>
        </p:txBody>
      </p:sp>
    </p:spTree>
    <p:extLst>
      <p:ext uri="{BB962C8B-B14F-4D97-AF65-F5344CB8AC3E}">
        <p14:creationId xmlns:p14="http://schemas.microsoft.com/office/powerpoint/2010/main" val="2903926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DC7F4-36DC-E559-6872-B5D4D4123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33152AC-E8DD-9537-D530-95149FBA4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7476A14-39A2-EA87-B2AD-00DDEEF555AD}"/>
              </a:ext>
            </a:extLst>
          </p:cNvPr>
          <p:cNvSpPr/>
          <p:nvPr/>
        </p:nvSpPr>
        <p:spPr>
          <a:xfrm>
            <a:off x="7043056" y="2819400"/>
            <a:ext cx="16813719" cy="647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ABB5BDAE-C4DE-3B67-71EB-049432347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34FD21AB-7D75-32C2-6E80-28EED8DF7820}"/>
              </a:ext>
            </a:extLst>
          </p:cNvPr>
          <p:cNvSpPr txBox="1"/>
          <p:nvPr/>
        </p:nvSpPr>
        <p:spPr>
          <a:xfrm>
            <a:off x="21107400" y="330200"/>
            <a:ext cx="2768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sz="2400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0</a:t>
            </a: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5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17F2C3F-DD7D-8BD4-AD80-9E1B9F345122}"/>
              </a:ext>
            </a:extLst>
          </p:cNvPr>
          <p:cNvSpPr txBox="1"/>
          <p:nvPr/>
        </p:nvSpPr>
        <p:spPr>
          <a:xfrm>
            <a:off x="596900" y="4686300"/>
            <a:ext cx="5651500" cy="1422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12050"/>
              </a:lnSpc>
            </a:pPr>
            <a:r>
              <a:rPr lang="ko-KR" altLang="en-US" sz="8000" b="0" i="0" u="none" strike="noStrike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오퍼</a:t>
            </a: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속성 </a:t>
            </a:r>
            <a:endParaRPr lang="en-US" altLang="ko-KR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단독 분석</a:t>
            </a:r>
            <a:r>
              <a:rPr lang="en-US" altLang="ko-KR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_2</a:t>
            </a:r>
            <a:endParaRPr lang="en-US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55FD70F-12BC-7811-D384-A18A0FF1C02A}"/>
              </a:ext>
            </a:extLst>
          </p:cNvPr>
          <p:cNvSpPr txBox="1"/>
          <p:nvPr/>
        </p:nvSpPr>
        <p:spPr>
          <a:xfrm>
            <a:off x="596900" y="2273300"/>
            <a:ext cx="16129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0</a:t>
            </a:r>
            <a:r>
              <a:rPr lang="en-US" altLang="ko-KR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5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09F405C7-D21F-ED5D-A8CB-8DE9238C39D5}"/>
              </a:ext>
            </a:extLst>
          </p:cNvPr>
          <p:cNvSpPr txBox="1"/>
          <p:nvPr/>
        </p:nvSpPr>
        <p:spPr>
          <a:xfrm>
            <a:off x="596899" y="7523018"/>
            <a:ext cx="5926365" cy="22860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 </a:t>
            </a: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Channel types and counts</a:t>
            </a: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</a:t>
            </a:r>
            <a:endParaRPr lang="en-US" sz="3466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  <a:p>
            <a:pPr lvl="0" algn="l">
              <a:lnSpc>
                <a:spcPct val="112050"/>
              </a:lnSpc>
            </a:pPr>
            <a:r>
              <a:rPr lang="en-US" altLang="ko-KR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:</a:t>
            </a:r>
            <a:r>
              <a:rPr lang="ko-KR" alt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노출 범위와 노출 맥락은 전환에 어떤 차이를 만들까</a:t>
            </a:r>
            <a:r>
              <a:rPr lang="en-US" altLang="ko-KR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?</a:t>
            </a:r>
            <a:r>
              <a:rPr lang="ko-KR" alt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</a:t>
            </a: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FC5A3B-6B9F-9E55-C2E5-04F1E6311255}"/>
              </a:ext>
            </a:extLst>
          </p:cNvPr>
          <p:cNvSpPr txBox="1"/>
          <p:nvPr/>
        </p:nvSpPr>
        <p:spPr>
          <a:xfrm>
            <a:off x="7162800" y="1637838"/>
            <a:ext cx="16832943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l">
              <a:lnSpc>
                <a:spcPct val="112050"/>
              </a:lnSpc>
            </a:pP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노출 환경만으로 이탈 원인을 설명하기 어려움 </a:t>
            </a:r>
            <a:r>
              <a:rPr lang="en-US" altLang="ko-KR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  <a:sym typeface="Wingdings" pitchFamily="2" charset="2"/>
              </a:rPr>
              <a:t>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  <a:sym typeface="Wingdings" pitchFamily="2" charset="2"/>
              </a:rPr>
              <a:t> 조건 </a:t>
            </a:r>
            <a:r>
              <a:rPr lang="ko-KR" altLang="en-US" sz="3733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  <a:sym typeface="Wingdings" pitchFamily="2" charset="2"/>
              </a:rPr>
              <a:t>조합・고객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  <a:sym typeface="Wingdings" pitchFamily="2" charset="2"/>
              </a:rPr>
              <a:t> 맥락 확장 필요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14ACDDFD-D288-451B-7065-D849084AF71E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0FE50BED-C955-58B8-BDB2-585CF6EE3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1601"/>
            <a:ext cx="211646" cy="75628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236C302-98FB-6421-1C62-A5B01B8E0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225394"/>
            <a:ext cx="7302500" cy="5814868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656DCB2-F2EF-BA11-4B29-22A2901C01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056" y="9975268"/>
            <a:ext cx="16813718" cy="34105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6F9EA9-2DBC-9A79-7A3D-5AB0AAACC7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55800" y="3225393"/>
            <a:ext cx="8756650" cy="5814867"/>
          </a:xfrm>
          <a:prstGeom prst="rect">
            <a:avLst/>
          </a:prstGeom>
        </p:spPr>
      </p:pic>
      <p:sp>
        <p:nvSpPr>
          <p:cNvPr id="9" name="TextBox 13">
            <a:extLst>
              <a:ext uri="{FF2B5EF4-FFF2-40B4-BE49-F238E27FC236}">
                <a16:creationId xmlns:a16="http://schemas.microsoft.com/office/drawing/2014/main" id="{07C6ADE6-F226-D8E3-03E1-CAA95387E5E4}"/>
              </a:ext>
            </a:extLst>
          </p:cNvPr>
          <p:cNvSpPr txBox="1"/>
          <p:nvPr/>
        </p:nvSpPr>
        <p:spPr>
          <a:xfrm>
            <a:off x="7543800" y="10390124"/>
            <a:ext cx="14798947" cy="232731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데이터상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오퍼는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이상의 채널 조합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통해 노출되며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채널 수 증감에 따른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일관된 이탈 감소 경향은 관찰되지 않음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채널 유형별로는 </a:t>
            </a:r>
            <a:r>
              <a:rPr lang="en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web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채널에서 상대적으로 낮은 </a:t>
            </a:r>
            <a:r>
              <a:rPr lang="ko-KR" altLang="en-US" sz="240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이탈률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관찰됨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이는 단순 노출 범위 확대보다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행동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구매 맥락이 유지된 환경에서의 인지가 전환에 유리함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시사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그러나 여전히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채널 환경 단독으로 </a:t>
            </a:r>
            <a:r>
              <a:rPr lang="en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Viewed → Completed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이탈을 설명하기에는 한계가 존재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919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830C-66B1-836A-7E74-CC509F91C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8468C5C-D315-69C0-A91F-5F57263C9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D8462B-AF46-23EF-91F2-CB64503BC714}"/>
              </a:ext>
            </a:extLst>
          </p:cNvPr>
          <p:cNvSpPr/>
          <p:nvPr/>
        </p:nvSpPr>
        <p:spPr>
          <a:xfrm>
            <a:off x="7848600" y="2667000"/>
            <a:ext cx="15544800" cy="7092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C3CA3A1-A7A0-7089-8244-A438ABF11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B77F9D6-A14D-56F8-A916-71FCBDD7C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9975268"/>
            <a:ext cx="15544800" cy="3410533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080EA5E7-0462-5535-9D8E-E8710A85E1A6}"/>
              </a:ext>
            </a:extLst>
          </p:cNvPr>
          <p:cNvSpPr txBox="1"/>
          <p:nvPr/>
        </p:nvSpPr>
        <p:spPr>
          <a:xfrm>
            <a:off x="8272326" y="10059925"/>
            <a:ext cx="15121074" cy="36560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고난이도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difficulty ≥ 10)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저소득 및 중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저소득 고객의 실패율이 급격히 증가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반면 중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고소득 고객은 동일한 조건에서도 상대적으로 낮은 실패율을 유지 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고소득 그룹은 표본 수가 상대적으로 적어 해석 시 참고 지표로 활용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결과는  </a:t>
            </a:r>
            <a:r>
              <a:rPr lang="ko-KR" altLang="en-US" sz="240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인지나 관심 부족이 아닌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고객 맥락을 고려하지 않은 조건 설계로 인한 구조적 실패임을 시사함</a:t>
            </a:r>
            <a:endParaRPr lang="en-US" altLang="ko-KR" sz="24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저소득 여부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고난이도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여부에 따른 이탈 분포는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카이제곱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검정에서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유의한 차이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확인됨 </a:t>
            </a:r>
            <a:r>
              <a:rPr lang="el-GR" altLang="ko-KR" sz="2000" i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(χ²=369.2, </a:t>
            </a:r>
            <a:r>
              <a:rPr lang="en" altLang="ko-KR" sz="2000" i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p&lt;0.001, </a:t>
            </a:r>
            <a:r>
              <a:rPr lang="en" altLang="ko-KR" sz="2000" i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dof</a:t>
            </a:r>
            <a:r>
              <a:rPr lang="en" altLang="ko-KR" sz="2000" i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=3)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실패는 무작위가 아니라 고객 맥락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x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조건 조합에서 구조적으로 집중됨을 뒷받침함</a:t>
            </a:r>
            <a:endParaRPr lang="en" altLang="ko-KR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4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915481B-876C-0C43-0DCF-6A46527DD2FE}"/>
              </a:ext>
            </a:extLst>
          </p:cNvPr>
          <p:cNvSpPr txBox="1"/>
          <p:nvPr/>
        </p:nvSpPr>
        <p:spPr>
          <a:xfrm>
            <a:off x="21107400" y="330200"/>
            <a:ext cx="2768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sz="2400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0</a:t>
            </a: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6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3E149BA-2EE9-3441-31ED-37A39C07E188}"/>
              </a:ext>
            </a:extLst>
          </p:cNvPr>
          <p:cNvSpPr txBox="1"/>
          <p:nvPr/>
        </p:nvSpPr>
        <p:spPr>
          <a:xfrm>
            <a:off x="596900" y="4686300"/>
            <a:ext cx="5651500" cy="1422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12050"/>
              </a:lnSpc>
            </a:pP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실패 세그먼트</a:t>
            </a: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r>
              <a:rPr lang="en-US" altLang="ko-KR" sz="48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1.</a:t>
            </a:r>
            <a:r>
              <a:rPr lang="ko-KR" altLang="en-US" sz="48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4800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r>
              <a:rPr lang="ko-KR" altLang="en-US" sz="48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저소득 </a:t>
            </a:r>
            <a:r>
              <a:rPr lang="en-US" altLang="ko-KR" sz="48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x </a:t>
            </a:r>
            <a:r>
              <a:rPr lang="ko-KR" altLang="en-US" sz="48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고난이도 </a:t>
            </a:r>
            <a:r>
              <a:rPr lang="ko-KR" altLang="en-US" sz="4800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오퍼</a:t>
            </a:r>
            <a:endParaRPr lang="en-US" sz="48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CB5F2E6-D3B6-690D-7925-81364109FBE3}"/>
              </a:ext>
            </a:extLst>
          </p:cNvPr>
          <p:cNvSpPr txBox="1"/>
          <p:nvPr/>
        </p:nvSpPr>
        <p:spPr>
          <a:xfrm>
            <a:off x="596900" y="2273300"/>
            <a:ext cx="16129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0</a:t>
            </a:r>
            <a:r>
              <a:rPr lang="en-US" altLang="ko-KR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6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A47D06F3-0622-19FE-142D-D01556FB1449}"/>
              </a:ext>
            </a:extLst>
          </p:cNvPr>
          <p:cNvSpPr txBox="1"/>
          <p:nvPr/>
        </p:nvSpPr>
        <p:spPr>
          <a:xfrm>
            <a:off x="596900" y="7626350"/>
            <a:ext cx="5816600" cy="22860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 Customer </a:t>
            </a: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Income </a:t>
            </a:r>
          </a:p>
          <a:p>
            <a:pPr lvl="0" algn="l">
              <a:lnSpc>
                <a:spcPct val="112050"/>
              </a:lnSpc>
            </a:pP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✕  Offer Difficulty </a:t>
            </a:r>
          </a:p>
          <a:p>
            <a:pPr lvl="0" algn="l">
              <a:lnSpc>
                <a:spcPct val="112050"/>
              </a:lnSpc>
            </a:pP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029FBB-1B21-4764-3621-507856E70EFF}"/>
              </a:ext>
            </a:extLst>
          </p:cNvPr>
          <p:cNvSpPr txBox="1"/>
          <p:nvPr/>
        </p:nvSpPr>
        <p:spPr>
          <a:xfrm>
            <a:off x="7920470" y="1638300"/>
            <a:ext cx="1547293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>
              <a:lnSpc>
                <a:spcPct val="112050"/>
              </a:lnSpc>
            </a:pP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저소득 고객에게 경제적 실행 가능성을 초과한 조건에서 실패가 집중됨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613EA79F-B059-1ED5-C838-E557015B0A70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920799E1-E83A-C8BC-1D50-02CCB7FA8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1601"/>
            <a:ext cx="211646" cy="75628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7CB6657-80DB-0A49-5AED-FE9CB9AB02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400" y="2951018"/>
            <a:ext cx="13023850" cy="68087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1BF777-5D02-6787-2859-A28F728E1074}"/>
              </a:ext>
            </a:extLst>
          </p:cNvPr>
          <p:cNvSpPr txBox="1"/>
          <p:nvPr/>
        </p:nvSpPr>
        <p:spPr>
          <a:xfrm>
            <a:off x="277164" y="9975268"/>
            <a:ext cx="6235918" cy="32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 err="1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히트맵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X, Y 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구간 정의 기준 </a:t>
            </a:r>
            <a:endParaRPr lang="en-US" altLang="ko-KR" sz="2000" b="1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u"/>
            </a:pP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Income Group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소득 분포를 기준으로 </a:t>
            </a:r>
            <a:r>
              <a:rPr lang="ko-KR" altLang="en-US" sz="20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분위수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Quantile)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구간화</a:t>
            </a:r>
          </a:p>
          <a:p>
            <a:pPr>
              <a:lnSpc>
                <a:spcPct val="150000"/>
              </a:lnSpc>
            </a:pPr>
            <a:r>
              <a:rPr lang="ko-KR" altLang="en-US" sz="2000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</a:t>
            </a:r>
            <a:r>
              <a:rPr lang="en-US" altLang="ko-KR" sz="2000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000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Low / Mid-Low / Mid-High / High)</a:t>
            </a:r>
            <a:endParaRPr lang="en" altLang="ko-KR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u"/>
            </a:pPr>
            <a:r>
              <a:rPr lang="en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Offer Difficulty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20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완료를 위한 최소 지출 조건</a:t>
            </a:r>
          </a:p>
          <a:p>
            <a:pPr>
              <a:lnSpc>
                <a:spcPct val="150000"/>
              </a:lnSpc>
            </a:pPr>
            <a:r>
              <a:rPr lang="ko-KR" altLang="en-US" sz="2000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</a:t>
            </a:r>
            <a:r>
              <a:rPr lang="en-US" altLang="ko-KR" sz="2000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 = </a:t>
            </a:r>
            <a:r>
              <a:rPr lang="en" altLang="ko-KR" sz="2000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informational </a:t>
            </a:r>
            <a:r>
              <a:rPr lang="ko-KR" altLang="en-US" sz="2000" i="1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en-US" altLang="ko-KR" sz="2000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5 / 7 / 10 / 20 </a:t>
            </a:r>
            <a:r>
              <a:rPr lang="ko-KR" altLang="en-US" sz="2000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단위로 구분</a:t>
            </a:r>
            <a:r>
              <a:rPr lang="en-US" altLang="ko-KR" sz="2000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631C486-2D9F-9979-A064-FCA65EDF5BB5}"/>
              </a:ext>
            </a:extLst>
          </p:cNvPr>
          <p:cNvSpPr/>
          <p:nvPr/>
        </p:nvSpPr>
        <p:spPr>
          <a:xfrm>
            <a:off x="16840200" y="8531697"/>
            <a:ext cx="2667000" cy="990600"/>
          </a:xfrm>
          <a:prstGeom prst="roundRect">
            <a:avLst>
              <a:gd name="adj" fmla="val 6209"/>
            </a:avLst>
          </a:prstGeom>
          <a:noFill/>
          <a:ln w="31750">
            <a:solidFill>
              <a:schemeClr val="accent2">
                <a:lumMod val="75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3528C6-A019-EB52-CCDB-97179C47D1C6}"/>
              </a:ext>
            </a:extLst>
          </p:cNvPr>
          <p:cNvSpPr txBox="1"/>
          <p:nvPr/>
        </p:nvSpPr>
        <p:spPr>
          <a:xfrm>
            <a:off x="19402425" y="8958514"/>
            <a:ext cx="236220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ctr">
              <a:lnSpc>
                <a:spcPct val="112050"/>
              </a:lnSpc>
            </a:pPr>
            <a:r>
              <a:rPr lang="ko-KR" altLang="en-US" sz="24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고난이도 </a:t>
            </a:r>
            <a:r>
              <a:rPr lang="ko-KR" altLang="en-US" sz="2400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오퍼</a:t>
            </a:r>
            <a:endParaRPr lang="en-US" sz="24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F88250A0-E3AB-B086-BED2-9E3CA1306467}"/>
              </a:ext>
            </a:extLst>
          </p:cNvPr>
          <p:cNvSpPr/>
          <p:nvPr/>
        </p:nvSpPr>
        <p:spPr>
          <a:xfrm>
            <a:off x="9296400" y="4132118"/>
            <a:ext cx="990600" cy="1811482"/>
          </a:xfrm>
          <a:prstGeom prst="roundRect">
            <a:avLst>
              <a:gd name="adj" fmla="val 6209"/>
            </a:avLst>
          </a:prstGeom>
          <a:noFill/>
          <a:ln w="31750">
            <a:solidFill>
              <a:schemeClr val="accent2">
                <a:lumMod val="75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AE71C5-669B-CE26-3EC3-2D4100DA387C}"/>
              </a:ext>
            </a:extLst>
          </p:cNvPr>
          <p:cNvSpPr txBox="1"/>
          <p:nvPr/>
        </p:nvSpPr>
        <p:spPr>
          <a:xfrm>
            <a:off x="8576754" y="3352800"/>
            <a:ext cx="1900746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 algn="ctr">
              <a:lnSpc>
                <a:spcPct val="112050"/>
              </a:lnSpc>
            </a:pPr>
            <a:r>
              <a:rPr lang="ko-KR" altLang="en-US" sz="24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저소득 그룹</a:t>
            </a:r>
            <a:endParaRPr lang="en-US" sz="24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2146297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79057-9A93-8402-B32E-88664F09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2B952CB-B026-3AB7-FD25-FB3C1D977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CBBC1C2C-34F7-97A3-C797-EA1B223F52C8}"/>
              </a:ext>
            </a:extLst>
          </p:cNvPr>
          <p:cNvSpPr/>
          <p:nvPr/>
        </p:nvSpPr>
        <p:spPr>
          <a:xfrm>
            <a:off x="7848600" y="2667000"/>
            <a:ext cx="15544800" cy="6745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A5358F94-7560-8AFA-D265-49FCBACF3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AA156AAF-1649-4168-77BD-C19FAE01D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9666447"/>
            <a:ext cx="15544800" cy="3719354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6D56E6BC-73D4-5F41-4071-5ACC7AD6DDF2}"/>
              </a:ext>
            </a:extLst>
          </p:cNvPr>
          <p:cNvSpPr txBox="1"/>
          <p:nvPr/>
        </p:nvSpPr>
        <p:spPr>
          <a:xfrm>
            <a:off x="8234226" y="9843650"/>
            <a:ext cx="15121074" cy="33389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 고객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동일한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조건에서도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고객 대비 현저히 높은 </a:t>
            </a:r>
            <a:r>
              <a:rPr lang="ko-KR" altLang="en-US" sz="240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이탈률을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보임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특히 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Mid / Long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기간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오퍼에서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신규 고객의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이탈률이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50%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이상으로 유지됨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 여부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×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지속 기간에 따른 이탈 분포는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카이제곱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검정 결과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유의한 차이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확인됨 </a:t>
            </a:r>
            <a:r>
              <a:rPr lang="en-US" altLang="ko-KR" sz="2400" i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l-GR" altLang="ko-KR" sz="2000" i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χ² = 714.3, </a:t>
            </a:r>
            <a:r>
              <a:rPr lang="en" altLang="ko-KR" sz="2000" i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 &lt; 0.001</a:t>
            </a:r>
            <a:r>
              <a:rPr lang="en-US" altLang="ko-KR" sz="2000" i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2000" i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i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dof</a:t>
            </a:r>
            <a:r>
              <a:rPr lang="en-US" altLang="ko-KR" sz="2000" i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=1</a:t>
            </a:r>
            <a:r>
              <a:rPr lang="en" altLang="ko-KR" sz="2000" i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endParaRPr lang="en" altLang="ko-KR" sz="2000" i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이는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보상이나 난이도 문제가 아니라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행동을 지속해야 하는 기간 요구가 신규 고객에게 구조적 진입 장벽으로 작용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함을 의미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 고객에게는 장기 목표형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오퍼보다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빠른 성공 경험 중심의 단기 설계가 더 적합함을 시사 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1BEDC0C-2DEC-699A-FA9D-BD603CA69B06}"/>
              </a:ext>
            </a:extLst>
          </p:cNvPr>
          <p:cNvSpPr txBox="1"/>
          <p:nvPr/>
        </p:nvSpPr>
        <p:spPr>
          <a:xfrm>
            <a:off x="21107400" y="330200"/>
            <a:ext cx="2768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sz="2400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0</a:t>
            </a:r>
            <a:r>
              <a:rPr lang="en-US" altLang="ko-KR" sz="2400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7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8F48A10-1AF5-9B69-3552-74B2B3420FCC}"/>
              </a:ext>
            </a:extLst>
          </p:cNvPr>
          <p:cNvSpPr txBox="1"/>
          <p:nvPr/>
        </p:nvSpPr>
        <p:spPr>
          <a:xfrm>
            <a:off x="596900" y="4686300"/>
            <a:ext cx="5651500" cy="1422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12050"/>
              </a:lnSpc>
            </a:pP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실패 세그먼트</a:t>
            </a: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r>
              <a:rPr lang="en-US" altLang="ko-KR" sz="48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2.</a:t>
            </a:r>
            <a:r>
              <a:rPr lang="ko-KR" altLang="en-US" sz="48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4800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r>
              <a:rPr lang="ko-KR" altLang="en-US" sz="48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신규가입자 </a:t>
            </a:r>
            <a:r>
              <a:rPr lang="en-US" altLang="ko-KR" sz="48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x </a:t>
            </a:r>
            <a:r>
              <a:rPr lang="ko-KR" altLang="en-US" sz="48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장기 </a:t>
            </a:r>
            <a:r>
              <a:rPr lang="ko-KR" altLang="en-US" sz="4800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오퍼</a:t>
            </a:r>
            <a:endParaRPr lang="en-US" sz="48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28062F9-6F9D-5E55-8A5B-EB8ECAAF1078}"/>
              </a:ext>
            </a:extLst>
          </p:cNvPr>
          <p:cNvSpPr txBox="1"/>
          <p:nvPr/>
        </p:nvSpPr>
        <p:spPr>
          <a:xfrm>
            <a:off x="596900" y="2273300"/>
            <a:ext cx="16129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0</a:t>
            </a:r>
            <a:r>
              <a:rPr lang="en-US" altLang="ko-KR" sz="6666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7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38DF298C-E2C4-9D23-AF0E-E961D7634147}"/>
              </a:ext>
            </a:extLst>
          </p:cNvPr>
          <p:cNvSpPr txBox="1"/>
          <p:nvPr/>
        </p:nvSpPr>
        <p:spPr>
          <a:xfrm>
            <a:off x="596900" y="7626350"/>
            <a:ext cx="5816600" cy="22860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 Customer </a:t>
            </a:r>
            <a:r>
              <a:rPr lang="en-US" sz="3466" dirty="0" err="1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Join_year</a:t>
            </a: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</a:t>
            </a:r>
          </a:p>
          <a:p>
            <a:pPr lvl="0" algn="l">
              <a:lnSpc>
                <a:spcPct val="112050"/>
              </a:lnSpc>
            </a:pP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✕  Offer Duration</a:t>
            </a:r>
          </a:p>
          <a:p>
            <a:pPr lvl="0" algn="l">
              <a:lnSpc>
                <a:spcPct val="112050"/>
              </a:lnSpc>
            </a:pP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9FE8A8-B85A-DC08-5CF7-2E149DFE4E28}"/>
              </a:ext>
            </a:extLst>
          </p:cNvPr>
          <p:cNvSpPr txBox="1"/>
          <p:nvPr/>
        </p:nvSpPr>
        <p:spPr>
          <a:xfrm>
            <a:off x="7920470" y="1638300"/>
            <a:ext cx="1547293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>
              <a:lnSpc>
                <a:spcPct val="112050"/>
              </a:lnSpc>
            </a:pP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서비스 이해와 행동 학습 이전 단계에서 실패가 집중됨 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886E8D30-614A-A68F-74FB-B49770A0EB57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A74B7A51-556B-F61D-EFD0-7F0BCD420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1601"/>
            <a:ext cx="211646" cy="75628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53C4D1-6F89-7CE6-D18B-012D8FBD131D}"/>
              </a:ext>
            </a:extLst>
          </p:cNvPr>
          <p:cNvSpPr txBox="1"/>
          <p:nvPr/>
        </p:nvSpPr>
        <p:spPr>
          <a:xfrm>
            <a:off x="249746" y="9551768"/>
            <a:ext cx="6235918" cy="373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 err="1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히트맵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X, Y 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구간 정의 기준 </a:t>
            </a:r>
            <a:endParaRPr lang="en-US" altLang="ko-KR" sz="2000" b="1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u"/>
            </a:pP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Customer group (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en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신규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기준 시점에서 가입 연도 가장 최근 그룹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기존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신균 고객을 제외한 나머지 </a:t>
            </a:r>
            <a:r>
              <a:rPr lang="ko-KR" altLang="en-US" sz="20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고객군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" altLang="ko-KR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u"/>
            </a:pPr>
            <a:r>
              <a:rPr lang="en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Offer Duration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000" b="1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지속 기간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" altLang="ko-KR" sz="2000" b="1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short : 1-4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Mid : 5-7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- Long : 8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이상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C86025-8C3F-F318-C8FE-8E7F9C2CE5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7300" y="2667001"/>
            <a:ext cx="10121900" cy="666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98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9EE33-8B49-7155-1FD0-F79B041D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844073C-C6EA-7C1D-BBE8-84ED3FEB4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469FA8-A90D-586A-A112-21DEB3298D0B}"/>
              </a:ext>
            </a:extLst>
          </p:cNvPr>
          <p:cNvSpPr/>
          <p:nvPr/>
        </p:nvSpPr>
        <p:spPr>
          <a:xfrm>
            <a:off x="7848600" y="2667000"/>
            <a:ext cx="15544800" cy="7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454F525F-7EF6-E3EF-B5F1-9FF167359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968D2FA-463C-A7F4-C390-F4CE0AFF9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10426171"/>
            <a:ext cx="15544800" cy="2959629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033FF971-E69E-0B27-4436-79CB7C02E9AF}"/>
              </a:ext>
            </a:extLst>
          </p:cNvPr>
          <p:cNvSpPr txBox="1"/>
          <p:nvPr/>
        </p:nvSpPr>
        <p:spPr>
          <a:xfrm>
            <a:off x="8289063" y="10536382"/>
            <a:ext cx="14663874" cy="232731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모든 코호트에서 첫 구매 직후 </a:t>
            </a:r>
            <a:r>
              <a:rPr lang="en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Week 0 → Week 1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구간에서 가장 큰 </a:t>
            </a:r>
            <a:r>
              <a:rPr lang="ko-KR" altLang="en-US" sz="240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리텐션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하락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발생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초기 코호트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(0–1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Week 1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리텐션이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80%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 유지되나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최근 코호트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(3–4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25%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수준까지 급락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이탈은 장기 사용 </a:t>
            </a:r>
            <a:r>
              <a:rPr lang="ko-KR" altLang="en-US" sz="240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문제라기보다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첫 구매 직후 형성되는 초기 경험 실패에서 구조적으로 결정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됨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코호트 분석은 ‘언제 이탈이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발생하는가’를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보여주며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 원인은 앞선 실패 세그먼트 분석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40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조건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난이도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결합해 해석 필요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77FB6FE-B503-7B02-E852-F30E699FFC4E}"/>
              </a:ext>
            </a:extLst>
          </p:cNvPr>
          <p:cNvSpPr txBox="1"/>
          <p:nvPr/>
        </p:nvSpPr>
        <p:spPr>
          <a:xfrm>
            <a:off x="21107400" y="330200"/>
            <a:ext cx="2768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sz="2400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0</a:t>
            </a:r>
            <a:r>
              <a:rPr lang="en-US" altLang="ko-KR" sz="2400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8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9CB7E12-A0E9-793B-6B40-D3BB9E5AFD2D}"/>
              </a:ext>
            </a:extLst>
          </p:cNvPr>
          <p:cNvSpPr txBox="1"/>
          <p:nvPr/>
        </p:nvSpPr>
        <p:spPr>
          <a:xfrm>
            <a:off x="596900" y="4686300"/>
            <a:ext cx="5651500" cy="1422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12050"/>
              </a:lnSpc>
            </a:pP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코호트 </a:t>
            </a:r>
            <a:endParaRPr lang="en-US" altLang="ko-KR" sz="8000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r>
              <a:rPr lang="ko-KR" altLang="en-US" sz="8000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리텐션</a:t>
            </a: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분석</a:t>
            </a: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4800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endParaRPr lang="en-US" sz="48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4D2ED11-D219-C58B-FC01-38F376F0D71C}"/>
              </a:ext>
            </a:extLst>
          </p:cNvPr>
          <p:cNvSpPr txBox="1"/>
          <p:nvPr/>
        </p:nvSpPr>
        <p:spPr>
          <a:xfrm>
            <a:off x="596900" y="2273300"/>
            <a:ext cx="16129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0</a:t>
            </a:r>
            <a:r>
              <a:rPr lang="en-US" altLang="ko-KR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8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245E3E44-969C-443B-D0FD-B7A7617E3B62}"/>
              </a:ext>
            </a:extLst>
          </p:cNvPr>
          <p:cNvSpPr txBox="1"/>
          <p:nvPr/>
        </p:nvSpPr>
        <p:spPr>
          <a:xfrm>
            <a:off x="647700" y="7442166"/>
            <a:ext cx="5816600" cy="14224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 C</a:t>
            </a: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ohort Retention</a:t>
            </a: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3F172F-E34B-D2FD-4305-E0ABF3F7C6AF}"/>
              </a:ext>
            </a:extLst>
          </p:cNvPr>
          <p:cNvSpPr txBox="1"/>
          <p:nvPr/>
        </p:nvSpPr>
        <p:spPr>
          <a:xfrm>
            <a:off x="7920470" y="1638300"/>
            <a:ext cx="1547293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>
              <a:lnSpc>
                <a:spcPct val="112050"/>
              </a:lnSpc>
            </a:pP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초기 구매 직후 경험 실패가 장기 </a:t>
            </a:r>
            <a:r>
              <a:rPr lang="ko-KR" altLang="en-US" sz="3733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리텐션을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결정 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04EB81EE-3DB7-E454-DE4F-00971D0CDC33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162FB63-374C-6272-1E8F-CA817B00B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1601"/>
            <a:ext cx="211646" cy="75628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E2E1B2-AEB7-C51E-FA3C-2222AE1EDDB9}"/>
              </a:ext>
            </a:extLst>
          </p:cNvPr>
          <p:cNvSpPr txBox="1"/>
          <p:nvPr/>
        </p:nvSpPr>
        <p:spPr>
          <a:xfrm>
            <a:off x="228382" y="9193202"/>
            <a:ext cx="6235918" cy="4194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Cohort 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Retention 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  </a:t>
            </a:r>
            <a:endParaRPr lang="en-US" altLang="ko-KR" sz="2000" b="1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u"/>
            </a:pP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코호트 기준 시점 </a:t>
            </a:r>
            <a:r>
              <a:rPr lang="en" altLang="ko-KR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고객의 첫 구매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또는 첫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transaction)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발생 주 </a:t>
            </a:r>
            <a:endParaRPr lang="en" altLang="ko-KR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u"/>
            </a:pP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코호트 단위</a:t>
            </a:r>
            <a:endParaRPr lang="en" altLang="ko-KR" sz="2000" b="1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en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-US" altLang="ko-KR" sz="2000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first_transaction_week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u"/>
            </a:pPr>
            <a:r>
              <a:rPr lang="ko-KR" altLang="en-US" sz="2000" b="1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리텐션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정의</a:t>
            </a:r>
            <a:endParaRPr lang="en-US" altLang="ko-KR" sz="2000" b="1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특정 주차에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이상 구매 발생 여부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u"/>
            </a:pPr>
            <a:r>
              <a:rPr lang="ko-KR" altLang="en-US" sz="2000" b="1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리텐션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값 </a:t>
            </a:r>
            <a:endParaRPr lang="en-US" altLang="ko-KR" sz="2000" b="1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첫 구매 이후 주차별 구매 유지 비율</a:t>
            </a:r>
            <a:endParaRPr lang="en" altLang="ko-KR" sz="200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8226ED-31CE-71E2-24E6-E924A8A277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868" y="2837712"/>
            <a:ext cx="11277600" cy="73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4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A99A-1AAC-9FBF-F202-EF2C8EECB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E67E863-0B8F-F73A-BD6F-ABE27F2CC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A2A8B0-FC3C-045A-9C6D-1C3BB8EE5C1B}"/>
              </a:ext>
            </a:extLst>
          </p:cNvPr>
          <p:cNvSpPr/>
          <p:nvPr/>
        </p:nvSpPr>
        <p:spPr>
          <a:xfrm>
            <a:off x="7848600" y="2667000"/>
            <a:ext cx="15544800" cy="7197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6F0B88AE-85FE-6622-1378-90DF1B433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620C6B1-9FA6-4856-C094-E9349C650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10100667"/>
            <a:ext cx="15544800" cy="3285134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D4367264-F366-4B5F-4863-356EE068A725}"/>
              </a:ext>
            </a:extLst>
          </p:cNvPr>
          <p:cNvSpPr txBox="1"/>
          <p:nvPr/>
        </p:nvSpPr>
        <p:spPr>
          <a:xfrm>
            <a:off x="8272326" y="10372683"/>
            <a:ext cx="15121074" cy="232731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RFM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결과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가치는 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Low / Mid / High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명확히 분리되는 비대칭 구조를 보임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고객의 약 절반은 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Mid Value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전환 가능성과 이탈 위험이 공존하는 전략적 구간임을 시사함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High Value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고객은 소수지만 매출 기여도가 높아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실패의 사업적 영향이 상대적으로 큼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따라서 이후 분석에서는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가치를 직접 비교하기보다 이미 확인된 실패 조건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소득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40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구조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어떤 고객군에서 이탈로 이어지는지를 예측하는 방향이 필요함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DAF8897-C5E9-FDEF-AD33-BD9C2FA53F9A}"/>
              </a:ext>
            </a:extLst>
          </p:cNvPr>
          <p:cNvSpPr txBox="1"/>
          <p:nvPr/>
        </p:nvSpPr>
        <p:spPr>
          <a:xfrm>
            <a:off x="21107400" y="330200"/>
            <a:ext cx="2768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sz="2400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0</a:t>
            </a:r>
            <a:r>
              <a:rPr lang="en-US" altLang="ko-KR" sz="2400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9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C2E353B-C74F-FD28-4E0B-9D38AD2FADCA}"/>
              </a:ext>
            </a:extLst>
          </p:cNvPr>
          <p:cNvSpPr txBox="1"/>
          <p:nvPr/>
        </p:nvSpPr>
        <p:spPr>
          <a:xfrm>
            <a:off x="596900" y="4686300"/>
            <a:ext cx="5816600" cy="1422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altLang="ko-KR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RFM </a:t>
            </a: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기반 </a:t>
            </a:r>
            <a:endParaRPr lang="en-US" altLang="ko-KR" sz="8000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고객 가치 분포</a:t>
            </a:r>
            <a:endParaRPr lang="en-US" altLang="ko-KR" sz="4800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12050"/>
              </a:lnSpc>
            </a:pPr>
            <a:endParaRPr lang="en-US" sz="48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76324C3-0FC9-6740-41FC-BD48B6FC5B91}"/>
              </a:ext>
            </a:extLst>
          </p:cNvPr>
          <p:cNvSpPr txBox="1"/>
          <p:nvPr/>
        </p:nvSpPr>
        <p:spPr>
          <a:xfrm>
            <a:off x="596900" y="2273300"/>
            <a:ext cx="16129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0</a:t>
            </a:r>
            <a:r>
              <a:rPr lang="en-US" altLang="ko-KR" sz="6666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9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5975ECC0-5C5C-25C1-66B7-F330E2E3FBBC}"/>
              </a:ext>
            </a:extLst>
          </p:cNvPr>
          <p:cNvSpPr txBox="1"/>
          <p:nvPr/>
        </p:nvSpPr>
        <p:spPr>
          <a:xfrm>
            <a:off x="596900" y="7392100"/>
            <a:ext cx="5816600" cy="22860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 </a:t>
            </a: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RFM analysis</a:t>
            </a: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</a:t>
            </a:r>
            <a:endParaRPr lang="en-US" sz="3466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  <a:p>
            <a:pPr lvl="0" algn="l">
              <a:lnSpc>
                <a:spcPct val="112050"/>
              </a:lnSpc>
            </a:pP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3AAFA-9B1C-15F2-ECC0-1C5013752AAB}"/>
              </a:ext>
            </a:extLst>
          </p:cNvPr>
          <p:cNvSpPr txBox="1"/>
          <p:nvPr/>
        </p:nvSpPr>
        <p:spPr>
          <a:xfrm>
            <a:off x="7920470" y="1638300"/>
            <a:ext cx="1547293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>
              <a:lnSpc>
                <a:spcPct val="112050"/>
              </a:lnSpc>
            </a:pP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고객 가치는 균등하지 않으며</a:t>
            </a:r>
            <a:r>
              <a:rPr lang="en-US" altLang="ko-KR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,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ko-KR" altLang="en-US" sz="3733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오퍼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실패는 </a:t>
            </a:r>
            <a:r>
              <a:rPr lang="ko-KR" altLang="en-US" sz="3733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기준축이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필요함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C9F03849-06A9-8498-FDEE-6AE8F00E1B42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B0E0D10B-971A-9494-3F72-266598DE4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1601"/>
            <a:ext cx="211646" cy="75628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F4F0B8-AB96-154F-0B94-8181055A460F}"/>
              </a:ext>
            </a:extLst>
          </p:cNvPr>
          <p:cNvSpPr txBox="1"/>
          <p:nvPr/>
        </p:nvSpPr>
        <p:spPr>
          <a:xfrm>
            <a:off x="277164" y="9140214"/>
            <a:ext cx="6235918" cy="424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RFM 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세그먼트 정의 기준 </a:t>
            </a:r>
            <a:endParaRPr lang="en-US" altLang="ko-KR" sz="2000" b="1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Recency (R)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마지막 구매 이후 경과 시간 </a:t>
            </a:r>
            <a:endParaRPr lang="en-US" altLang="ko-KR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Frequency (F)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고객별 누적 구매 횟수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Monetary (M)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고객별 누적 구매 금액</a:t>
            </a:r>
          </a:p>
          <a:p>
            <a:pPr>
              <a:lnSpc>
                <a:spcPct val="150000"/>
              </a:lnSpc>
            </a:pP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점수화 방식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 왜곡 고려해 각 지표를 </a:t>
            </a:r>
            <a:r>
              <a:rPr lang="ko-KR" altLang="en-US" dirty="0" err="1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분위수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Quantile)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점수화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Recency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역순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Frequency/Monetary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정순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세그먼트 구분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RFM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점수 합산 후 → 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High / Mid / Low Value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분류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B1B9D8-F51D-FE8B-05E4-31444A901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03263" y="3089566"/>
            <a:ext cx="6895549" cy="67748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C3B310D-B3CA-E0F8-87F5-8374962DB6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866" y="3352800"/>
            <a:ext cx="7595333" cy="632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32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1600"/>
            <a:ext cx="190500" cy="87122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3393400" y="317500"/>
            <a:ext cx="482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altLang="ko-KR" sz="2400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10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96900" y="7416800"/>
            <a:ext cx="6108700" cy="13462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96900" y="4686300"/>
            <a:ext cx="5651500" cy="26924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이탈 </a:t>
            </a:r>
            <a:endParaRPr lang="en-US" altLang="ko-KR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03749"/>
              </a:lnSpc>
            </a:pP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예측 모델 </a:t>
            </a:r>
            <a:endParaRPr lang="en-US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96900" y="2273300"/>
            <a:ext cx="21844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altLang="ko-KR" sz="6666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10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A4D4BC75-1050-E170-8017-BB3825153346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499664-B8AD-F8E7-C622-CEF37306023C}"/>
              </a:ext>
            </a:extLst>
          </p:cNvPr>
          <p:cNvSpPr txBox="1"/>
          <p:nvPr/>
        </p:nvSpPr>
        <p:spPr>
          <a:xfrm>
            <a:off x="7920470" y="1638300"/>
            <a:ext cx="1547293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>
              <a:lnSpc>
                <a:spcPct val="112050"/>
              </a:lnSpc>
            </a:pP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이탈 예측 모델링</a:t>
            </a:r>
            <a:r>
              <a:rPr lang="en-US" altLang="ko-KR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(Logistic Regression Model)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접근 개요 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1DB6D2-8805-BABE-8533-0DA3EDB1C875}"/>
              </a:ext>
            </a:extLst>
          </p:cNvPr>
          <p:cNvSpPr txBox="1"/>
          <p:nvPr/>
        </p:nvSpPr>
        <p:spPr>
          <a:xfrm>
            <a:off x="372756" y="9532205"/>
            <a:ext cx="6301436" cy="341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예측 문제 정의  </a:t>
            </a:r>
            <a:endParaRPr lang="en-US" altLang="ko-KR" sz="2000" b="1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분석은 </a:t>
            </a:r>
            <a:r>
              <a:rPr lang="en" altLang="ko-KR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Viewed </a:t>
            </a:r>
            <a:r>
              <a:rPr lang="ko-KR" altLang="en-US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이후 </a:t>
            </a:r>
            <a:r>
              <a:rPr lang="en" altLang="ko-KR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Completed</a:t>
            </a:r>
            <a:r>
              <a:rPr lang="ko-KR" altLang="en-US" i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이어지지 않는 이탈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이진 분류 문제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Binary Classification)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정의</a:t>
            </a: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단위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" altLang="ko-KR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person × offer</a:t>
            </a:r>
            <a:endParaRPr lang="en" altLang="ko-KR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타겟 변수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en" altLang="ko-KR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Drop-off = Viewed = True &amp; Completed = False</a:t>
            </a:r>
            <a:endParaRPr lang="en" altLang="ko-KR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" altLang="ko-KR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2" name="Picture 7">
            <a:extLst>
              <a:ext uri="{FF2B5EF4-FFF2-40B4-BE49-F238E27FC236}">
                <a16:creationId xmlns:a16="http://schemas.microsoft.com/office/drawing/2014/main" id="{911CE57B-18BB-834A-97C3-F3DBFEEAA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470" y="9084797"/>
            <a:ext cx="3352800" cy="4283054"/>
          </a:xfrm>
          <a:prstGeom prst="rect">
            <a:avLst/>
          </a:prstGeom>
        </p:spPr>
      </p:pic>
      <p:pic>
        <p:nvPicPr>
          <p:cNvPr id="43" name="Picture 8">
            <a:extLst>
              <a:ext uri="{FF2B5EF4-FFF2-40B4-BE49-F238E27FC236}">
                <a16:creationId xmlns:a16="http://schemas.microsoft.com/office/drawing/2014/main" id="{6C662220-832B-5E3F-EC6E-A45200A1A5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470" y="6007100"/>
            <a:ext cx="3365500" cy="2895600"/>
          </a:xfrm>
          <a:prstGeom prst="rect">
            <a:avLst/>
          </a:prstGeom>
        </p:spPr>
      </p:pic>
      <p:pic>
        <p:nvPicPr>
          <p:cNvPr id="44" name="Picture 9">
            <a:extLst>
              <a:ext uri="{FF2B5EF4-FFF2-40B4-BE49-F238E27FC236}">
                <a16:creationId xmlns:a16="http://schemas.microsoft.com/office/drawing/2014/main" id="{3736566E-47DB-982D-6E3F-C4AF032C91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470" y="2895600"/>
            <a:ext cx="3365500" cy="2857500"/>
          </a:xfrm>
          <a:prstGeom prst="rect">
            <a:avLst/>
          </a:prstGeom>
        </p:spPr>
      </p:pic>
      <p:pic>
        <p:nvPicPr>
          <p:cNvPr id="46" name="Picture 11">
            <a:extLst>
              <a:ext uri="{FF2B5EF4-FFF2-40B4-BE49-F238E27FC236}">
                <a16:creationId xmlns:a16="http://schemas.microsoft.com/office/drawing/2014/main" id="{FC240C36-B080-2CFA-0227-8A1FDC7E67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39970" y="9079728"/>
            <a:ext cx="12196322" cy="4283054"/>
          </a:xfrm>
          <a:prstGeom prst="rect">
            <a:avLst/>
          </a:prstGeom>
        </p:spPr>
      </p:pic>
      <p:pic>
        <p:nvPicPr>
          <p:cNvPr id="47" name="Picture 12">
            <a:extLst>
              <a:ext uri="{FF2B5EF4-FFF2-40B4-BE49-F238E27FC236}">
                <a16:creationId xmlns:a16="http://schemas.microsoft.com/office/drawing/2014/main" id="{5EE90A0C-0D1A-CD44-AE87-6E72D197D3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39970" y="6019800"/>
            <a:ext cx="12196322" cy="2882900"/>
          </a:xfrm>
          <a:prstGeom prst="rect">
            <a:avLst/>
          </a:prstGeom>
        </p:spPr>
      </p:pic>
      <p:pic>
        <p:nvPicPr>
          <p:cNvPr id="48" name="Picture 13">
            <a:extLst>
              <a:ext uri="{FF2B5EF4-FFF2-40B4-BE49-F238E27FC236}">
                <a16:creationId xmlns:a16="http://schemas.microsoft.com/office/drawing/2014/main" id="{34F0A531-49E5-3784-5692-8E8950E3D8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39970" y="2882900"/>
            <a:ext cx="12247130" cy="2882900"/>
          </a:xfrm>
          <a:prstGeom prst="rect">
            <a:avLst/>
          </a:prstGeom>
        </p:spPr>
      </p:pic>
      <p:pic>
        <p:nvPicPr>
          <p:cNvPr id="49" name="Picture 15">
            <a:extLst>
              <a:ext uri="{FF2B5EF4-FFF2-40B4-BE49-F238E27FC236}">
                <a16:creationId xmlns:a16="http://schemas.microsoft.com/office/drawing/2014/main" id="{0D9FEBFF-5A00-5B4C-0C06-445B6206F4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399999">
            <a:off x="2206280" y="8150610"/>
            <a:ext cx="10512000" cy="27380"/>
          </a:xfrm>
          <a:prstGeom prst="rect">
            <a:avLst/>
          </a:prstGeom>
        </p:spPr>
      </p:pic>
      <p:sp>
        <p:nvSpPr>
          <p:cNvPr id="52" name="TextBox 18">
            <a:extLst>
              <a:ext uri="{FF2B5EF4-FFF2-40B4-BE49-F238E27FC236}">
                <a16:creationId xmlns:a16="http://schemas.microsoft.com/office/drawing/2014/main" id="{69DA440B-3EDB-ABD6-5080-9EEE3212E0BB}"/>
              </a:ext>
            </a:extLst>
          </p:cNvPr>
          <p:cNvSpPr txBox="1"/>
          <p:nvPr/>
        </p:nvSpPr>
        <p:spPr>
          <a:xfrm>
            <a:off x="11929894" y="9258218"/>
            <a:ext cx="11783572" cy="463481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분석 대상 정의 </a:t>
            </a:r>
            <a:r>
              <a:rPr lang="en-US" altLang="ko-KR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:</a:t>
            </a:r>
            <a:r>
              <a:rPr lang="ko-KR" altLang="en-US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Viewed </a:t>
            </a:r>
            <a:r>
              <a:rPr lang="ko-KR" altLang="en-US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이후 행동 발생 고객</a:t>
            </a:r>
            <a:endParaRPr lang="en-US" altLang="ko-KR" sz="2666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구조적 왜곡 제거 </a:t>
            </a:r>
            <a:r>
              <a:rPr lang="en-US" altLang="ko-KR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:</a:t>
            </a:r>
            <a:r>
              <a:rPr lang="ko-KR" altLang="en-US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Informational </a:t>
            </a:r>
            <a:r>
              <a:rPr lang="ko-KR" altLang="en-US" sz="2666" dirty="0" err="1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오퍼</a:t>
            </a:r>
            <a:r>
              <a:rPr lang="ko-KR" altLang="en-US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 제외</a:t>
            </a:r>
            <a:endParaRPr lang="en-US" altLang="ko-KR" sz="2666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데이터 분할 </a:t>
            </a:r>
            <a:r>
              <a:rPr lang="en-US" altLang="ko-KR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:</a:t>
            </a:r>
            <a:r>
              <a:rPr lang="ko-KR" altLang="en-US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Train / Test </a:t>
            </a:r>
          </a:p>
          <a:p>
            <a:pPr marL="342900" lvl="1" indent="-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클래스 분포 점검 결과 심각한 불균형 없음  </a:t>
            </a:r>
            <a:r>
              <a:rPr lang="en-US" altLang="ko-KR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lang="ko-KR" altLang="en-US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이탈 비율 </a:t>
            </a:r>
            <a:r>
              <a:rPr lang="ko-KR" altLang="en-US" sz="2800" dirty="0"/>
              <a:t>≈ </a:t>
            </a:r>
            <a:r>
              <a:rPr lang="en-US" altLang="ko-KR" sz="2800" dirty="0"/>
              <a:t>50%)</a:t>
            </a:r>
          </a:p>
          <a:p>
            <a:pPr marL="342900" lvl="1" indent="-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7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연속 변수는 분포 왜곡을 고려해 구간화 또는 비율 변수로 변환</a:t>
            </a:r>
            <a:endParaRPr lang="en-US" altLang="ko-KR" sz="2670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성능 평가지표 </a:t>
            </a:r>
            <a:r>
              <a:rPr lang="en-US" altLang="ko-KR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:</a:t>
            </a:r>
            <a:r>
              <a:rPr lang="ko-KR" altLang="en-US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ROC-AUC </a:t>
            </a:r>
            <a:r>
              <a:rPr lang="ko-KR" altLang="en-US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중심 평가</a:t>
            </a:r>
            <a:endParaRPr lang="en-US" altLang="ko-KR" sz="2666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en-US" altLang="ko-KR" sz="2666" dirty="0">
                <a:solidFill>
                  <a:srgbClr val="1E735A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</a:t>
            </a:r>
            <a:r>
              <a:rPr lang="ko-KR" altLang="en-US" sz="2666" dirty="0">
                <a:solidFill>
                  <a:srgbClr val="1E735A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 앞선 </a:t>
            </a:r>
            <a:r>
              <a:rPr lang="ko-KR" altLang="en-US" sz="2666" dirty="0" err="1">
                <a:solidFill>
                  <a:srgbClr val="1E735A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퍼널</a:t>
            </a:r>
            <a:r>
              <a:rPr lang="en-US" altLang="ko-KR" sz="2666" dirty="0">
                <a:solidFill>
                  <a:srgbClr val="1E735A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,</a:t>
            </a:r>
            <a:r>
              <a:rPr lang="ko-KR" altLang="en-US" sz="2666" dirty="0">
                <a:solidFill>
                  <a:srgbClr val="1E735A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세그먼트 분석 결과를 예측 가능한 구조로 확장</a:t>
            </a:r>
            <a:r>
              <a:rPr lang="ko-KR" altLang="en-US" sz="2666" dirty="0">
                <a:solidFill>
                  <a:srgbClr val="1E735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endParaRPr lang="en-US" sz="2666" b="0" i="0" u="none" strike="noStrike" dirty="0">
              <a:solidFill>
                <a:srgbClr val="1E735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3" name="TextBox 19">
            <a:extLst>
              <a:ext uri="{FF2B5EF4-FFF2-40B4-BE49-F238E27FC236}">
                <a16:creationId xmlns:a16="http://schemas.microsoft.com/office/drawing/2014/main" id="{7BA7F1BD-69CC-B93B-BDA5-2972ADA67DCC}"/>
              </a:ext>
            </a:extLst>
          </p:cNvPr>
          <p:cNvSpPr txBox="1"/>
          <p:nvPr/>
        </p:nvSpPr>
        <p:spPr>
          <a:xfrm>
            <a:off x="7792929" y="9406733"/>
            <a:ext cx="3467100" cy="835073"/>
          </a:xfrm>
          <a:prstGeom prst="rect">
            <a:avLst/>
          </a:prstGeom>
        </p:spPr>
        <p:txBody>
          <a:bodyPr lIns="0" tIns="10583" rIns="0" bIns="10583" rtlCol="0" anchor="ctr"/>
          <a:lstStyle/>
          <a:p>
            <a:pPr lvl="0" algn="ctr">
              <a:lnSpc>
                <a:spcPct val="112050"/>
              </a:lnSpc>
            </a:pPr>
            <a:r>
              <a:rPr lang="ko-KR" altLang="en-US" sz="333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모델링 흐름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54" name="TextBox 20">
            <a:extLst>
              <a:ext uri="{FF2B5EF4-FFF2-40B4-BE49-F238E27FC236}">
                <a16:creationId xmlns:a16="http://schemas.microsoft.com/office/drawing/2014/main" id="{67D26006-47E1-3F87-D95E-9336D1DAD071}"/>
              </a:ext>
            </a:extLst>
          </p:cNvPr>
          <p:cNvSpPr txBox="1"/>
          <p:nvPr/>
        </p:nvSpPr>
        <p:spPr>
          <a:xfrm>
            <a:off x="11944350" y="6256482"/>
            <a:ext cx="2379230" cy="235411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고객 속성</a:t>
            </a:r>
            <a:endParaRPr lang="en-US" altLang="ko-KR" sz="2666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  <a:p>
            <a:pPr lvl="1" indent="-457200" algn="l">
              <a:lnSpc>
                <a:spcPct val="1411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2A6246"/>
                </a:solidFill>
                <a:latin typeface="Pretendard Medium"/>
                <a:ea typeface="Pretendard Medium"/>
                <a:cs typeface="Pretendard Medium"/>
              </a:rPr>
              <a:t>신규 여부</a:t>
            </a:r>
            <a:endParaRPr lang="en-US" altLang="ko-KR" sz="2000" dirty="0">
              <a:solidFill>
                <a:srgbClr val="2A6246"/>
              </a:solidFill>
              <a:latin typeface="Pretendard Medium"/>
              <a:ea typeface="Pretendard Medium"/>
              <a:cs typeface="Pretendard Medium"/>
            </a:endParaRPr>
          </a:p>
          <a:p>
            <a:pPr lvl="1" indent="-457200" algn="l">
              <a:lnSpc>
                <a:spcPct val="1411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2000" b="0" i="0" u="none" strike="noStrike" dirty="0">
                <a:solidFill>
                  <a:srgbClr val="2A6246"/>
                </a:solidFill>
                <a:latin typeface="Pretendard Medium"/>
                <a:ea typeface="Pretendard Medium"/>
                <a:cs typeface="Pretendard Medium"/>
              </a:rPr>
              <a:t>소득구간</a:t>
            </a:r>
            <a:endParaRPr lang="en-US" altLang="ko-KR" sz="2000" b="0" i="0" u="none" strike="noStrike" dirty="0">
              <a:solidFill>
                <a:srgbClr val="2A6246"/>
              </a:solidFill>
              <a:latin typeface="Pretendard Medium"/>
              <a:ea typeface="Pretendard Medium"/>
              <a:cs typeface="Pretendard Medium"/>
            </a:endParaRPr>
          </a:p>
          <a:p>
            <a:pPr lvl="1" indent="-457200" algn="l">
              <a:lnSpc>
                <a:spcPct val="1411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2A6246"/>
                </a:solidFill>
                <a:latin typeface="Pretendard Medium"/>
                <a:ea typeface="Pretendard Medium"/>
                <a:cs typeface="Pretendard Medium"/>
              </a:rPr>
              <a:t>가입 시점</a:t>
            </a:r>
            <a:endParaRPr lang="en-US" altLang="ko-KR" sz="2000" dirty="0">
              <a:solidFill>
                <a:srgbClr val="2A6246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5" name="TextBox 21">
            <a:extLst>
              <a:ext uri="{FF2B5EF4-FFF2-40B4-BE49-F238E27FC236}">
                <a16:creationId xmlns:a16="http://schemas.microsoft.com/office/drawing/2014/main" id="{CFF8CB06-F52B-3919-E61A-4D2359B1885C}"/>
              </a:ext>
            </a:extLst>
          </p:cNvPr>
          <p:cNvSpPr txBox="1"/>
          <p:nvPr/>
        </p:nvSpPr>
        <p:spPr>
          <a:xfrm>
            <a:off x="7814836" y="6446982"/>
            <a:ext cx="3467100" cy="596900"/>
          </a:xfrm>
          <a:prstGeom prst="rect">
            <a:avLst/>
          </a:prstGeom>
        </p:spPr>
        <p:txBody>
          <a:bodyPr lIns="0" tIns="10583" rIns="0" bIns="10583" rtlCol="0" anchor="ctr"/>
          <a:lstStyle/>
          <a:p>
            <a:pPr lvl="0" algn="ctr">
              <a:lnSpc>
                <a:spcPct val="112050"/>
              </a:lnSpc>
            </a:pPr>
            <a:r>
              <a:rPr lang="ko-KR" altLang="en-US" sz="3333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모델 입력 변수</a:t>
            </a:r>
            <a:endParaRPr lang="en-US" sz="3333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6" name="TextBox 22">
            <a:extLst>
              <a:ext uri="{FF2B5EF4-FFF2-40B4-BE49-F238E27FC236}">
                <a16:creationId xmlns:a16="http://schemas.microsoft.com/office/drawing/2014/main" id="{7EB717D2-4133-E3ED-E72C-0647B0703910}"/>
              </a:ext>
            </a:extLst>
          </p:cNvPr>
          <p:cNvSpPr txBox="1"/>
          <p:nvPr/>
        </p:nvSpPr>
        <p:spPr>
          <a:xfrm>
            <a:off x="11933670" y="3187700"/>
            <a:ext cx="10773930" cy="162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목적이 정확한 예측보다 이탈의 구조적 원인 해석에 있음</a:t>
            </a:r>
            <a:endParaRPr lang="en-US" sz="2666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66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계수 방향성과 크기를 통해 각 변수의 이탈 기여 방향을 명확히 해석 가능함</a:t>
            </a:r>
            <a:endParaRPr lang="en-US" altLang="ko-KR" sz="2666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SHAP</a:t>
            </a:r>
            <a:r>
              <a:rPr lang="ko-KR" altLang="en-US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과 결합하여 세그먼트별 실패 요인 비교 분석이 용이</a:t>
            </a:r>
            <a:endParaRPr lang="en-US" altLang="ko-KR" sz="2666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en-US" altLang="ko-KR" sz="2666" dirty="0">
                <a:solidFill>
                  <a:srgbClr val="2A6246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</a:t>
            </a:r>
            <a:r>
              <a:rPr lang="ko-KR" altLang="en-US" sz="2666" dirty="0">
                <a:solidFill>
                  <a:srgbClr val="2A6246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 본 모델은 예측 성능과 해석 가능성의 균형을 고려해 선택함</a:t>
            </a:r>
            <a:endParaRPr lang="en-US" sz="2666" b="0" i="0" u="none" strike="noStrike" dirty="0">
              <a:solidFill>
                <a:srgbClr val="2A6246"/>
              </a:solidFill>
              <a:latin typeface="Pretendard Medium"/>
              <a:ea typeface="Pretendard Medium"/>
              <a:cs typeface="Pretendard Medium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endParaRPr lang="en-US" sz="2666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7" name="TextBox 23">
            <a:extLst>
              <a:ext uri="{FF2B5EF4-FFF2-40B4-BE49-F238E27FC236}">
                <a16:creationId xmlns:a16="http://schemas.microsoft.com/office/drawing/2014/main" id="{DA859AC7-B47B-4219-04EB-A4FFBF2DED09}"/>
              </a:ext>
            </a:extLst>
          </p:cNvPr>
          <p:cNvSpPr txBox="1"/>
          <p:nvPr/>
        </p:nvSpPr>
        <p:spPr>
          <a:xfrm>
            <a:off x="7863320" y="3251200"/>
            <a:ext cx="3467100" cy="596900"/>
          </a:xfrm>
          <a:prstGeom prst="rect">
            <a:avLst/>
          </a:prstGeom>
        </p:spPr>
        <p:txBody>
          <a:bodyPr lIns="0" tIns="10583" rIns="0" bIns="10583" rtlCol="0" anchor="ctr"/>
          <a:lstStyle/>
          <a:p>
            <a:pPr lvl="0" algn="ctr">
              <a:lnSpc>
                <a:spcPct val="112050"/>
              </a:lnSpc>
            </a:pPr>
            <a:r>
              <a:rPr lang="ko-KR" altLang="en-US" sz="333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모델 선정 이유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8E9CC86E-9D01-45F3-830F-EDBF5A825C10}"/>
              </a:ext>
            </a:extLst>
          </p:cNvPr>
          <p:cNvSpPr txBox="1"/>
          <p:nvPr/>
        </p:nvSpPr>
        <p:spPr>
          <a:xfrm>
            <a:off x="596900" y="7392100"/>
            <a:ext cx="5816600" cy="22860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 </a:t>
            </a: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Churn prediction Model </a:t>
            </a:r>
          </a:p>
          <a:p>
            <a:pPr lvl="0" algn="l">
              <a:lnSpc>
                <a:spcPct val="112050"/>
              </a:lnSpc>
            </a:pP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61" name="TextBox 20">
            <a:extLst>
              <a:ext uri="{FF2B5EF4-FFF2-40B4-BE49-F238E27FC236}">
                <a16:creationId xmlns:a16="http://schemas.microsoft.com/office/drawing/2014/main" id="{B1E20255-E6BA-C6A6-ED3C-B82B76D4B34A}"/>
              </a:ext>
            </a:extLst>
          </p:cNvPr>
          <p:cNvSpPr txBox="1"/>
          <p:nvPr/>
        </p:nvSpPr>
        <p:spPr>
          <a:xfrm>
            <a:off x="15064220" y="6218543"/>
            <a:ext cx="4368946" cy="282831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66" dirty="0" err="1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오퍼</a:t>
            </a:r>
            <a:r>
              <a:rPr lang="ko-KR" altLang="en-US" sz="2666" b="0" i="0" u="none" strike="noStrike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 속성</a:t>
            </a:r>
            <a:endParaRPr lang="en-US" altLang="ko-KR" sz="2666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2A62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 여부난이도</a:t>
            </a:r>
            <a:r>
              <a:rPr lang="en-US" altLang="ko-KR" sz="2000" dirty="0">
                <a:solidFill>
                  <a:srgbClr val="2A62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000" dirty="0">
                <a:solidFill>
                  <a:srgbClr val="2A62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difficulty)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2A62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기간</a:t>
            </a:r>
            <a:r>
              <a:rPr lang="en-US" altLang="ko-KR" sz="2000" dirty="0">
                <a:solidFill>
                  <a:srgbClr val="2A62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000" dirty="0">
                <a:solidFill>
                  <a:srgbClr val="2A62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duration)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2A62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보상 대비 조건</a:t>
            </a:r>
            <a:r>
              <a:rPr lang="en-US" altLang="ko-KR" sz="2000" dirty="0">
                <a:solidFill>
                  <a:srgbClr val="2A62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000" dirty="0">
                <a:solidFill>
                  <a:srgbClr val="2A62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 / difficulty)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2A62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채널 유형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5C2ACA-452A-5791-8D6D-E09B97F8285E}"/>
              </a:ext>
            </a:extLst>
          </p:cNvPr>
          <p:cNvSpPr txBox="1"/>
          <p:nvPr/>
        </p:nvSpPr>
        <p:spPr>
          <a:xfrm>
            <a:off x="18611855" y="6289582"/>
            <a:ext cx="4933946" cy="1612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Wingdings" pitchFamily="2" charset="2"/>
              <a:buChar char="à"/>
            </a:pPr>
            <a:r>
              <a:rPr lang="ko-KR" altLang="en-US" dirty="0">
                <a:solidFill>
                  <a:srgbClr val="1E735A"/>
                </a:solidFill>
                <a:highlight>
                  <a:srgbClr val="FFFF00"/>
                </a:highlight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앞서 확인한 실패 세그먼트 </a:t>
            </a:r>
            <a:r>
              <a:rPr lang="en-US" altLang="ko-KR" dirty="0">
                <a:solidFill>
                  <a:srgbClr val="1E735A"/>
                </a:solidFill>
                <a:highlight>
                  <a:srgbClr val="FFFF00"/>
                </a:highlight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1/2</a:t>
            </a:r>
            <a:r>
              <a:rPr lang="ko-KR" altLang="en-US" dirty="0">
                <a:solidFill>
                  <a:srgbClr val="1E735A"/>
                </a:solidFill>
                <a:highlight>
                  <a:srgbClr val="FFFF00"/>
                </a:highlight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에서 관찰된 고객 및 </a:t>
            </a:r>
            <a:r>
              <a:rPr lang="ko-KR" altLang="en-US" dirty="0" err="1">
                <a:solidFill>
                  <a:srgbClr val="1E735A"/>
                </a:solidFill>
                <a:highlight>
                  <a:srgbClr val="FFFF00"/>
                </a:highlight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오퍼</a:t>
            </a:r>
            <a:r>
              <a:rPr lang="ko-KR" altLang="en-US" dirty="0">
                <a:solidFill>
                  <a:srgbClr val="1E735A"/>
                </a:solidFill>
                <a:highlight>
                  <a:srgbClr val="FFFF00"/>
                </a:highlight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속성을 개별 변수로 입력하였으며</a:t>
            </a:r>
            <a:r>
              <a:rPr lang="en-US" altLang="ko-KR" dirty="0">
                <a:solidFill>
                  <a:srgbClr val="1E735A"/>
                </a:solidFill>
                <a:highlight>
                  <a:srgbClr val="FFFF00"/>
                </a:highlight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,</a:t>
            </a:r>
            <a:r>
              <a:rPr lang="ko-KR" altLang="en-US" dirty="0">
                <a:solidFill>
                  <a:srgbClr val="1E735A"/>
                </a:solidFill>
                <a:highlight>
                  <a:srgbClr val="FFFF00"/>
                </a:highlight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여러 조건이 동시 작용할 때 이탈 위험이 커지는 패턴은  </a:t>
            </a:r>
            <a:r>
              <a:rPr lang="en-US" altLang="ko-KR" dirty="0">
                <a:solidFill>
                  <a:srgbClr val="1E735A"/>
                </a:solidFill>
                <a:highlight>
                  <a:srgbClr val="FFFF00"/>
                </a:highlight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</a:t>
            </a:r>
            <a:r>
              <a:rPr lang="ko-KR" altLang="en-US" dirty="0">
                <a:solidFill>
                  <a:srgbClr val="1E735A"/>
                </a:solidFill>
                <a:highlight>
                  <a:srgbClr val="FFFF00"/>
                </a:highlight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모델 해석</a:t>
            </a:r>
            <a:r>
              <a:rPr lang="en-US" altLang="ko-KR" dirty="0">
                <a:solidFill>
                  <a:srgbClr val="1E735A"/>
                </a:solidFill>
                <a:highlight>
                  <a:srgbClr val="FFFF00"/>
                </a:highlight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(SHAP)</a:t>
            </a:r>
            <a:r>
              <a:rPr lang="ko-KR" altLang="en-US" dirty="0">
                <a:solidFill>
                  <a:srgbClr val="1E735A"/>
                </a:solidFill>
                <a:highlight>
                  <a:srgbClr val="FFFF00"/>
                </a:highlight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을 통해 확인</a:t>
            </a:r>
            <a:endParaRPr lang="en-US" altLang="ko-KR" b="0" i="0" u="none" strike="noStrike" dirty="0">
              <a:solidFill>
                <a:srgbClr val="1E735A"/>
              </a:solidFill>
              <a:highlight>
                <a:srgbClr val="FFFF00"/>
              </a:highlight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290" y="1016000"/>
            <a:ext cx="6578600" cy="12700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1600"/>
            <a:ext cx="190500" cy="8001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21107400" y="330200"/>
            <a:ext cx="2768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altLang="ko-KR" sz="2400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11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28422" y="8467468"/>
            <a:ext cx="5415177" cy="7493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M</a:t>
            </a: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odeling performance</a:t>
            </a: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96900" y="4686300"/>
            <a:ext cx="5981700" cy="26924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모델 </a:t>
            </a:r>
            <a:endParaRPr lang="en-US" altLang="ko-KR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03749"/>
              </a:lnSpc>
            </a:pP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성능 요약</a:t>
            </a:r>
            <a:endParaRPr lang="en-US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03749"/>
              </a:lnSpc>
            </a:pPr>
            <a:endParaRPr lang="en-US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96900" y="2273300"/>
            <a:ext cx="21844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altLang="ko-KR" sz="6666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11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9643E7FF-A65C-D0E2-A8D3-F73818A4FCF4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84E547-E4C2-E26E-EA6E-97595FC289D9}"/>
              </a:ext>
            </a:extLst>
          </p:cNvPr>
          <p:cNvSpPr txBox="1"/>
          <p:nvPr/>
        </p:nvSpPr>
        <p:spPr>
          <a:xfrm>
            <a:off x="7920470" y="1638300"/>
            <a:ext cx="1547293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>
              <a:lnSpc>
                <a:spcPct val="112050"/>
              </a:lnSpc>
            </a:pP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이탈 예측 모델의 신뢰성 검증 결과  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43D0F8-6E99-F4D9-190F-B4A88AB2B4B7}"/>
              </a:ext>
            </a:extLst>
          </p:cNvPr>
          <p:cNvSpPr/>
          <p:nvPr/>
        </p:nvSpPr>
        <p:spPr>
          <a:xfrm>
            <a:off x="7848600" y="2666999"/>
            <a:ext cx="15544800" cy="7208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C80F2253-F155-7B51-37A6-1696074A2F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529" y="3102943"/>
            <a:ext cx="7402687" cy="6658738"/>
          </a:xfrm>
          <a:prstGeom prst="rect">
            <a:avLst/>
          </a:prstGeom>
        </p:spPr>
      </p:pic>
      <p:pic>
        <p:nvPicPr>
          <p:cNvPr id="37" name="그림 36" descr="텍스트, 스크린샷, 영수증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7A24BE-B177-4455-EB2D-91D35ADBDD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683" y="4305470"/>
            <a:ext cx="7334250" cy="4012857"/>
          </a:xfrm>
          <a:prstGeom prst="rect">
            <a:avLst/>
          </a:prstGeom>
        </p:spPr>
      </p:pic>
      <p:pic>
        <p:nvPicPr>
          <p:cNvPr id="38" name="Picture 7">
            <a:extLst>
              <a:ext uri="{FF2B5EF4-FFF2-40B4-BE49-F238E27FC236}">
                <a16:creationId xmlns:a16="http://schemas.microsoft.com/office/drawing/2014/main" id="{3824D205-C9C6-7FBC-E2E0-E418B66B8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8600" y="10205635"/>
            <a:ext cx="15544800" cy="3180166"/>
          </a:xfrm>
          <a:prstGeom prst="rect">
            <a:avLst/>
          </a:prstGeom>
        </p:spPr>
      </p:pic>
      <p:sp>
        <p:nvSpPr>
          <p:cNvPr id="39" name="TextBox 13">
            <a:extLst>
              <a:ext uri="{FF2B5EF4-FFF2-40B4-BE49-F238E27FC236}">
                <a16:creationId xmlns:a16="http://schemas.microsoft.com/office/drawing/2014/main" id="{C2F666A8-F549-9817-7975-B15D3B6DA7AF}"/>
              </a:ext>
            </a:extLst>
          </p:cNvPr>
          <p:cNvSpPr txBox="1"/>
          <p:nvPr/>
        </p:nvSpPr>
        <p:spPr>
          <a:xfrm>
            <a:off x="8272326" y="10390124"/>
            <a:ext cx="15121074" cy="232731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en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ROC-AUC 0.84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이탈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유지 고객을 안정적으로 구분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 고객 기준 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Recall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약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68%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구조적 실패 패턴을 탐지하기에 나쁘지 않은 수준이며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Precision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또한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85%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과도한 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오탐없이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위험 고객을 선별할 수 있는 수준으로 파악됨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모델은 예측 정확도보다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 요인 해석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목적으로 설계됨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이 모델은 충분히 신뢰 가능한 수준의 성능을 확보했음을 보여주며 다음으로는 어떤 요인이 이탈을 결정했는지 해석함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62C0E-9ED8-F8C0-D282-0609B6E31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647BCDD-D727-08FA-E77B-1CE19C77C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22E28F3-7747-3C1F-BADF-E38424C37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290" y="1016000"/>
            <a:ext cx="6578600" cy="12700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0A5BC8D-A3DE-8720-1EDD-2C6CBFCF4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1600"/>
            <a:ext cx="190500" cy="8001000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5B95AE37-3AE6-F65B-DC3D-69D50B5813D9}"/>
              </a:ext>
            </a:extLst>
          </p:cNvPr>
          <p:cNvSpPr txBox="1"/>
          <p:nvPr/>
        </p:nvSpPr>
        <p:spPr>
          <a:xfrm>
            <a:off x="21107400" y="330200"/>
            <a:ext cx="27686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altLang="ko-KR" sz="2400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12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3607422-385B-B062-80C7-653811D3399C}"/>
              </a:ext>
            </a:extLst>
          </p:cNvPr>
          <p:cNvSpPr txBox="1"/>
          <p:nvPr/>
        </p:nvSpPr>
        <p:spPr>
          <a:xfrm>
            <a:off x="528422" y="8467468"/>
            <a:ext cx="5415177" cy="7493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M</a:t>
            </a: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odeling performance</a:t>
            </a: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E7B5522-D490-9394-BD5C-F8EADE07136B}"/>
              </a:ext>
            </a:extLst>
          </p:cNvPr>
          <p:cNvSpPr txBox="1"/>
          <p:nvPr/>
        </p:nvSpPr>
        <p:spPr>
          <a:xfrm>
            <a:off x="596900" y="4686300"/>
            <a:ext cx="5981700" cy="26924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모델 </a:t>
            </a: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해석</a:t>
            </a:r>
            <a:endParaRPr lang="en-US" altLang="ko-KR" sz="8000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03749"/>
              </a:lnSpc>
            </a:pPr>
            <a:r>
              <a:rPr 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SHAP</a:t>
            </a:r>
            <a:endParaRPr lang="en-US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03749"/>
              </a:lnSpc>
            </a:pPr>
            <a:endParaRPr lang="en-US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6D8C76-9894-25FC-B236-D9464D6ED85F}"/>
              </a:ext>
            </a:extLst>
          </p:cNvPr>
          <p:cNvSpPr txBox="1"/>
          <p:nvPr/>
        </p:nvSpPr>
        <p:spPr>
          <a:xfrm>
            <a:off x="596900" y="2273300"/>
            <a:ext cx="21844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altLang="ko-KR" sz="6666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12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4F0E02D1-B60E-2618-4E40-E893E5B283AB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CAE5B1-225C-7B26-DF81-662F326628BB}"/>
              </a:ext>
            </a:extLst>
          </p:cNvPr>
          <p:cNvSpPr txBox="1"/>
          <p:nvPr/>
        </p:nvSpPr>
        <p:spPr>
          <a:xfrm>
            <a:off x="7920470" y="1638300"/>
            <a:ext cx="1547293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>
              <a:lnSpc>
                <a:spcPct val="112050"/>
              </a:lnSpc>
            </a:pP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이탈을 결정하는 핵심 요인 분석 결과   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AE3AD5-31B2-B664-9475-93C84436F293}"/>
              </a:ext>
            </a:extLst>
          </p:cNvPr>
          <p:cNvSpPr/>
          <p:nvPr/>
        </p:nvSpPr>
        <p:spPr>
          <a:xfrm>
            <a:off x="7848600" y="2575853"/>
            <a:ext cx="15544800" cy="7056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C8096D-CB10-1244-0E29-A32AA1483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838450"/>
            <a:ext cx="8305800" cy="676275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13D1B659-8832-1127-0376-0D1492BFB3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600" y="9790585"/>
            <a:ext cx="15544800" cy="3408303"/>
          </a:xfrm>
          <a:prstGeom prst="rect">
            <a:avLst/>
          </a:prstGeom>
        </p:spPr>
      </p:pic>
      <p:sp>
        <p:nvSpPr>
          <p:cNvPr id="10" name="TextBox 13">
            <a:extLst>
              <a:ext uri="{FF2B5EF4-FFF2-40B4-BE49-F238E27FC236}">
                <a16:creationId xmlns:a16="http://schemas.microsoft.com/office/drawing/2014/main" id="{DEFEC93B-B3F8-15A5-2B78-F4B451501847}"/>
              </a:ext>
            </a:extLst>
          </p:cNvPr>
          <p:cNvSpPr txBox="1"/>
          <p:nvPr/>
        </p:nvSpPr>
        <p:spPr>
          <a:xfrm>
            <a:off x="8098971" y="10134600"/>
            <a:ext cx="15472930" cy="340830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SHAP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결과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이탈은 단일 고객 속성보다 **</a:t>
            </a:r>
            <a:r>
              <a:rPr lang="ko-KR" altLang="en-US" sz="2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조건 구간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cat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변수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)**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더 크게 설명됨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 고객 효과는 </a:t>
            </a:r>
            <a:r>
              <a:rPr lang="en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duration, difficulty, reward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조건 변수에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분해되어 반영됨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  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(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 이 모델은 누가 이탈하는가 보다는 어떤 조건에서 이탈이 구조적으로 집중되는가를 설명하고 있음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)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특히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장기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고난이도</a:t>
            </a:r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보상 대비 부담이 큰 조건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이탈 기여도가 가장 큼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이는 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실패가 고객 개인 특성보다는 </a:t>
            </a:r>
            <a:r>
              <a:rPr lang="ko-KR" altLang="en-US" sz="240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조건 설계와 고객 맥락 간의 불일치에 의해 설명될 가능성이 높음을 시사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함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4E276FF-0344-3B9A-49C7-F4079D12B2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36290" y="3260682"/>
            <a:ext cx="6576110" cy="59560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36EA8B-A7DC-123F-6D77-A83B2B8BEB27}"/>
              </a:ext>
            </a:extLst>
          </p:cNvPr>
          <p:cNvSpPr txBox="1"/>
          <p:nvPr/>
        </p:nvSpPr>
        <p:spPr>
          <a:xfrm>
            <a:off x="353786" y="9878618"/>
            <a:ext cx="6059772" cy="212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[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참고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]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 상위 변수 설명 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dirty="0" err="1">
                <a:solidFill>
                  <a:schemeClr val="accent2">
                    <a:lumMod val="75000"/>
                  </a:schemeClr>
                </a:solidFill>
              </a:rPr>
              <a:t>cat_duration_bin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ko-KR" altLang="en-US" dirty="0" err="1">
                <a:solidFill>
                  <a:schemeClr val="accent2">
                    <a:lumMod val="75000"/>
                  </a:schemeClr>
                </a:solidFill>
              </a:rPr>
              <a:t>오퍼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 지속 기간 구간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</a:rPr>
              <a:t>Short / Mid / Long)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dirty="0" err="1">
                <a:solidFill>
                  <a:schemeClr val="accent2">
                    <a:lumMod val="75000"/>
                  </a:schemeClr>
                </a:solidFill>
              </a:rPr>
              <a:t>cat_income_group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고객 소득 분위 그룹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dirty="0" err="1">
                <a:solidFill>
                  <a:schemeClr val="accent2">
                    <a:lumMod val="75000"/>
                  </a:schemeClr>
                </a:solidFill>
              </a:rPr>
              <a:t>is_new_user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신규 고객 여부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dirty="0" err="1">
                <a:solidFill>
                  <a:schemeClr val="accent2">
                    <a:lumMod val="75000"/>
                  </a:schemeClr>
                </a:solidFill>
              </a:rPr>
              <a:t>num_reward_per_difficulty</a:t>
            </a:r>
            <a:r>
              <a:rPr lang="en" altLang="ko-KR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조건 대비 보상 효율 지표</a:t>
            </a:r>
          </a:p>
        </p:txBody>
      </p:sp>
    </p:spTree>
    <p:extLst>
      <p:ext uri="{BB962C8B-B14F-4D97-AF65-F5344CB8AC3E}">
        <p14:creationId xmlns:p14="http://schemas.microsoft.com/office/powerpoint/2010/main" val="2284624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16000"/>
            <a:ext cx="17805400" cy="12700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1600"/>
            <a:ext cx="190500" cy="8001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7124" y="8597900"/>
            <a:ext cx="4614919" cy="3479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9901" y="8560526"/>
            <a:ext cx="4495800" cy="3517174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600" y="8629106"/>
            <a:ext cx="4687751" cy="344859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2300" y="9341757"/>
            <a:ext cx="4064000" cy="12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6086" y="3657600"/>
            <a:ext cx="889000" cy="889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954986" y="3695700"/>
            <a:ext cx="711200" cy="812800"/>
          </a:xfrm>
          <a:prstGeom prst="rect">
            <a:avLst/>
          </a:prstGeom>
        </p:spPr>
        <p:txBody>
          <a:bodyPr lIns="0" tIns="11853" rIns="0" bIns="0" rtlCol="0" anchor="t"/>
          <a:lstStyle/>
          <a:p>
            <a:pPr lvl="0" algn="ctr">
              <a:lnSpc>
                <a:spcPct val="112050"/>
              </a:lnSpc>
            </a:pPr>
            <a:r>
              <a:rPr lang="en-US" sz="3733" b="0" i="0" u="none" strike="noStrike">
                <a:solidFill>
                  <a:srgbClr val="FFFFFF"/>
                </a:solidFill>
                <a:latin typeface="Martel DemiBold"/>
                <a:ea typeface="Martel DemiBold"/>
                <a:cs typeface="Martel DemiBold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376900" y="10668000"/>
            <a:ext cx="4495800" cy="12446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algn="ctr">
              <a:lnSpc>
                <a:spcPct val="150000"/>
              </a:lnSpc>
            </a:pPr>
            <a:r>
              <a:rPr lang="en" altLang="ko-KR" sz="2400" b="1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Viewed → </a:t>
            </a:r>
            <a:r>
              <a:rPr lang="ko-KR" altLang="en-US" sz="2400" b="1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미완료</a:t>
            </a:r>
            <a:r>
              <a:rPr lang="ko-KR" altLang="en-US" sz="2400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설득 실패가 아니라</a:t>
            </a:r>
            <a:r>
              <a:rPr lang="en-US" altLang="ko-KR" sz="2400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400" dirty="0" err="1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온보딩</a:t>
            </a:r>
            <a:r>
              <a:rPr lang="ko-KR" altLang="en-US" sz="2400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설계 </a:t>
            </a:r>
            <a:r>
              <a:rPr lang="ko-KR" altLang="en-US" sz="2400" b="1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실패 신호이므로 다음 </a:t>
            </a:r>
            <a:r>
              <a:rPr lang="ko-KR" altLang="en-US" sz="2400" b="1" dirty="0" err="1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</a:t>
            </a:r>
            <a:r>
              <a:rPr lang="ko-KR" altLang="en-US" sz="2400" b="1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조정에 활용</a:t>
            </a:r>
            <a:r>
              <a:rPr lang="ko-KR" altLang="en-US" sz="2400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함</a:t>
            </a:r>
          </a:p>
          <a:p>
            <a:pPr lvl="0" algn="ctr">
              <a:lnSpc>
                <a:spcPct val="150000"/>
              </a:lnSpc>
            </a:pPr>
            <a:endParaRPr lang="en-US" sz="2400" b="0" i="0" u="none" strike="noStrike" dirty="0">
              <a:solidFill>
                <a:srgbClr val="1E735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966872" y="4508499"/>
            <a:ext cx="5080000" cy="1193800"/>
          </a:xfrm>
          <a:prstGeom prst="rect">
            <a:avLst/>
          </a:prstGeom>
        </p:spPr>
        <p:txBody>
          <a:bodyPr lIns="0" tIns="22014" rIns="0" bIns="22014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3466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실패 신호의 </a:t>
            </a:r>
            <a:endParaRPr lang="en-US" altLang="ko-KR" sz="3466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ctr">
              <a:lnSpc>
                <a:spcPct val="107899"/>
              </a:lnSpc>
            </a:pPr>
            <a:r>
              <a:rPr lang="ko-KR" altLang="en-US" sz="3466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조기 활용</a:t>
            </a:r>
            <a:endParaRPr lang="en-US" sz="3466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106400" y="10613571"/>
            <a:ext cx="4495800" cy="12446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고난이도</a:t>
            </a:r>
            <a:r>
              <a:rPr lang="en-US" altLang="ko-KR" sz="2400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400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장기 </a:t>
            </a:r>
            <a:r>
              <a:rPr lang="ko-KR" altLang="en-US" sz="2400" dirty="0" err="1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오퍼는</a:t>
            </a:r>
            <a:endParaRPr lang="ko-KR" altLang="en-US" sz="2400" dirty="0">
              <a:solidFill>
                <a:srgbClr val="1E735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초기 고객이 아닌 </a:t>
            </a:r>
            <a:r>
              <a:rPr lang="ko-KR" altLang="en-US" sz="2400" b="1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이미 학습된 고객</a:t>
            </a:r>
            <a:r>
              <a:rPr lang="ko-KR" altLang="en-US" sz="2400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에게만 노출</a:t>
            </a:r>
          </a:p>
          <a:p>
            <a:pPr lvl="0" algn="ctr">
              <a:lnSpc>
                <a:spcPct val="112050"/>
              </a:lnSpc>
            </a:pPr>
            <a:endParaRPr lang="en-US" sz="2400" b="0" i="0" u="none" strike="noStrike" dirty="0">
              <a:solidFill>
                <a:srgbClr val="1E735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917724" y="10642600"/>
            <a:ext cx="4495800" cy="12446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 err="1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온보딩</a:t>
            </a:r>
            <a:r>
              <a:rPr lang="ko-KR" altLang="en-US" sz="2400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단계에서는 기간보다</a:t>
            </a:r>
          </a:p>
          <a:p>
            <a:pPr algn="ctr">
              <a:lnSpc>
                <a:spcPct val="150000"/>
              </a:lnSpc>
            </a:pPr>
            <a:r>
              <a:rPr lang="ko-KR" altLang="en-US" sz="2400" b="1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난이도</a:t>
            </a:r>
            <a:r>
              <a:rPr lang="en-US" altLang="ko-KR" sz="2400" b="1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400" b="1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조건이 낮고 즉시 완료 가능한 </a:t>
            </a:r>
            <a:r>
              <a:rPr lang="ko-KR" altLang="en-US" sz="2400" b="1" dirty="0" err="1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오퍼를</a:t>
            </a:r>
            <a:r>
              <a:rPr lang="ko-KR" altLang="en-US" sz="2400" b="1" dirty="0">
                <a:solidFill>
                  <a:srgbClr val="1E73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노출</a:t>
            </a:r>
            <a:endParaRPr lang="ko-KR" altLang="en-US" sz="2400" dirty="0">
              <a:solidFill>
                <a:srgbClr val="1E735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 algn="ctr">
              <a:lnSpc>
                <a:spcPct val="150000"/>
              </a:lnSpc>
            </a:pPr>
            <a:endParaRPr lang="en-US" sz="2400" b="0" i="0" u="none" strike="noStrike" dirty="0">
              <a:solidFill>
                <a:srgbClr val="1E735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3380700" y="317500"/>
            <a:ext cx="4953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altLang="ko-KR" sz="2400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13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35000" y="8223250"/>
            <a:ext cx="6108700" cy="7493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Key Insight &amp; Strategy </a:t>
            </a:r>
            <a:endParaRPr lang="en-US" sz="3466" b="0" i="0" u="none" strike="noStrike" dirty="0">
              <a:solidFill>
                <a:srgbClr val="801A00"/>
              </a:solidFill>
              <a:latin typeface="Martel Bold"/>
              <a:ea typeface="Martel Bold"/>
              <a:cs typeface="Martel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96900" y="4686300"/>
            <a:ext cx="5651500" cy="26924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시사점</a:t>
            </a: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&amp;</a:t>
            </a:r>
            <a:r>
              <a:rPr lang="ko-KR" altLang="en-US" sz="8000" b="0" i="0" u="none" strike="noStrike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en-US" altLang="ko-KR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03749"/>
              </a:lnSpc>
            </a:pP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전략 도출 </a:t>
            </a:r>
            <a:endParaRPr lang="en-US" sz="8000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96900" y="2273300"/>
            <a:ext cx="21844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altLang="ko-KR" sz="6666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13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0AA6BC76-5339-349E-CBE5-CD28B43EFAB3}"/>
              </a:ext>
            </a:extLst>
          </p:cNvPr>
          <p:cNvSpPr txBox="1"/>
          <p:nvPr/>
        </p:nvSpPr>
        <p:spPr>
          <a:xfrm>
            <a:off x="647700" y="431800"/>
            <a:ext cx="4762500" cy="306082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altLang="ko-KR" sz="2400" b="0" i="0" u="none" strike="noStrike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P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BL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4.</a:t>
            </a:r>
            <a:r>
              <a:rPr lang="ko-KR" altLang="en-US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 프로덕트 분석 발표회</a:t>
            </a:r>
            <a:r>
              <a:rPr lang="en-US" altLang="ko-KR" sz="2400" dirty="0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_26.02</a:t>
            </a:r>
            <a:endParaRPr lang="en-US" sz="2400" b="0" i="0" u="none" strike="noStrike" dirty="0">
              <a:solidFill>
                <a:srgbClr val="801A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C613DD-B293-5CE2-97F5-AD213376719A}"/>
              </a:ext>
            </a:extLst>
          </p:cNvPr>
          <p:cNvSpPr txBox="1"/>
          <p:nvPr/>
        </p:nvSpPr>
        <p:spPr>
          <a:xfrm>
            <a:off x="7920470" y="1638300"/>
            <a:ext cx="15472930" cy="779318"/>
          </a:xfrm>
          <a:prstGeom prst="rect">
            <a:avLst/>
          </a:prstGeom>
        </p:spPr>
        <p:txBody>
          <a:bodyPr lIns="0" tIns="11853" rIns="0" bIns="11853" rtlCol="0" anchor="ctr"/>
          <a:lstStyle/>
          <a:p>
            <a:pPr lvl="0">
              <a:lnSpc>
                <a:spcPct val="112050"/>
              </a:lnSpc>
            </a:pP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고객 맥락 기반 </a:t>
            </a:r>
            <a:r>
              <a:rPr lang="ko-KR" altLang="en-US" sz="3733" dirty="0" err="1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오퍼</a:t>
            </a:r>
            <a:r>
              <a:rPr lang="ko-KR" altLang="en-US" sz="3733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설계로 이탈 최소화 </a:t>
            </a:r>
            <a:endParaRPr lang="en-US" sz="3733" b="0" i="0" u="none" strike="noStrike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3" name="Picture 9">
            <a:extLst>
              <a:ext uri="{FF2B5EF4-FFF2-40B4-BE49-F238E27FC236}">
                <a16:creationId xmlns:a16="http://schemas.microsoft.com/office/drawing/2014/main" id="{A238EFA6-B2FD-E3D3-4771-4FD2222DA3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4086" y="2500087"/>
            <a:ext cx="15318014" cy="863600"/>
          </a:xfrm>
          <a:prstGeom prst="rect">
            <a:avLst/>
          </a:prstGeom>
        </p:spPr>
      </p:pic>
      <p:sp>
        <p:nvSpPr>
          <p:cNvPr id="34" name="TextBox 22">
            <a:extLst>
              <a:ext uri="{FF2B5EF4-FFF2-40B4-BE49-F238E27FC236}">
                <a16:creationId xmlns:a16="http://schemas.microsoft.com/office/drawing/2014/main" id="{0AA740A4-AD20-AB11-1B1B-24FD91A17D59}"/>
              </a:ext>
            </a:extLst>
          </p:cNvPr>
          <p:cNvSpPr txBox="1"/>
          <p:nvPr/>
        </p:nvSpPr>
        <p:spPr>
          <a:xfrm>
            <a:off x="8242300" y="2588986"/>
            <a:ext cx="14630400" cy="162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ko-KR" altLang="en-US" sz="2666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분석 결과</a:t>
            </a:r>
            <a:r>
              <a:rPr lang="en-US" altLang="ko-KR" sz="2666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,</a:t>
            </a:r>
            <a:r>
              <a:rPr lang="ko-KR" altLang="en-US" sz="2666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 이탈은 단일 고객 속성이 아니라 고객 맥락 </a:t>
            </a:r>
            <a:r>
              <a:rPr lang="en-US" altLang="ko-KR" sz="2666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X </a:t>
            </a:r>
            <a:r>
              <a:rPr lang="ko-KR" altLang="en-US" sz="2666" dirty="0" err="1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오퍼</a:t>
            </a:r>
            <a:r>
              <a:rPr lang="ko-KR" altLang="en-US" sz="2666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 조건 조합에서 구조적으로 발생</a:t>
            </a:r>
            <a:endParaRPr lang="en-US" sz="2666" b="0" i="0" u="none" strike="noStrike" dirty="0">
              <a:solidFill>
                <a:schemeClr val="bg1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C8ADB75B-638D-8AB0-1F22-380251D053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230" t="2995" r="15039" b="29223"/>
          <a:stretch>
            <a:fillRect/>
          </a:stretch>
        </p:blipFill>
        <p:spPr>
          <a:xfrm>
            <a:off x="7821749" y="3630387"/>
            <a:ext cx="4687751" cy="638265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11201" y="10167983"/>
            <a:ext cx="4064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10167983"/>
            <a:ext cx="4064000" cy="12700"/>
          </a:xfrm>
          <a:prstGeom prst="rect">
            <a:avLst/>
          </a:prstGeom>
        </p:spPr>
      </p:pic>
      <p:pic>
        <p:nvPicPr>
          <p:cNvPr id="36" name="Picture 6">
            <a:extLst>
              <a:ext uri="{FF2B5EF4-FFF2-40B4-BE49-F238E27FC236}">
                <a16:creationId xmlns:a16="http://schemas.microsoft.com/office/drawing/2014/main" id="{9CBE6429-9D6F-D365-6E64-815DC5DC0F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16600" y="10134600"/>
            <a:ext cx="4064000" cy="127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B0B2C2ED-F41D-6845-66D8-56155A8D320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4230" t="2995" r="15343" b="34498"/>
          <a:stretch>
            <a:fillRect/>
          </a:stretch>
        </p:blipFill>
        <p:spPr>
          <a:xfrm>
            <a:off x="13182600" y="3638369"/>
            <a:ext cx="4504872" cy="6361974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9D6A6A4-B7BF-D58D-E50F-26062DE1C97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4229" t="3255" r="13454" b="32162"/>
          <a:stretch>
            <a:fillRect/>
          </a:stretch>
        </p:blipFill>
        <p:spPr>
          <a:xfrm>
            <a:off x="18376900" y="3650265"/>
            <a:ext cx="4595143" cy="6299200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A15BC144-9F9F-02C8-00B4-B205D3343247}"/>
              </a:ext>
            </a:extLst>
          </p:cNvPr>
          <p:cNvSpPr/>
          <p:nvPr/>
        </p:nvSpPr>
        <p:spPr>
          <a:xfrm>
            <a:off x="7848600" y="12077700"/>
            <a:ext cx="4660900" cy="1257300"/>
          </a:xfrm>
          <a:prstGeom prst="rect">
            <a:avLst/>
          </a:prstGeom>
          <a:solidFill>
            <a:srgbClr val="2A62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CD2AD73-368E-3E12-CE70-D054F7D13354}"/>
              </a:ext>
            </a:extLst>
          </p:cNvPr>
          <p:cNvSpPr/>
          <p:nvPr/>
        </p:nvSpPr>
        <p:spPr>
          <a:xfrm>
            <a:off x="13157200" y="12020731"/>
            <a:ext cx="4508501" cy="1257300"/>
          </a:xfrm>
          <a:prstGeom prst="rect">
            <a:avLst/>
          </a:prstGeom>
          <a:solidFill>
            <a:srgbClr val="2A62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6788F65-B3F2-CC41-A367-BFAD880584B2}"/>
              </a:ext>
            </a:extLst>
          </p:cNvPr>
          <p:cNvSpPr/>
          <p:nvPr/>
        </p:nvSpPr>
        <p:spPr>
          <a:xfrm>
            <a:off x="18400243" y="11993880"/>
            <a:ext cx="4595143" cy="1257300"/>
          </a:xfrm>
          <a:prstGeom prst="rect">
            <a:avLst/>
          </a:prstGeom>
          <a:solidFill>
            <a:srgbClr val="2A62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864C78-587B-BEC2-F1B1-B6FF40D9994E}"/>
              </a:ext>
            </a:extLst>
          </p:cNvPr>
          <p:cNvSpPr txBox="1"/>
          <p:nvPr/>
        </p:nvSpPr>
        <p:spPr>
          <a:xfrm>
            <a:off x="8019084" y="12277754"/>
            <a:ext cx="4287216" cy="83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>
              <a:lnSpc>
                <a:spcPct val="141100"/>
              </a:lnSpc>
              <a:buClr>
                <a:srgbClr val="000000"/>
              </a:buClr>
            </a:pPr>
            <a:r>
              <a:rPr lang="en-US" altLang="ko-KR" b="0" i="0" u="none" strike="noStrike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48</a:t>
            </a:r>
            <a:r>
              <a:rPr lang="ko-KR" altLang="en-US" b="0" i="0" u="none" strike="noStrike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시간 내 </a:t>
            </a:r>
            <a:r>
              <a:rPr lang="en-US" altLang="ko-KR" b="0" i="0" u="none" strike="noStrike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1</a:t>
            </a:r>
            <a:r>
              <a:rPr lang="ko-KR" altLang="en-US" b="0" i="0" u="none" strike="noStrike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회 행동으로 </a:t>
            </a:r>
            <a:endParaRPr lang="en-US" altLang="ko-KR" b="0" i="0" u="none" strike="noStrike" dirty="0">
              <a:solidFill>
                <a:schemeClr val="bg1"/>
              </a:solidFill>
              <a:latin typeface="Pretendard Medium"/>
              <a:ea typeface="Pretendard Medium"/>
              <a:cs typeface="Pretendard Medium"/>
            </a:endParaRPr>
          </a:p>
          <a:p>
            <a:pPr marL="0" lvl="1" algn="ctr">
              <a:lnSpc>
                <a:spcPct val="141100"/>
              </a:lnSpc>
              <a:buClr>
                <a:srgbClr val="000000"/>
              </a:buClr>
            </a:pPr>
            <a:r>
              <a:rPr lang="ko-KR" altLang="en-US" b="0" i="0" u="none" strike="noStrike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즉시 완료 가능한 </a:t>
            </a:r>
            <a:r>
              <a:rPr lang="ko-KR" altLang="en-US" b="0" i="0" u="none" strike="noStrike" dirty="0" err="1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오퍼</a:t>
            </a:r>
            <a:r>
              <a:rPr lang="ko-KR" altLang="en-US" b="0" i="0" u="none" strike="noStrike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 노출</a:t>
            </a:r>
            <a:endParaRPr lang="en-US" altLang="ko-KR" b="0" i="0" u="none" strike="noStrike" dirty="0">
              <a:solidFill>
                <a:schemeClr val="bg1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9C04FD-9F05-F8FF-2EBC-573F38A15512}"/>
              </a:ext>
            </a:extLst>
          </p:cNvPr>
          <p:cNvSpPr txBox="1"/>
          <p:nvPr/>
        </p:nvSpPr>
        <p:spPr>
          <a:xfrm>
            <a:off x="13411201" y="12213329"/>
            <a:ext cx="4064000" cy="83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>
              <a:lnSpc>
                <a:spcPct val="141100"/>
              </a:lnSpc>
              <a:buClr>
                <a:srgbClr val="000000"/>
              </a:buClr>
            </a:pPr>
            <a:r>
              <a:rPr lang="ko-KR" altLang="en-US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고난이도</a:t>
            </a:r>
            <a:r>
              <a:rPr lang="en-US" altLang="ko-KR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,</a:t>
            </a:r>
            <a:r>
              <a:rPr lang="ko-KR" altLang="en-US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장기 </a:t>
            </a:r>
            <a:r>
              <a:rPr lang="ko-KR" altLang="en-US" dirty="0" err="1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오퍼는</a:t>
            </a:r>
            <a:r>
              <a:rPr lang="ko-KR" altLang="en-US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</a:t>
            </a:r>
            <a:endParaRPr lang="en-US" altLang="ko-KR" dirty="0">
              <a:solidFill>
                <a:schemeClr val="bg1"/>
              </a:solidFill>
              <a:latin typeface="Pretendard Medium"/>
              <a:ea typeface="Pretendard Medium"/>
              <a:cs typeface="Pretendard Medium"/>
              <a:sym typeface="Wingdings" pitchFamily="2" charset="2"/>
            </a:endParaRPr>
          </a:p>
          <a:p>
            <a:pPr marL="0" lvl="1" algn="ctr">
              <a:lnSpc>
                <a:spcPct val="141100"/>
              </a:lnSpc>
              <a:buClr>
                <a:srgbClr val="000000"/>
              </a:buClr>
            </a:pPr>
            <a:r>
              <a:rPr lang="ko-KR" altLang="en-US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기존 고객에게만 제한 노출</a:t>
            </a:r>
            <a:endParaRPr lang="en-US" altLang="ko-KR" b="0" i="0" u="none" strike="noStrike" dirty="0">
              <a:solidFill>
                <a:schemeClr val="bg1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F64698-E235-864C-C3D8-C9356B6B20CA}"/>
              </a:ext>
            </a:extLst>
          </p:cNvPr>
          <p:cNvSpPr txBox="1"/>
          <p:nvPr/>
        </p:nvSpPr>
        <p:spPr>
          <a:xfrm>
            <a:off x="18611850" y="12048428"/>
            <a:ext cx="4064000" cy="122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>
              <a:lnSpc>
                <a:spcPct val="141100"/>
              </a:lnSpc>
              <a:buClr>
                <a:srgbClr val="000000"/>
              </a:buClr>
            </a:pPr>
            <a:r>
              <a:rPr lang="ko-KR" altLang="en-US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조회 후 미완료 시 </a:t>
            </a:r>
            <a:endParaRPr lang="en-US" altLang="ko-KR" dirty="0">
              <a:solidFill>
                <a:schemeClr val="bg1"/>
              </a:solidFill>
              <a:latin typeface="Pretendard Medium"/>
              <a:ea typeface="Pretendard Medium"/>
              <a:cs typeface="Pretendard Medium"/>
              <a:sym typeface="Wingdings" pitchFamily="2" charset="2"/>
            </a:endParaRPr>
          </a:p>
          <a:p>
            <a:pPr marL="0" lvl="1" algn="ctr">
              <a:lnSpc>
                <a:spcPct val="141100"/>
              </a:lnSpc>
              <a:buClr>
                <a:srgbClr val="000000"/>
              </a:buClr>
            </a:pPr>
            <a:r>
              <a:rPr lang="en-US" altLang="ko-KR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(</a:t>
            </a:r>
            <a:r>
              <a:rPr lang="ko-KR" altLang="en-US" dirty="0" err="1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오퍼기간의</a:t>
            </a:r>
            <a:r>
              <a:rPr lang="ko-KR" altLang="en-US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50%</a:t>
            </a:r>
            <a:r>
              <a:rPr lang="ko-KR" altLang="en-US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경과 시점 판단</a:t>
            </a:r>
            <a:r>
              <a:rPr lang="en-US" altLang="ko-KR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)</a:t>
            </a:r>
          </a:p>
          <a:p>
            <a:pPr marL="0" lvl="1" algn="ctr">
              <a:lnSpc>
                <a:spcPct val="141100"/>
              </a:lnSpc>
              <a:buClr>
                <a:srgbClr val="000000"/>
              </a:buClr>
            </a:pPr>
            <a:r>
              <a:rPr lang="ko-KR" altLang="en-US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다음 </a:t>
            </a:r>
            <a:r>
              <a:rPr lang="ko-KR" altLang="en-US" dirty="0" err="1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오퍼</a:t>
            </a:r>
            <a:r>
              <a:rPr lang="ko-KR" altLang="en-US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  <a:sym typeface="Wingdings" pitchFamily="2" charset="2"/>
              </a:rPr>
              <a:t> 난이도와 보상 구조 자동 조정 </a:t>
            </a:r>
            <a:endParaRPr lang="en-US" altLang="ko-KR" b="0" i="0" u="none" strike="noStrike" dirty="0">
              <a:solidFill>
                <a:schemeClr val="bg1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003300"/>
            <a:ext cx="17805400" cy="12700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00"/>
            <a:ext cx="6578600" cy="12700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1600"/>
            <a:ext cx="190500" cy="68072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3406100" y="317500"/>
            <a:ext cx="4699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altLang="ko-KR" sz="2400" dirty="0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14</a:t>
            </a:r>
            <a:endParaRPr lang="en-US" sz="2400" b="0" i="0" u="none" strike="noStrike" dirty="0">
              <a:solidFill>
                <a:srgbClr val="801A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76300" y="317500"/>
            <a:ext cx="40513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sz="2400" b="0" i="0" u="none" strike="noStrike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MIRI Company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6900" y="6991350"/>
            <a:ext cx="6032500" cy="7493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l">
              <a:lnSpc>
                <a:spcPct val="112050"/>
              </a:lnSpc>
            </a:pPr>
            <a:r>
              <a:rPr lang="en-US" sz="3466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KPT</a:t>
            </a:r>
            <a:r>
              <a:rPr lang="en-US" sz="3466" b="0" i="0" u="none" strike="noStrike" dirty="0">
                <a:solidFill>
                  <a:srgbClr val="801A00"/>
                </a:solidFill>
                <a:latin typeface="Martel Bold"/>
                <a:ea typeface="Martel Bold"/>
                <a:cs typeface="Martel Bold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6900" y="4686300"/>
            <a:ext cx="5651500" cy="1422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12050"/>
              </a:lnSpc>
            </a:pP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프로젝트</a:t>
            </a:r>
            <a:r>
              <a:rPr lang="en-US" altLang="ko-KR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ko-KR" altLang="en-US" sz="8000" dirty="0">
                <a:solidFill>
                  <a:srgbClr val="801A00"/>
                </a:solidFill>
                <a:latin typeface="Pretendard Bold"/>
                <a:ea typeface="Pretendard Bold"/>
                <a:cs typeface="Pretendard Bold"/>
              </a:rPr>
              <a:t>회고</a:t>
            </a:r>
            <a:endParaRPr lang="en-US" altLang="ko-KR" sz="8000" dirty="0">
              <a:solidFill>
                <a:srgbClr val="801A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96900" y="2273300"/>
            <a:ext cx="1612900" cy="1422400"/>
          </a:xfrm>
          <a:prstGeom prst="rect">
            <a:avLst/>
          </a:prstGeom>
        </p:spPr>
        <p:txBody>
          <a:bodyPr lIns="0" tIns="21167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altLang="ko-KR" sz="6666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14</a:t>
            </a:r>
            <a:r>
              <a:rPr lang="en-US" sz="6666" b="0" i="0" u="none" strike="noStrike" dirty="0">
                <a:solidFill>
                  <a:srgbClr val="801A00"/>
                </a:solidFill>
                <a:latin typeface="Martel Light"/>
                <a:ea typeface="Martel Light"/>
                <a:cs typeface="Martel Light"/>
              </a:rPr>
              <a:t>.</a:t>
            </a:r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CE109A60-F375-3AE5-C8C5-D37287A75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200" y="6554381"/>
            <a:ext cx="4533900" cy="6704419"/>
          </a:xfrm>
          <a:prstGeom prst="rect">
            <a:avLst/>
          </a:prstGeom>
          <a:solidFill>
            <a:schemeClr val="bg1">
              <a:lumMod val="65000"/>
              <a:alpha val="76000"/>
            </a:schemeClr>
          </a:solidFill>
          <a:effectLst>
            <a:outerShdw blurRad="159774" dist="137788" dir="2700000" sx="101000" sy="101000">
              <a:srgbClr val="1F1F1F">
                <a:alpha val="10000"/>
              </a:srgbClr>
            </a:outerShdw>
            <a:softEdge rad="35144"/>
          </a:effectLst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DD07D64C-EC17-3069-E8D7-7D997BFA3C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3917" y="9148522"/>
            <a:ext cx="476536" cy="446675"/>
          </a:xfrm>
          <a:prstGeom prst="rect">
            <a:avLst/>
          </a:prstGeom>
        </p:spPr>
      </p:pic>
      <p:sp>
        <p:nvSpPr>
          <p:cNvPr id="7" name="TextBox 18">
            <a:extLst>
              <a:ext uri="{FF2B5EF4-FFF2-40B4-BE49-F238E27FC236}">
                <a16:creationId xmlns:a16="http://schemas.microsoft.com/office/drawing/2014/main" id="{113E13F8-052C-CA38-CD68-40F9B80A6AA9}"/>
              </a:ext>
            </a:extLst>
          </p:cNvPr>
          <p:cNvSpPr txBox="1"/>
          <p:nvPr/>
        </p:nvSpPr>
        <p:spPr>
          <a:xfrm>
            <a:off x="7747000" y="6920974"/>
            <a:ext cx="4483100" cy="5508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1F1F1F"/>
                </a:solidFill>
                <a:ea typeface="Pretendard SemiBold"/>
              </a:rPr>
              <a:t>이론과 비즈니스 관점 조화</a:t>
            </a:r>
            <a:endParaRPr lang="ko-KR" sz="3200" b="0" i="0" u="none" strike="noStrike" dirty="0">
              <a:solidFill>
                <a:srgbClr val="1F1F1F"/>
              </a:solidFill>
              <a:ea typeface="Pretendard SemiBold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D3A0565B-6A64-9174-DA8C-DA85C9FAFEC1}"/>
              </a:ext>
            </a:extLst>
          </p:cNvPr>
          <p:cNvSpPr txBox="1"/>
          <p:nvPr/>
        </p:nvSpPr>
        <p:spPr>
          <a:xfrm>
            <a:off x="8001001" y="7681394"/>
            <a:ext cx="3681460" cy="396201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1F1F1F"/>
              </a:buClr>
              <a:buFont typeface="Arial"/>
              <a:buChar char="●"/>
            </a:pPr>
            <a:r>
              <a:rPr lang="en-US" altLang="ko-KR" sz="2200" dirty="0">
                <a:solidFill>
                  <a:srgbClr val="1F1F1F"/>
                </a:solidFill>
                <a:ea typeface="Pretendard Regular"/>
              </a:rPr>
              <a:t>JSON 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원천 데이터 구조를 직접 해체하며 분석 단위를 정의해본 경험이 의미 있었음</a:t>
            </a:r>
            <a:r>
              <a:rPr lang="en-US" altLang="ko-KR" sz="2200" dirty="0">
                <a:solidFill>
                  <a:srgbClr val="1F1F1F"/>
                </a:solidFill>
                <a:ea typeface="Pretendard Regular"/>
              </a:rPr>
              <a:t>.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 </a:t>
            </a:r>
            <a:endParaRPr lang="en-US" altLang="ko-KR" sz="2200" dirty="0">
              <a:solidFill>
                <a:srgbClr val="1F1F1F"/>
              </a:solidFill>
              <a:ea typeface="Pretendard Regular"/>
            </a:endParaRPr>
          </a:p>
          <a:p>
            <a:pPr marL="342900" lvl="0" indent="-342900" algn="l">
              <a:lnSpc>
                <a:spcPct val="124499"/>
              </a:lnSpc>
              <a:buClr>
                <a:srgbClr val="1F1F1F"/>
              </a:buClr>
              <a:buFont typeface="Arial"/>
              <a:buChar char="●"/>
            </a:pP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고객 중심의 </a:t>
            </a:r>
            <a:r>
              <a:rPr lang="en-US" altLang="ko-KR" sz="2200" dirty="0">
                <a:solidFill>
                  <a:srgbClr val="1F1F1F"/>
                </a:solidFill>
                <a:ea typeface="Pretendard Regular"/>
              </a:rPr>
              <a:t>RFM 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접근에 그치지 않고 데이터셋 성격에 맞춰 </a:t>
            </a:r>
            <a:r>
              <a:rPr lang="ko-KR" altLang="en-US" sz="2200" dirty="0" err="1">
                <a:solidFill>
                  <a:srgbClr val="1F1F1F"/>
                </a:solidFill>
                <a:ea typeface="Pretendard Regular"/>
              </a:rPr>
              <a:t>오퍼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 설계 구조와 고객 맥락을 함께 고려한 문제 접근이 실무적으로는 좀 더 유용한 방법이었던 것 같음</a:t>
            </a:r>
            <a:endParaRPr lang="en-US" altLang="ko-KR" sz="2200" dirty="0">
              <a:solidFill>
                <a:srgbClr val="1F1F1F"/>
              </a:solidFill>
              <a:ea typeface="Pretendard Regular"/>
            </a:endParaRPr>
          </a:p>
          <a:p>
            <a:pPr marL="342900" lvl="0" indent="-342900" algn="l">
              <a:lnSpc>
                <a:spcPct val="124499"/>
              </a:lnSpc>
              <a:buClr>
                <a:srgbClr val="1F1F1F"/>
              </a:buClr>
              <a:buFont typeface="Arial"/>
              <a:buChar char="●"/>
            </a:pP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모델링시 무조건 예측 성능을 올리려 하기보다는 분석 논리 흐름에 적합한 것을 선택하는 주관이 생기기 시작함 </a:t>
            </a:r>
            <a:endParaRPr lang="en-US" altLang="ko-KR" sz="2200" dirty="0">
              <a:solidFill>
                <a:srgbClr val="1F1F1F"/>
              </a:solidFill>
              <a:ea typeface="Pretendard Regular"/>
            </a:endParaRP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1F1DBE32-34D1-D60F-790B-F5364788E3A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3640" y="5887596"/>
            <a:ext cx="2901137" cy="9345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86494E-AFBC-1C9F-8784-B4EB5FCD7769}"/>
              </a:ext>
            </a:extLst>
          </p:cNvPr>
          <p:cNvSpPr txBox="1"/>
          <p:nvPr/>
        </p:nvSpPr>
        <p:spPr>
          <a:xfrm>
            <a:off x="9194229" y="5897128"/>
            <a:ext cx="1529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Keep</a:t>
            </a:r>
            <a:endParaRPr kumimoji="1" lang="ko-KR" altLang="en-US" sz="4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8641354F-2D58-9596-3CB0-B5E0F2A3A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24951" y="4021842"/>
            <a:ext cx="4533900" cy="6326293"/>
          </a:xfrm>
          <a:prstGeom prst="rect">
            <a:avLst/>
          </a:prstGeom>
          <a:solidFill>
            <a:schemeClr val="bg1">
              <a:lumMod val="65000"/>
              <a:alpha val="76000"/>
            </a:schemeClr>
          </a:solidFill>
          <a:effectLst>
            <a:outerShdw blurRad="159774" dist="137788" dir="2700000" sx="101000" sy="101000">
              <a:srgbClr val="1F1F1F">
                <a:alpha val="10000"/>
              </a:srgbClr>
            </a:outerShdw>
            <a:softEdge rad="35144"/>
          </a:effectLst>
        </p:spPr>
      </p:pic>
      <p:pic>
        <p:nvPicPr>
          <p:cNvPr id="13" name="Picture 15">
            <a:extLst>
              <a:ext uri="{FF2B5EF4-FFF2-40B4-BE49-F238E27FC236}">
                <a16:creationId xmlns:a16="http://schemas.microsoft.com/office/drawing/2014/main" id="{19CFA3EE-A507-5A0D-ADC2-58FB773E7D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2668" y="6912361"/>
            <a:ext cx="476536" cy="446675"/>
          </a:xfrm>
          <a:prstGeom prst="rect">
            <a:avLst/>
          </a:prstGeom>
        </p:spPr>
      </p:pic>
      <p:sp>
        <p:nvSpPr>
          <p:cNvPr id="14" name="TextBox 18">
            <a:extLst>
              <a:ext uri="{FF2B5EF4-FFF2-40B4-BE49-F238E27FC236}">
                <a16:creationId xmlns:a16="http://schemas.microsoft.com/office/drawing/2014/main" id="{D8B83DCD-2877-44B8-A6AB-FDA10A23EC81}"/>
              </a:ext>
            </a:extLst>
          </p:cNvPr>
          <p:cNvSpPr txBox="1"/>
          <p:nvPr/>
        </p:nvSpPr>
        <p:spPr>
          <a:xfrm>
            <a:off x="13724045" y="4400734"/>
            <a:ext cx="2848818" cy="5508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1F1F1F"/>
                </a:solidFill>
                <a:ea typeface="Pretendard SemiBold"/>
              </a:rPr>
              <a:t>개인 </a:t>
            </a:r>
            <a:r>
              <a:rPr lang="en-US" altLang="ko-KR" sz="3200" dirty="0">
                <a:solidFill>
                  <a:srgbClr val="1F1F1F"/>
                </a:solidFill>
                <a:ea typeface="Pretendard SemiBold"/>
              </a:rPr>
              <a:t>vs. </a:t>
            </a:r>
            <a:r>
              <a:rPr lang="ko-KR" altLang="en-US" sz="3200" dirty="0">
                <a:solidFill>
                  <a:srgbClr val="1F1F1F"/>
                </a:solidFill>
                <a:ea typeface="Pretendard SemiBold"/>
              </a:rPr>
              <a:t>단체</a:t>
            </a:r>
            <a:endParaRPr lang="ko-KR" sz="3200" b="0" i="0" u="none" strike="noStrike" dirty="0">
              <a:solidFill>
                <a:srgbClr val="1F1F1F"/>
              </a:solidFill>
              <a:ea typeface="Pretendard SemiBold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DDC7F784-B7F4-9FE3-51FD-485877FAE63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724710" y="3422835"/>
            <a:ext cx="2848818" cy="9345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92EA93-CC9C-B3D3-0DB7-04E8A7DE5629}"/>
              </a:ext>
            </a:extLst>
          </p:cNvPr>
          <p:cNvSpPr txBox="1"/>
          <p:nvPr/>
        </p:nvSpPr>
        <p:spPr>
          <a:xfrm>
            <a:off x="13997496" y="3432367"/>
            <a:ext cx="2356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Problem</a:t>
            </a:r>
            <a:endParaRPr kumimoji="1" lang="ko-KR" altLang="en-US" sz="4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7" name="Picture 14">
            <a:extLst>
              <a:ext uri="{FF2B5EF4-FFF2-40B4-BE49-F238E27FC236}">
                <a16:creationId xmlns:a16="http://schemas.microsoft.com/office/drawing/2014/main" id="{2AFACC03-00F2-85E8-5876-BF4DFDFFA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4311" y="2759282"/>
            <a:ext cx="4533900" cy="5387923"/>
          </a:xfrm>
          <a:prstGeom prst="rect">
            <a:avLst/>
          </a:prstGeom>
          <a:solidFill>
            <a:schemeClr val="bg1">
              <a:lumMod val="65000"/>
              <a:alpha val="76000"/>
            </a:schemeClr>
          </a:solidFill>
          <a:effectLst>
            <a:outerShdw blurRad="159774" dist="137788" dir="2700000" sx="101000" sy="101000">
              <a:srgbClr val="1F1F1F">
                <a:alpha val="10000"/>
              </a:srgbClr>
            </a:outerShdw>
            <a:softEdge rad="35144"/>
          </a:effectLst>
        </p:spPr>
      </p:pic>
      <p:pic>
        <p:nvPicPr>
          <p:cNvPr id="18" name="Picture 15">
            <a:extLst>
              <a:ext uri="{FF2B5EF4-FFF2-40B4-BE49-F238E27FC236}">
                <a16:creationId xmlns:a16="http://schemas.microsoft.com/office/drawing/2014/main" id="{6A746623-BD42-96B0-60DD-1D5B0F84B6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42028" y="5353423"/>
            <a:ext cx="476536" cy="4466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A0938CF-636A-E940-4472-416D7E45D4CE}"/>
              </a:ext>
            </a:extLst>
          </p:cNvPr>
          <p:cNvSpPr txBox="1"/>
          <p:nvPr/>
        </p:nvSpPr>
        <p:spPr>
          <a:xfrm>
            <a:off x="19878323" y="2953106"/>
            <a:ext cx="2151220" cy="5508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ko-KR" sz="3200" b="0" i="0" u="none" strike="noStrike" dirty="0">
              <a:solidFill>
                <a:srgbClr val="1F1F1F"/>
              </a:solidFill>
              <a:ea typeface="Pretendard Semi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C023FA-F440-70AF-9377-1840BD7AA5AA}"/>
              </a:ext>
            </a:extLst>
          </p:cNvPr>
          <p:cNvSpPr txBox="1"/>
          <p:nvPr/>
        </p:nvSpPr>
        <p:spPr>
          <a:xfrm>
            <a:off x="20202340" y="2102029"/>
            <a:ext cx="1529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Keep</a:t>
            </a:r>
            <a:endParaRPr kumimoji="1" lang="ko-KR" altLang="en-US" sz="4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1" name="Picture 7">
            <a:extLst>
              <a:ext uri="{FF2B5EF4-FFF2-40B4-BE49-F238E27FC236}">
                <a16:creationId xmlns:a16="http://schemas.microsoft.com/office/drawing/2014/main" id="{831BF21C-1212-A4F9-915E-9E5C4CBC1AF8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506077" y="1975005"/>
            <a:ext cx="2848818" cy="9345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F011C61-029A-7B44-8E81-9D0EF2ABEC10}"/>
              </a:ext>
            </a:extLst>
          </p:cNvPr>
          <p:cNvSpPr txBox="1"/>
          <p:nvPr/>
        </p:nvSpPr>
        <p:spPr>
          <a:xfrm>
            <a:off x="20409464" y="1984537"/>
            <a:ext cx="1076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4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Try</a:t>
            </a:r>
            <a:endParaRPr kumimoji="1" lang="ko-KR" altLang="en-US" sz="4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93391E4B-B63D-B6AE-00D4-C072C574B8A9}"/>
              </a:ext>
            </a:extLst>
          </p:cNvPr>
          <p:cNvSpPr txBox="1"/>
          <p:nvPr/>
        </p:nvSpPr>
        <p:spPr>
          <a:xfrm>
            <a:off x="13286774" y="5072554"/>
            <a:ext cx="3685681" cy="396201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1F1F1F"/>
              </a:buClr>
              <a:buFont typeface="Arial"/>
              <a:buChar char="●"/>
            </a:pP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항상 팀 프로젝트로 진행하다가 일정상 </a:t>
            </a:r>
            <a:r>
              <a:rPr lang="ko-KR" altLang="en-US" sz="2200" dirty="0" err="1">
                <a:solidFill>
                  <a:srgbClr val="1F1F1F"/>
                </a:solidFill>
                <a:ea typeface="Pretendard Regular"/>
              </a:rPr>
              <a:t>혼자하게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 되었는데</a:t>
            </a:r>
            <a:r>
              <a:rPr lang="en-US" altLang="ko-KR" sz="2200" dirty="0">
                <a:solidFill>
                  <a:srgbClr val="1F1F1F"/>
                </a:solidFill>
                <a:ea typeface="Pretendard Regular"/>
              </a:rPr>
              <a:t>,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 </a:t>
            </a:r>
            <a:r>
              <a:rPr lang="en-US" altLang="ko-KR" sz="2200" dirty="0">
                <a:solidFill>
                  <a:srgbClr val="1F1F1F"/>
                </a:solidFill>
                <a:ea typeface="Pretendard Regular"/>
              </a:rPr>
              <a:t>EDA 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및 분석 방향 설정에 오랜 시간이 소요되었음</a:t>
            </a:r>
            <a:endParaRPr lang="en-US" altLang="ko-KR" sz="2200" dirty="0">
              <a:solidFill>
                <a:srgbClr val="1F1F1F"/>
              </a:solidFill>
              <a:ea typeface="Pretendard Regular"/>
            </a:endParaRPr>
          </a:p>
          <a:p>
            <a:pPr marL="342900" lvl="0" indent="-342900" algn="l">
              <a:lnSpc>
                <a:spcPct val="124499"/>
              </a:lnSpc>
              <a:buClr>
                <a:srgbClr val="1F1F1F"/>
              </a:buClr>
              <a:buFont typeface="Arial"/>
              <a:buChar char="●"/>
            </a:pP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관측 데이터 범위가 인과 관계 검증에는 한계가 있어 일부 결과는 해석 의존적이었던 것 같음</a:t>
            </a:r>
            <a:r>
              <a:rPr lang="en-US" altLang="ko-KR" sz="2200" dirty="0">
                <a:solidFill>
                  <a:srgbClr val="1F1F1F"/>
                </a:solidFill>
                <a:ea typeface="Pretendard Regular"/>
              </a:rPr>
              <a:t>.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  </a:t>
            </a:r>
            <a:endParaRPr lang="en-US" altLang="ko-KR" sz="2200" dirty="0">
              <a:solidFill>
                <a:srgbClr val="1F1F1F"/>
              </a:solidFill>
              <a:ea typeface="Pretendard Regular"/>
            </a:endParaRPr>
          </a:p>
          <a:p>
            <a:pPr marL="342900" lvl="0" indent="-342900" algn="l">
              <a:lnSpc>
                <a:spcPct val="124499"/>
              </a:lnSpc>
              <a:buClr>
                <a:srgbClr val="1F1F1F"/>
              </a:buClr>
              <a:buFont typeface="Arial"/>
              <a:buChar char="●"/>
            </a:pP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본 데이터셋에서 </a:t>
            </a:r>
            <a:r>
              <a:rPr lang="en-US" altLang="ko-KR" sz="2200" dirty="0">
                <a:solidFill>
                  <a:srgbClr val="1F1F1F"/>
                </a:solidFill>
                <a:ea typeface="Pretendard Regular"/>
              </a:rPr>
              <a:t>K-means,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 클러스터링</a:t>
            </a:r>
            <a:r>
              <a:rPr lang="en-US" altLang="ko-KR" sz="2200" dirty="0">
                <a:solidFill>
                  <a:srgbClr val="1F1F1F"/>
                </a:solidFill>
                <a:ea typeface="Pretendard Regular"/>
              </a:rPr>
              <a:t>,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 고성능 모델링 등 다양한 방법을 다 실습해보지는 못 했음 </a:t>
            </a:r>
            <a:endParaRPr lang="en-US" altLang="ko-KR" sz="2200" dirty="0">
              <a:solidFill>
                <a:srgbClr val="1F1F1F"/>
              </a:solidFill>
              <a:ea typeface="Pretendard Regular"/>
            </a:endParaRP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73AF7176-1D2C-D1C3-AE03-454E27CD8F55}"/>
              </a:ext>
            </a:extLst>
          </p:cNvPr>
          <p:cNvSpPr txBox="1"/>
          <p:nvPr/>
        </p:nvSpPr>
        <p:spPr>
          <a:xfrm>
            <a:off x="19237711" y="2906821"/>
            <a:ext cx="3404317" cy="5508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3200" dirty="0">
                <a:solidFill>
                  <a:srgbClr val="1F1F1F"/>
                </a:solidFill>
                <a:ea typeface="Pretendard SemiBold"/>
              </a:rPr>
              <a:t>JSON</a:t>
            </a:r>
            <a:r>
              <a:rPr lang="ko-KR" altLang="en-US" sz="3200" dirty="0">
                <a:solidFill>
                  <a:srgbClr val="1F1F1F"/>
                </a:solidFill>
                <a:ea typeface="Pretendard SemiBold"/>
              </a:rPr>
              <a:t> 데이터셋</a:t>
            </a:r>
            <a:r>
              <a:rPr lang="en-US" altLang="ko-KR" sz="3200" dirty="0">
                <a:solidFill>
                  <a:srgbClr val="1F1F1F"/>
                </a:solidFill>
                <a:ea typeface="Pretendard SemiBold"/>
              </a:rPr>
              <a:t> </a:t>
            </a:r>
            <a:r>
              <a:rPr lang="ko-KR" altLang="en-US" sz="3200" dirty="0">
                <a:solidFill>
                  <a:srgbClr val="1F1F1F"/>
                </a:solidFill>
                <a:ea typeface="Pretendard SemiBold"/>
              </a:rPr>
              <a:t>연습 </a:t>
            </a:r>
            <a:endParaRPr lang="ko-KR" sz="3200" b="0" i="0" u="none" strike="noStrike" dirty="0">
              <a:solidFill>
                <a:srgbClr val="1F1F1F"/>
              </a:solidFill>
              <a:ea typeface="Pretendard SemiBold"/>
            </a:endParaRP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757FF3D9-59A2-E050-AD47-FEE8F30BA25C}"/>
              </a:ext>
            </a:extLst>
          </p:cNvPr>
          <p:cNvSpPr txBox="1"/>
          <p:nvPr/>
        </p:nvSpPr>
        <p:spPr>
          <a:xfrm>
            <a:off x="19051953" y="3536736"/>
            <a:ext cx="3685681" cy="396201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1F1F1F"/>
              </a:buClr>
              <a:buFont typeface="Arial"/>
              <a:buChar char="●"/>
            </a:pPr>
            <a:r>
              <a:rPr lang="ko-KR" altLang="en-US" sz="2200" b="0" i="0" u="none" strike="noStrike" dirty="0">
                <a:solidFill>
                  <a:srgbClr val="1F1F1F"/>
                </a:solidFill>
                <a:ea typeface="Pretendard Regular"/>
              </a:rPr>
              <a:t>다양한 </a:t>
            </a:r>
            <a:r>
              <a:rPr lang="en-US" altLang="ko-KR" sz="2200" b="0" i="0" u="none" strike="noStrike" dirty="0">
                <a:solidFill>
                  <a:srgbClr val="1F1F1F"/>
                </a:solidFill>
                <a:ea typeface="Pretendard Regular"/>
              </a:rPr>
              <a:t>nested JSON -&gt; </a:t>
            </a:r>
            <a:r>
              <a:rPr lang="en-US" altLang="ko-KR" sz="2200" b="0" i="0" u="none" strike="noStrike" dirty="0" err="1">
                <a:solidFill>
                  <a:srgbClr val="1F1F1F"/>
                </a:solidFill>
                <a:ea typeface="Pretendard Regular"/>
              </a:rPr>
              <a:t>tablular</a:t>
            </a:r>
            <a:r>
              <a:rPr lang="en-US" altLang="ko-KR" sz="2200" b="0" i="0" u="none" strike="noStrike" dirty="0">
                <a:solidFill>
                  <a:srgbClr val="1F1F1F"/>
                </a:solidFill>
                <a:ea typeface="Pretendard Regular"/>
              </a:rPr>
              <a:t> </a:t>
            </a:r>
            <a:r>
              <a:rPr lang="ko-KR" altLang="en-US" sz="2200" b="0" i="0" u="none" strike="noStrike" dirty="0">
                <a:solidFill>
                  <a:srgbClr val="1F1F1F"/>
                </a:solidFill>
                <a:ea typeface="Pretendard Regular"/>
              </a:rPr>
              <a:t>변환 경험을 통해 </a:t>
            </a:r>
            <a:r>
              <a:rPr lang="ko-KR" altLang="en-US" sz="2200" b="0" i="0" u="none" strike="noStrike" dirty="0" err="1">
                <a:solidFill>
                  <a:srgbClr val="1F1F1F"/>
                </a:solidFill>
                <a:ea typeface="Pretendard Regular"/>
              </a:rPr>
              <a:t>전처리</a:t>
            </a:r>
            <a:r>
              <a:rPr lang="ko-KR" altLang="en-US" sz="2200" b="0" i="0" u="none" strike="noStrike" dirty="0">
                <a:solidFill>
                  <a:srgbClr val="1F1F1F"/>
                </a:solidFill>
                <a:ea typeface="Pretendard Regular"/>
              </a:rPr>
              <a:t> 속도를 개선하면 좋겠음</a:t>
            </a:r>
            <a:endParaRPr lang="en-US" altLang="ko-KR" sz="2200" b="0" i="0" u="none" strike="noStrike" dirty="0">
              <a:solidFill>
                <a:srgbClr val="1F1F1F"/>
              </a:solidFill>
              <a:ea typeface="Pretendard Regular"/>
            </a:endParaRPr>
          </a:p>
          <a:p>
            <a:pPr marL="342900" lvl="0" indent="-342900" algn="l">
              <a:lnSpc>
                <a:spcPct val="124499"/>
              </a:lnSpc>
              <a:buClr>
                <a:srgbClr val="1F1F1F"/>
              </a:buClr>
              <a:buFont typeface="Arial"/>
              <a:buChar char="●"/>
            </a:pP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분석 목적 기반 기법 선택에 대한 부분을 초반에 세팅하는 것이 필요해 보임</a:t>
            </a:r>
            <a:endParaRPr lang="en-US" altLang="ko-KR" sz="2200" dirty="0">
              <a:solidFill>
                <a:srgbClr val="1F1F1F"/>
              </a:solidFill>
              <a:ea typeface="Pretendard Regular"/>
            </a:endParaRPr>
          </a:p>
          <a:p>
            <a:pPr marL="342900" lvl="0" indent="-342900" algn="l">
              <a:lnSpc>
                <a:spcPct val="124499"/>
              </a:lnSpc>
              <a:buClr>
                <a:srgbClr val="1F1F1F"/>
              </a:buClr>
              <a:buFont typeface="Arial"/>
              <a:buChar char="●"/>
            </a:pPr>
            <a:r>
              <a:rPr lang="ko-KR" altLang="en-US" sz="2200" dirty="0" err="1">
                <a:solidFill>
                  <a:srgbClr val="1F1F1F"/>
                </a:solidFill>
                <a:ea typeface="Pretendard Regular"/>
              </a:rPr>
              <a:t>오퍼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 조건별 </a:t>
            </a:r>
            <a:r>
              <a:rPr lang="en-US" altLang="ko-KR" sz="2200" dirty="0">
                <a:solidFill>
                  <a:srgbClr val="1F1F1F"/>
                </a:solidFill>
                <a:ea typeface="Pretendard Regular"/>
              </a:rPr>
              <a:t>A/B </a:t>
            </a:r>
            <a:r>
              <a:rPr lang="ko-KR" altLang="en-US" sz="2200" dirty="0">
                <a:solidFill>
                  <a:srgbClr val="1F1F1F"/>
                </a:solidFill>
                <a:ea typeface="Pretendard Regular"/>
              </a:rPr>
              <a:t>테스트로 분석 결과를 실제 개선으로 검증하는 단계까지 확장 기획하는 연습 필요</a:t>
            </a:r>
            <a:endParaRPr lang="en-US" altLang="ko-KR" sz="2200" dirty="0">
              <a:solidFill>
                <a:srgbClr val="1F1F1F"/>
              </a:solidFill>
              <a:ea typeface="Pretendard Regular"/>
            </a:endParaRPr>
          </a:p>
        </p:txBody>
      </p:sp>
      <p:sp>
        <p:nvSpPr>
          <p:cNvPr id="31" name="슬라이드 번호 개체 틀 5">
            <a:extLst>
              <a:ext uri="{FF2B5EF4-FFF2-40B4-BE49-F238E27FC236}">
                <a16:creationId xmlns:a16="http://schemas.microsoft.com/office/drawing/2014/main" id="{33AF20C9-2100-D89C-BCB4-A40959749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5101" y="7689325"/>
            <a:ext cx="2287373" cy="42806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1041400"/>
            <a:ext cx="24587200" cy="12750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153400" y="7302500"/>
            <a:ext cx="8064500" cy="749300"/>
          </a:xfrm>
          <a:prstGeom prst="rect">
            <a:avLst/>
          </a:prstGeom>
        </p:spPr>
        <p:txBody>
          <a:bodyPr lIns="0" tIns="11007" rIns="0" bIns="11007" rtlCol="0" anchor="ctr"/>
          <a:lstStyle/>
          <a:p>
            <a:pPr lvl="0" algn="ctr">
              <a:lnSpc>
                <a:spcPct val="112050"/>
              </a:lnSpc>
            </a:pPr>
            <a:r>
              <a:rPr lang="en-US" sz="3466" b="0" i="0" u="none" strike="noStrike">
                <a:solidFill>
                  <a:srgbClr val="F3F1ED"/>
                </a:solidFill>
                <a:latin typeface="Martel Bold"/>
                <a:ea typeface="Martel Bold"/>
                <a:cs typeface="Martel Bold"/>
              </a:rPr>
              <a:t>Thank you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8900" y="5194300"/>
            <a:ext cx="22136100" cy="19939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112050"/>
              </a:lnSpc>
            </a:pPr>
            <a:r>
              <a:rPr lang="en-US" sz="11200" b="0" i="0" u="none" strike="noStrike">
                <a:solidFill>
                  <a:srgbClr val="F3F1ED"/>
                </a:solidFill>
                <a:latin typeface="Pretendard Bold"/>
                <a:ea typeface="Pretendard Bold"/>
                <a:cs typeface="Pretendard Bold"/>
              </a:rPr>
              <a:t>감사합니다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6300" y="317500"/>
            <a:ext cx="40513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l">
              <a:lnSpc>
                <a:spcPct val="112050"/>
              </a:lnSpc>
            </a:pPr>
            <a:r>
              <a:rPr lang="en-US" sz="2400" b="0" i="0" u="none" strike="noStrike">
                <a:solidFill>
                  <a:srgbClr val="801A00"/>
                </a:solidFill>
                <a:latin typeface="Pretendard SemiBold"/>
                <a:ea typeface="Pretendard SemiBold"/>
                <a:cs typeface="Pretendard SemiBold"/>
              </a:rPr>
              <a:t>MIRI Company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593300" y="317500"/>
            <a:ext cx="1282700" cy="431800"/>
          </a:xfrm>
          <a:prstGeom prst="rect">
            <a:avLst/>
          </a:prstGeom>
        </p:spPr>
        <p:txBody>
          <a:bodyPr lIns="0" tIns="7620" rIns="0" bIns="7620" rtlCol="0" anchor="ctr"/>
          <a:lstStyle/>
          <a:p>
            <a:pPr lvl="0" algn="r">
              <a:lnSpc>
                <a:spcPct val="112050"/>
              </a:lnSpc>
            </a:pPr>
            <a:r>
              <a:rPr lang="en-US" sz="2400" b="0" i="0" u="none" strike="noStrike">
                <a:solidFill>
                  <a:srgbClr val="801A00"/>
                </a:solidFill>
                <a:latin typeface="Pretendard Medium"/>
                <a:ea typeface="Pretendard Medium"/>
                <a:cs typeface="Pretendard Medium"/>
              </a:rPr>
              <a:t>FIN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2502</Words>
  <Application>Microsoft Macintosh PowerPoint</Application>
  <PresentationFormat>사용자 지정</PresentationFormat>
  <Paragraphs>346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31" baseType="lpstr">
      <vt:lpstr>Pretendard Medium</vt:lpstr>
      <vt:lpstr>Martel Light</vt:lpstr>
      <vt:lpstr>Pretendard Bold</vt:lpstr>
      <vt:lpstr>맑은 고딕</vt:lpstr>
      <vt:lpstr>Pretendard</vt:lpstr>
      <vt:lpstr>NanumGothic</vt:lpstr>
      <vt:lpstr>Calibri</vt:lpstr>
      <vt:lpstr>Wingdings</vt:lpstr>
      <vt:lpstr>Pretendard Regular</vt:lpstr>
      <vt:lpstr>Martel DemiBold</vt:lpstr>
      <vt:lpstr>Pretendard SemiBold</vt:lpstr>
      <vt:lpstr>Martel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Ui-jin park</cp:lastModifiedBy>
  <cp:revision>49</cp:revision>
  <dcterms:created xsi:type="dcterms:W3CDTF">2006-08-16T00:00:00Z</dcterms:created>
  <dcterms:modified xsi:type="dcterms:W3CDTF">2026-02-10T02:14:49Z</dcterms:modified>
</cp:coreProperties>
</file>