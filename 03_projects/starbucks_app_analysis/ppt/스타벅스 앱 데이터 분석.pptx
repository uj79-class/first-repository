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85"/>
    <p:restoredTop sz="94737"/>
  </p:normalViewPr>
  <p:slideViewPr>
    <p:cSldViewPr snapToGrid="0">
      <p:cViewPr varScale="1">
        <p:scale>
          <a:sx n="137" d="100"/>
          <a:sy n="137" d="100"/>
        </p:scale>
        <p:origin x="560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DF7CE-93E1-2D0E-438C-3B6364FB6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A012D78-30F1-D5DE-E201-7465877B0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618C3D-C7B8-088C-C496-5AED7B65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3FF0-8B0E-3648-B795-B2284E230262}" type="datetimeFigureOut">
              <a:rPr kumimoji="1" lang="ko-KR" altLang="en-US" smtClean="0"/>
              <a:t>2026. 2. 6.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5AA504-8F88-3EB1-A859-6F697375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4F6EC9-1655-863C-5294-A6D49C72A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EDE6-F00B-4F46-A050-63CF99AB6CB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69475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9221CB-5C37-5E00-387A-49F2D2792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12C6D2-52EE-8E45-0C07-BA2636536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D20BFA-3545-516E-9A0B-9700D2DF2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3FF0-8B0E-3648-B795-B2284E230262}" type="datetimeFigureOut">
              <a:rPr kumimoji="1" lang="ko-KR" altLang="en-US" smtClean="0"/>
              <a:t>2026. 2. 6.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DB3AAF-516A-D6AA-812E-FA3DCE66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EA99FA-CEB3-ACF0-1CBE-437915E2E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EDE6-F00B-4F46-A050-63CF99AB6CB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34656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39EFA-BD5C-1BA6-FAB1-EAB1A9AB5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7B500E-CE20-7B77-97AF-91BACFE5D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B96CAB-7ECC-5BA1-8815-5AD6B0188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3FF0-8B0E-3648-B795-B2284E230262}" type="datetimeFigureOut">
              <a:rPr kumimoji="1" lang="ko-KR" altLang="en-US" smtClean="0"/>
              <a:t>2026. 2. 6.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60BDA2-B87A-02A0-A616-49E7D5DC7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ABAA17-5FD2-0840-D275-BA4EF9886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EDE6-F00B-4F46-A050-63CF99AB6CB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18269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236652-9FF2-18F5-FBE3-59F778AAC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5634BA-2C42-3297-13D2-7AB54405A8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A5B3C0-E2FC-43ED-AE2B-6B7CB420F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E4F721-9C50-6963-99B9-FD5AAC5E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3FF0-8B0E-3648-B795-B2284E230262}" type="datetimeFigureOut">
              <a:rPr kumimoji="1" lang="ko-KR" altLang="en-US" smtClean="0"/>
              <a:t>2026. 2. 6.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C7E05F-A3DC-9920-7BBF-3BFA86393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7AAA58-9B55-DB89-A596-E3549300F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EDE6-F00B-4F46-A050-63CF99AB6CB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7823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2CBC9-9F21-802B-AD9D-02F3BA494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FCDCA2-B625-F92D-63CC-097976EDE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7B226C-DBBD-96D8-4647-C1024CDDD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369274E-F4D1-8AFD-4AA5-9D5D0C301A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1A86A9-C64F-8E5F-C2F5-ED0A73F28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5FE6494-6EC4-39AB-2D8C-5C9BA47BB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3FF0-8B0E-3648-B795-B2284E230262}" type="datetimeFigureOut">
              <a:rPr kumimoji="1" lang="ko-KR" altLang="en-US" smtClean="0"/>
              <a:t>2026. 2. 6.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7EBB0F-0A57-E89B-8FFA-4772E7200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18E13EC-1C07-7830-3BFE-BA3613D35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EDE6-F00B-4F46-A050-63CF99AB6CB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98138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241FA5-EEC6-95CB-21DC-CECF6031D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B2E7935-DF0B-8662-00E4-60238857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3FF0-8B0E-3648-B795-B2284E230262}" type="datetimeFigureOut">
              <a:rPr kumimoji="1" lang="ko-KR" altLang="en-US" smtClean="0"/>
              <a:t>2026. 2. 6.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EDD5D5-26B4-1A55-53F5-FB2336980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99F7B7-86D1-0BC8-71D7-136736E43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EDE6-F00B-4F46-A050-63CF99AB6CB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2462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CEFC40B-F480-38DB-7090-7DC1FD326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3FF0-8B0E-3648-B795-B2284E230262}" type="datetimeFigureOut">
              <a:rPr kumimoji="1" lang="ko-KR" altLang="en-US" smtClean="0"/>
              <a:t>2026. 2. 6.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365DF66-4DCB-9DB9-AF73-571995665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A05A4C-83A9-9BD9-0BAD-E0179D1A2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EDE6-F00B-4F46-A050-63CF99AB6CB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953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B75039-9180-91A5-2F4A-A5C9A4DF2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21B5E6-A40B-3895-2BD5-41ECF3C6C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91A500-BC1C-8CF2-1175-991E958FC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FB75A8-F989-D001-F301-F88323D7D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3FF0-8B0E-3648-B795-B2284E230262}" type="datetimeFigureOut">
              <a:rPr kumimoji="1" lang="ko-KR" altLang="en-US" smtClean="0"/>
              <a:t>2026. 2. 6.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F714D7-AB56-C1DC-B8DF-0D53015AF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4790EE-850E-D914-402E-8046B4DEB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EDE6-F00B-4F46-A050-63CF99AB6CB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5972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7B5FD-53E9-DE83-BFBA-A6977918B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3A4D1D1-9A27-EB62-5CA0-3A1937BE40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426803-CF6D-16DB-9297-0711DE9DD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50F6A3-BFA0-293C-96AA-AC943A1EC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3FF0-8B0E-3648-B795-B2284E230262}" type="datetimeFigureOut">
              <a:rPr kumimoji="1" lang="ko-KR" altLang="en-US" smtClean="0"/>
              <a:t>2026. 2. 6.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06F65D-F702-4122-A402-1AC3C470D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4DE292-AFF4-3657-6DBF-B1BFC6D3C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EDE6-F00B-4F46-A050-63CF99AB6CB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6552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BF5CB2-CC15-DE51-EE59-A659385C4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A51A6B-68BA-6923-75B6-A46FC6BCF1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C660B5-D1B7-9E3F-D003-D3352859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3FF0-8B0E-3648-B795-B2284E230262}" type="datetimeFigureOut">
              <a:rPr kumimoji="1" lang="ko-KR" altLang="en-US" smtClean="0"/>
              <a:t>2026. 2. 6.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E9B8C6-52DC-918B-41DB-5AB76063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5EC63C-7428-B50F-53E7-1294EA7C5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EDE6-F00B-4F46-A050-63CF99AB6CB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7447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ECCE36A-4151-D600-419A-086CA4ECE6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CF35DB-1E54-9380-531A-F4200CD1A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812F0F-188B-788D-2C34-6639DB013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3FF0-8B0E-3648-B795-B2284E230262}" type="datetimeFigureOut">
              <a:rPr kumimoji="1" lang="ko-KR" altLang="en-US" smtClean="0"/>
              <a:t>2026. 2. 6.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246813-C326-3772-AD0E-53F006A09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EACBDA-AA22-8BEB-5A31-66C5107FE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EDE6-F00B-4F46-A050-63CF99AB6CB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3751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E558A7D-46C5-8AA8-7253-F9BFABA8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B07ECD-EC23-3AA8-213D-FEFF5EF85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42D96C-9FAA-5D95-E2E4-1E33D693A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FE3FF0-8B0E-3648-B795-B2284E230262}" type="datetimeFigureOut">
              <a:rPr kumimoji="1" lang="ko-KR" altLang="en-US" smtClean="0"/>
              <a:t>2026. 2. 6.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0FABEA-0895-9BA7-1474-EAB3AE715D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A67AEB-7121-C09F-0500-53A31094C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A9EDE6-F00B-4F46-A050-63CF99AB6CB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95997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5D86D1-F0CA-7F2E-6C2B-7CF352FB2DF1}"/>
              </a:ext>
            </a:extLst>
          </p:cNvPr>
          <p:cNvSpPr txBox="1"/>
          <p:nvPr/>
        </p:nvSpPr>
        <p:spPr>
          <a:xfrm>
            <a:off x="3048000" y="255174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본 분석의 목적은</a:t>
            </a:r>
          </a:p>
          <a:p>
            <a:pPr>
              <a:buNone/>
            </a:pPr>
            <a:r>
              <a:rPr lang="ko-KR" altLang="en-US" dirty="0" err="1">
                <a:solidFill>
                  <a:srgbClr val="0E0E0E"/>
                </a:solidFill>
                <a:effectLst/>
                <a:latin typeface=".AppleSystemUIFont"/>
              </a:rPr>
              <a:t>오퍼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 성공률을 단순히 높이는 것이 아니라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,</a:t>
            </a:r>
          </a:p>
          <a:p>
            <a:pPr>
              <a:buNone/>
            </a:pPr>
            <a:r>
              <a:rPr lang="ko-KR" altLang="en-US" b="1" dirty="0" err="1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오퍼가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 실제로 구매 행동에 영향을 주는 조건을 식별하고</a:t>
            </a:r>
            <a:endParaRPr lang="ko-KR" altLang="en-US" dirty="0">
              <a:solidFill>
                <a:srgbClr val="0E0E0E"/>
              </a:solidFill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ko-KR" altLang="en-US" b="1" dirty="0" err="1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오퍼가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 불필요하게 사용되는 구간을 제거하는 데 있다</a:t>
            </a:r>
            <a:r>
              <a:rPr lang="en-US" altLang="ko-KR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.</a:t>
            </a:r>
            <a:endParaRPr lang="ko-KR" altLang="en-US" dirty="0">
              <a:solidFill>
                <a:srgbClr val="0E0E0E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5D3B07-AAEE-59E8-143D-729FEC42FE15}"/>
              </a:ext>
            </a:extLst>
          </p:cNvPr>
          <p:cNvSpPr txBox="1"/>
          <p:nvPr/>
        </p:nvSpPr>
        <p:spPr>
          <a:xfrm>
            <a:off x="1080370" y="4938479"/>
            <a:ext cx="6093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altLang="ko-KR" b="1" dirty="0">
              <a:solidFill>
                <a:srgbClr val="0E0E0E"/>
              </a:solidFill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ko-KR" altLang="en-US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“</a:t>
            </a:r>
            <a:r>
              <a:rPr lang="ko-KR" altLang="en-US" b="1" dirty="0" err="1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오퍼는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 언제 효과적인가</a:t>
            </a:r>
            <a:r>
              <a:rPr lang="en-US" altLang="ko-KR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언제는 불필요한가</a:t>
            </a:r>
            <a:r>
              <a:rPr lang="en-US" altLang="ko-KR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?”</a:t>
            </a:r>
            <a:endParaRPr lang="ko-KR" altLang="en-US" dirty="0">
              <a:solidFill>
                <a:srgbClr val="0E0E0E"/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248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7B5971-C911-43E5-3297-75C79242C343}"/>
              </a:ext>
            </a:extLst>
          </p:cNvPr>
          <p:cNvSpPr txBox="1"/>
          <p:nvPr/>
        </p:nvSpPr>
        <p:spPr>
          <a:xfrm>
            <a:off x="3048000" y="1795128"/>
            <a:ext cx="609600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"/>
              </a:spcAft>
              <a:buNone/>
            </a:pPr>
            <a:r>
              <a:rPr lang="en" altLang="ko-KR" b="1" i="0" dirty="0">
                <a:solidFill>
                  <a:srgbClr val="2C2C2B"/>
                </a:solidFill>
                <a:effectLst/>
                <a:latin typeface="ui-sans-serif"/>
              </a:rPr>
              <a:t>STEP 0. </a:t>
            </a:r>
            <a:r>
              <a:rPr lang="ko-KR" altLang="en-US" b="1" i="0" dirty="0">
                <a:solidFill>
                  <a:srgbClr val="2C2C2B"/>
                </a:solidFill>
                <a:effectLst/>
                <a:latin typeface="ui-sans-serif"/>
              </a:rPr>
              <a:t>문제 정의 </a:t>
            </a:r>
            <a:r>
              <a:rPr lang="en-US" altLang="ko-KR" b="1" i="0" dirty="0">
                <a:solidFill>
                  <a:srgbClr val="2C2C2B"/>
                </a:solidFill>
                <a:effectLst/>
                <a:latin typeface="ui-sans-serif"/>
              </a:rPr>
              <a:t>&amp; </a:t>
            </a:r>
            <a:r>
              <a:rPr lang="ko-KR" altLang="en-US" b="1" i="0" dirty="0">
                <a:solidFill>
                  <a:srgbClr val="2C2C2B"/>
                </a:solidFill>
                <a:effectLst/>
                <a:latin typeface="ui-sans-serif"/>
              </a:rPr>
              <a:t>분석 설계</a:t>
            </a:r>
          </a:p>
          <a:p>
            <a:pPr algn="l">
              <a:spcAft>
                <a:spcPts val="75"/>
              </a:spcAft>
              <a:buNone/>
            </a:pPr>
            <a:r>
              <a:rPr lang="ko-KR" altLang="en-US" b="1" i="0" dirty="0">
                <a:solidFill>
                  <a:srgbClr val="2C2C2B"/>
                </a:solidFill>
                <a:effectLst/>
                <a:latin typeface="ui-sans-serif"/>
              </a:rPr>
              <a:t>목표</a:t>
            </a:r>
          </a:p>
          <a:p>
            <a:pPr algn="l">
              <a:spcBef>
                <a:spcPts val="75"/>
              </a:spcBef>
              <a:spcAft>
                <a:spcPts val="75"/>
              </a:spcAft>
              <a:buNone/>
            </a:pPr>
            <a:r>
              <a:rPr lang="ko-KR" altLang="en-US" b="0" i="0" dirty="0">
                <a:solidFill>
                  <a:srgbClr val="2C2C2B"/>
                </a:solidFill>
                <a:effectLst/>
                <a:latin typeface="ui-sans-serif"/>
              </a:rPr>
              <a:t>스타벅스 앱 </a:t>
            </a:r>
            <a:r>
              <a:rPr lang="ko-KR" altLang="en-US" b="0" i="0" dirty="0" err="1">
                <a:solidFill>
                  <a:srgbClr val="2C2C2B"/>
                </a:solidFill>
                <a:effectLst/>
                <a:latin typeface="ui-sans-serif"/>
              </a:rPr>
              <a:t>오퍼</a:t>
            </a:r>
            <a:r>
              <a:rPr lang="ko-KR" altLang="en-US" b="0" i="0" dirty="0">
                <a:solidFill>
                  <a:srgbClr val="2C2C2B"/>
                </a:solidFill>
                <a:effectLst/>
                <a:latin typeface="ui-sans-serif"/>
              </a:rPr>
              <a:t> </a:t>
            </a:r>
            <a:r>
              <a:rPr lang="ko-KR" altLang="en-US" b="0" i="0" dirty="0" err="1">
                <a:solidFill>
                  <a:srgbClr val="2C2C2B"/>
                </a:solidFill>
                <a:effectLst/>
                <a:latin typeface="ui-sans-serif"/>
              </a:rPr>
              <a:t>반응률이</a:t>
            </a:r>
            <a:r>
              <a:rPr lang="ko-KR" altLang="en-US" b="0" i="0" dirty="0">
                <a:solidFill>
                  <a:srgbClr val="2C2C2B"/>
                </a:solidFill>
                <a:effectLst/>
                <a:latin typeface="ui-sans-serif"/>
              </a:rPr>
              <a:t> 낮은 원인을 구조적으로 규명한다</a:t>
            </a:r>
            <a:r>
              <a:rPr lang="en-US" altLang="ko-KR" b="0" i="0" dirty="0">
                <a:solidFill>
                  <a:srgbClr val="2C2C2B"/>
                </a:solidFill>
                <a:effectLst/>
                <a:latin typeface="ui-sans-serif"/>
              </a:rPr>
              <a:t>.</a:t>
            </a:r>
          </a:p>
          <a:p>
            <a:pPr algn="l">
              <a:spcBef>
                <a:spcPts val="75"/>
              </a:spcBef>
              <a:spcAft>
                <a:spcPts val="75"/>
              </a:spcAft>
              <a:buNone/>
            </a:pPr>
            <a:r>
              <a:rPr lang="ko-KR" altLang="en-US" b="0" i="0" dirty="0">
                <a:solidFill>
                  <a:srgbClr val="2C2C2B"/>
                </a:solidFill>
                <a:effectLst/>
                <a:latin typeface="ui-sans-serif"/>
              </a:rPr>
              <a:t>단순 집계가 아닌 </a:t>
            </a:r>
            <a:r>
              <a:rPr lang="ko-KR" altLang="en-US" b="1" i="0" dirty="0">
                <a:solidFill>
                  <a:srgbClr val="2C2C2B"/>
                </a:solidFill>
                <a:effectLst/>
                <a:latin typeface="ui-sans-serif"/>
              </a:rPr>
              <a:t>실행 가능한 인사이트</a:t>
            </a:r>
            <a:r>
              <a:rPr lang="ko-KR" altLang="en-US" b="0" i="0" dirty="0">
                <a:solidFill>
                  <a:srgbClr val="2C2C2B"/>
                </a:solidFill>
                <a:effectLst/>
                <a:latin typeface="ui-sans-serif"/>
              </a:rPr>
              <a:t>를 도출한다</a:t>
            </a:r>
            <a:r>
              <a:rPr lang="en-US" altLang="ko-KR" b="0" i="0" dirty="0">
                <a:solidFill>
                  <a:srgbClr val="2C2C2B"/>
                </a:solidFill>
                <a:effectLst/>
                <a:latin typeface="ui-sans-serif"/>
              </a:rPr>
              <a:t>.</a:t>
            </a:r>
          </a:p>
          <a:p>
            <a:pPr algn="l">
              <a:spcAft>
                <a:spcPts val="75"/>
              </a:spcAft>
              <a:buNone/>
            </a:pPr>
            <a:r>
              <a:rPr lang="ko-KR" altLang="en-US" b="1" i="0" dirty="0">
                <a:solidFill>
                  <a:srgbClr val="2C2C2B"/>
                </a:solidFill>
                <a:effectLst/>
                <a:latin typeface="ui-sans-serif"/>
              </a:rPr>
              <a:t>왜 필요한가</a:t>
            </a:r>
          </a:p>
          <a:p>
            <a:pPr algn="l">
              <a:spcBef>
                <a:spcPts val="75"/>
              </a:spcBef>
              <a:spcAft>
                <a:spcPts val="75"/>
              </a:spcAft>
              <a:buNone/>
            </a:pPr>
            <a:r>
              <a:rPr lang="ko-KR" altLang="en-US" b="0" i="0" dirty="0" err="1">
                <a:solidFill>
                  <a:srgbClr val="2C2C2B"/>
                </a:solidFill>
                <a:effectLst/>
                <a:latin typeface="ui-sans-serif"/>
              </a:rPr>
              <a:t>오퍼</a:t>
            </a:r>
            <a:r>
              <a:rPr lang="ko-KR" altLang="en-US" b="0" i="0" dirty="0">
                <a:solidFill>
                  <a:srgbClr val="2C2C2B"/>
                </a:solidFill>
                <a:effectLst/>
                <a:latin typeface="ui-sans-serif"/>
              </a:rPr>
              <a:t> 실패의 원인이 </a:t>
            </a:r>
            <a:endParaRPr lang="en-US" altLang="ko-KR" b="0" i="0" dirty="0">
              <a:solidFill>
                <a:srgbClr val="2C2C2B"/>
              </a:solidFill>
              <a:effectLst/>
              <a:latin typeface="ui-sans-serif"/>
            </a:endParaRPr>
          </a:p>
          <a:p>
            <a:pPr algn="l">
              <a:spcBef>
                <a:spcPts val="75"/>
              </a:spcBef>
              <a:spcAft>
                <a:spcPts val="75"/>
              </a:spcAft>
              <a:buNone/>
            </a:pPr>
            <a:r>
              <a:rPr lang="ko-KR" altLang="en-US" b="0" i="0" dirty="0">
                <a:solidFill>
                  <a:srgbClr val="2C2C2B"/>
                </a:solidFill>
                <a:effectLst/>
                <a:latin typeface="ui-sans-serif"/>
              </a:rPr>
              <a:t>고객문제인가</a:t>
            </a:r>
            <a:r>
              <a:rPr lang="en-US" altLang="ko-KR" b="0" i="0" dirty="0">
                <a:solidFill>
                  <a:srgbClr val="2C2C2B"/>
                </a:solidFill>
                <a:effectLst/>
                <a:latin typeface="ui-sans-serif"/>
              </a:rPr>
              <a:t>?</a:t>
            </a:r>
          </a:p>
          <a:p>
            <a:pPr algn="l">
              <a:spcBef>
                <a:spcPts val="75"/>
              </a:spcBef>
              <a:spcAft>
                <a:spcPts val="75"/>
              </a:spcAft>
              <a:buNone/>
            </a:pPr>
            <a:r>
              <a:rPr lang="ko-KR" altLang="en-US" b="0" i="0" dirty="0" err="1">
                <a:solidFill>
                  <a:srgbClr val="2C2C2B"/>
                </a:solidFill>
                <a:effectLst/>
                <a:latin typeface="ui-sans-serif"/>
              </a:rPr>
              <a:t>오퍼문제인가</a:t>
            </a:r>
            <a:r>
              <a:rPr lang="en-US" altLang="ko-KR" b="0" i="0" dirty="0">
                <a:solidFill>
                  <a:srgbClr val="2C2C2B"/>
                </a:solidFill>
                <a:effectLst/>
                <a:latin typeface="ui-sans-serif"/>
              </a:rPr>
              <a:t>? </a:t>
            </a:r>
            <a:r>
              <a:rPr lang="ko-KR" altLang="en-US" b="0" i="0" dirty="0">
                <a:solidFill>
                  <a:srgbClr val="2C2C2B"/>
                </a:solidFill>
                <a:effectLst/>
                <a:latin typeface="ui-sans-serif"/>
              </a:rPr>
              <a:t> </a:t>
            </a:r>
            <a:endParaRPr lang="en-US" altLang="ko-KR" b="0" i="0" dirty="0">
              <a:solidFill>
                <a:srgbClr val="2C2C2B"/>
              </a:solidFill>
              <a:effectLst/>
              <a:latin typeface="ui-sans-serif"/>
            </a:endParaRPr>
          </a:p>
          <a:p>
            <a:pPr algn="l">
              <a:spcBef>
                <a:spcPts val="75"/>
              </a:spcBef>
              <a:spcAft>
                <a:spcPts val="75"/>
              </a:spcAft>
              <a:buNone/>
            </a:pPr>
            <a:r>
              <a:rPr lang="ko-KR" altLang="en-US" b="0" i="0" dirty="0">
                <a:solidFill>
                  <a:srgbClr val="2C2C2B"/>
                </a:solidFill>
                <a:effectLst/>
                <a:latin typeface="ui-sans-serif"/>
              </a:rPr>
              <a:t>타이밍</a:t>
            </a:r>
            <a:r>
              <a:rPr lang="en-US" altLang="ko-KR" b="0" i="0" dirty="0">
                <a:solidFill>
                  <a:srgbClr val="2C2C2B"/>
                </a:solidFill>
                <a:effectLst/>
                <a:latin typeface="ui-sans-serif"/>
              </a:rPr>
              <a:t>/</a:t>
            </a:r>
            <a:r>
              <a:rPr lang="ko-KR" altLang="en-US" b="0" i="0" dirty="0">
                <a:solidFill>
                  <a:srgbClr val="2C2C2B"/>
                </a:solidFill>
                <a:effectLst/>
                <a:latin typeface="ui-sans-serif"/>
              </a:rPr>
              <a:t>경험 문제인가</a:t>
            </a:r>
            <a:r>
              <a:rPr lang="en-US" altLang="ko-KR" b="0" i="0" dirty="0">
                <a:solidFill>
                  <a:srgbClr val="2C2C2B"/>
                </a:solidFill>
                <a:effectLst/>
                <a:latin typeface="ui-sans-serif"/>
              </a:rPr>
              <a:t>?</a:t>
            </a:r>
            <a:endParaRPr lang="en-US" altLang="ko-KR" dirty="0">
              <a:solidFill>
                <a:srgbClr val="2C2C2B"/>
              </a:solidFill>
              <a:latin typeface="ui-sans-serif"/>
            </a:endParaRPr>
          </a:p>
          <a:p>
            <a:pPr algn="l">
              <a:spcBef>
                <a:spcPts val="75"/>
              </a:spcBef>
              <a:spcAft>
                <a:spcPts val="75"/>
              </a:spcAft>
              <a:buNone/>
            </a:pPr>
            <a:endParaRPr lang="ko-KR" altLang="en-US" b="0" i="0" dirty="0">
              <a:solidFill>
                <a:srgbClr val="2C2C2B"/>
              </a:solidFill>
              <a:effectLst/>
              <a:latin typeface="ui-sans-serif"/>
            </a:endParaRPr>
          </a:p>
          <a:p>
            <a:pPr algn="l">
              <a:spcBef>
                <a:spcPts val="75"/>
              </a:spcBef>
              <a:spcAft>
                <a:spcPts val="75"/>
              </a:spcAft>
              <a:buNone/>
            </a:pPr>
            <a:r>
              <a:rPr lang="ko-KR" altLang="en-US" b="0" i="0" dirty="0">
                <a:solidFill>
                  <a:srgbClr val="2C2C2B"/>
                </a:solidFill>
                <a:effectLst/>
                <a:latin typeface="ui-sans-serif"/>
              </a:rPr>
              <a:t>구매 이전 단계에서의 병목을 먼저 이해할 필요가 있음</a:t>
            </a:r>
          </a:p>
        </p:txBody>
      </p:sp>
    </p:spTree>
    <p:extLst>
      <p:ext uri="{BB962C8B-B14F-4D97-AF65-F5344CB8AC3E}">
        <p14:creationId xmlns:p14="http://schemas.microsoft.com/office/powerpoint/2010/main" val="4236594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BE3461F-E326-81F6-5F53-E0DCA53F1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545" y="362423"/>
            <a:ext cx="6061364" cy="38321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6E1745-EB73-19F1-6C7D-56C32C74714F}"/>
              </a:ext>
            </a:extLst>
          </p:cNvPr>
          <p:cNvSpPr txBox="1"/>
          <p:nvPr/>
        </p:nvSpPr>
        <p:spPr>
          <a:xfrm>
            <a:off x="718158" y="4769192"/>
            <a:ext cx="10943573" cy="1327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ko-KR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전체 행동 로그는 거래</a:t>
            </a:r>
            <a:r>
              <a:rPr lang="en-US" altLang="ko-KR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ko-KR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구매 행동</a:t>
            </a:r>
            <a:r>
              <a:rPr lang="en-US" altLang="ko-KR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ko-KR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와 </a:t>
            </a:r>
            <a:r>
              <a:rPr lang="ko-KR" altLang="en-US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오퍼</a:t>
            </a:r>
            <a:r>
              <a:rPr lang="ko-KR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관련 이벤트</a:t>
            </a:r>
            <a:r>
              <a:rPr lang="en-US" altLang="ko-KR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ko-KR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수신</a:t>
            </a:r>
            <a:r>
              <a:rPr lang="en-US" altLang="ko-KR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ko-KR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조회</a:t>
            </a:r>
            <a:r>
              <a:rPr lang="en-US" altLang="ko-KR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ko-KR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완료 순</a:t>
            </a:r>
            <a:r>
              <a:rPr lang="en-US" altLang="ko-KR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ko-KR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로 구성되어 있다</a:t>
            </a:r>
            <a:r>
              <a:rPr lang="en-US" altLang="ko-KR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ko-KR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이는 스타벅스 앱에서 </a:t>
            </a:r>
            <a:r>
              <a:rPr lang="ko-KR" altLang="en-US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오퍼가</a:t>
            </a:r>
            <a:r>
              <a:rPr lang="ko-KR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단순한 마케팅 수단이 아니라</a:t>
            </a:r>
            <a:r>
              <a:rPr lang="en-US" altLang="ko-KR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ko-KR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사용자 행동 유도 수단임을 알 수 있음</a:t>
            </a:r>
            <a:r>
              <a:rPr lang="en-US" altLang="ko-KR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 (</a:t>
            </a:r>
            <a:r>
              <a:rPr lang="ko-KR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프로덕트 사용 로그에 가까워 보임</a:t>
            </a:r>
            <a:r>
              <a:rPr lang="en-US" altLang="ko-KR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ko-KR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ko-KR" altLang="en-US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오퍼를</a:t>
            </a:r>
            <a:r>
              <a:rPr lang="ko-KR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받는 것 대비 끝까지 완료되는 경우가 </a:t>
            </a:r>
            <a:r>
              <a:rPr lang="ko-KR" altLang="en-US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줄어듬</a:t>
            </a:r>
            <a:r>
              <a:rPr lang="ko-KR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ko-KR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ko-KR" altLang="en-US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오퍼</a:t>
            </a:r>
            <a:r>
              <a:rPr lang="ko-KR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반응 과정에서 이탈이 발생</a:t>
            </a:r>
            <a:r>
              <a:rPr lang="en-US" altLang="ko-KR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ko-KR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따라서 고객의 </a:t>
            </a:r>
            <a:r>
              <a:rPr lang="ko-KR" altLang="en-US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오퍼</a:t>
            </a:r>
            <a:r>
              <a:rPr lang="ko-KR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반응 과정을 단계별 전환율을 분석하는 </a:t>
            </a:r>
            <a:r>
              <a:rPr lang="ko-KR" altLang="en-US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퍼널</a:t>
            </a:r>
            <a:r>
              <a:rPr lang="ko-KR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접근으로 분석하는 것이 필요해 보임</a:t>
            </a:r>
            <a:r>
              <a:rPr lang="en-US" altLang="ko-KR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426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CF880C1-1CA9-A5E5-53DF-D15AC03EC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72" y="804672"/>
            <a:ext cx="5647916" cy="4778330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37F9237-5D53-0483-0093-69266D8B54AB}"/>
              </a:ext>
            </a:extLst>
          </p:cNvPr>
          <p:cNvCxnSpPr/>
          <p:nvPr/>
        </p:nvCxnSpPr>
        <p:spPr>
          <a:xfrm>
            <a:off x="2609385" y="1315844"/>
            <a:ext cx="457200" cy="6133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8629E439-9552-D3A3-B200-380914A01D16}"/>
              </a:ext>
            </a:extLst>
          </p:cNvPr>
          <p:cNvCxnSpPr/>
          <p:nvPr/>
        </p:nvCxnSpPr>
        <p:spPr>
          <a:xfrm>
            <a:off x="4254683" y="2214693"/>
            <a:ext cx="457200" cy="6133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5980CB8-E892-9668-C6FE-C01D8927C2A6}"/>
              </a:ext>
            </a:extLst>
          </p:cNvPr>
          <p:cNvSpPr txBox="1"/>
          <p:nvPr/>
        </p:nvSpPr>
        <p:spPr>
          <a:xfrm>
            <a:off x="2929813" y="1315844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24.3%</a:t>
            </a:r>
            <a:r>
              <a:rPr kumimoji="1" lang="ko-KR" altLang="en-US" dirty="0">
                <a:solidFill>
                  <a:srgbClr val="FF0000"/>
                </a:solidFill>
              </a:rPr>
              <a:t> 감소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46158E-0F7D-20C3-9714-533755463933}"/>
              </a:ext>
            </a:extLst>
          </p:cNvPr>
          <p:cNvSpPr txBox="1"/>
          <p:nvPr/>
        </p:nvSpPr>
        <p:spPr>
          <a:xfrm>
            <a:off x="4372732" y="2214693"/>
            <a:ext cx="143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solidFill>
                  <a:srgbClr val="FF0000"/>
                </a:solidFill>
              </a:rPr>
              <a:t> </a:t>
            </a:r>
            <a:r>
              <a:rPr kumimoji="1" lang="en-US" altLang="ko-KR" dirty="0">
                <a:solidFill>
                  <a:srgbClr val="FF0000"/>
                </a:solidFill>
              </a:rPr>
              <a:t>41.9%</a:t>
            </a:r>
            <a:r>
              <a:rPr kumimoji="1" lang="ko-KR" altLang="en-US" dirty="0">
                <a:solidFill>
                  <a:srgbClr val="FF0000"/>
                </a:solidFill>
              </a:rPr>
              <a:t> 감소</a:t>
            </a:r>
          </a:p>
        </p:txBody>
      </p:sp>
    </p:spTree>
    <p:extLst>
      <p:ext uri="{BB962C8B-B14F-4D97-AF65-F5344CB8AC3E}">
        <p14:creationId xmlns:p14="http://schemas.microsoft.com/office/powerpoint/2010/main" val="3608134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170</Words>
  <Application>Microsoft Macintosh PowerPoint</Application>
  <PresentationFormat>와이드스크린</PresentationFormat>
  <Paragraphs>23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.AppleSystemUIFont</vt:lpstr>
      <vt:lpstr>맑은 고딕</vt:lpstr>
      <vt:lpstr>ui-sans-serif</vt:lpstr>
      <vt:lpstr>Arial</vt:lpstr>
      <vt:lpstr>Helvetica Neue</vt:lpstr>
      <vt:lpstr>Menlo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Ui-jin park</dc:creator>
  <cp:lastModifiedBy>Ui-jin park</cp:lastModifiedBy>
  <cp:revision>1</cp:revision>
  <dcterms:created xsi:type="dcterms:W3CDTF">2026-02-06T09:12:59Z</dcterms:created>
  <dcterms:modified xsi:type="dcterms:W3CDTF">2026-02-06T09:58:55Z</dcterms:modified>
</cp:coreProperties>
</file>