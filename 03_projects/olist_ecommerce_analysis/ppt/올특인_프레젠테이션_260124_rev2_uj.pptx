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75" r:id="rId3"/>
    <p:sldId id="258" r:id="rId4"/>
    <p:sldId id="268" r:id="rId5"/>
    <p:sldId id="269" r:id="rId6"/>
    <p:sldId id="270" r:id="rId7"/>
    <p:sldId id="272" r:id="rId8"/>
    <p:sldId id="273" r:id="rId9"/>
    <p:sldId id="271" r:id="rId10"/>
    <p:sldId id="274" r:id="rId11"/>
    <p:sldId id="259" r:id="rId12"/>
    <p:sldId id="260" r:id="rId13"/>
    <p:sldId id="264" r:id="rId14"/>
    <p:sldId id="266" r:id="rId15"/>
    <p:sldId id="262" r:id="rId16"/>
    <p:sldId id="267" r:id="rId17"/>
    <p:sldId id="257" r:id="rId1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C6B03"/>
    <a:srgbClr val="FFEEB5"/>
    <a:srgbClr val="FFA8E1"/>
    <a:srgbClr val="FF40FF"/>
    <a:srgbClr val="FFCB3C"/>
    <a:srgbClr val="929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6D9F66E-5EB9-4882-86FB-DCBF35E3C3E4}" styleName="보통 스타일 4 - 강조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141"/>
    <p:restoredTop sz="85104"/>
  </p:normalViewPr>
  <p:slideViewPr>
    <p:cSldViewPr snapToGrid="0">
      <p:cViewPr varScale="1">
        <p:scale>
          <a:sx n="78" d="100"/>
          <a:sy n="78" d="100"/>
        </p:scale>
        <p:origin x="184" y="116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CDA1D3-61E8-7A48-9B7B-45B9FAEFC1C3}" type="datetimeFigureOut">
              <a:rPr kumimoji="1" lang="ko-KR" altLang="en-US" smtClean="0"/>
              <a:t>2026. 1. 24.</a:t>
            </a:fld>
            <a:endParaRPr kumimoji="1"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17F9C8-91D1-A042-92E3-7082BD349B97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756347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b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ko-KR" alt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안녕하세요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저는 오늘 발표를 맡은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올특인의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스토리텔러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이윤화 입니다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저희팀명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“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올특인”은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올리스트에 특화된 인사이트를 도출하는 팀이라는 의미에서 지었습니다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본 프로젝트는 아이디어뱅크 역할을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해주신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송현준님과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분석의 방향과 구조를 설계한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박의진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그루님과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함께 수행했습니다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발표에 앞서 올리스트가 어떤 서비스인지 한 문장으로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설명드리겠습니다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👉 </a:t>
            </a:r>
            <a:r>
              <a:rPr lang="ko-KR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올리스트는 판매자가 직접 쇼핑몰을 운영하지 않아도</a:t>
            </a:r>
            <a:r>
              <a:rPr lang="en-US" altLang="ko-K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여러 온라인 마켓에 상품을 노출</a:t>
            </a:r>
            <a:r>
              <a:rPr lang="en-US" altLang="ko-K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·</a:t>
            </a:r>
            <a:r>
              <a:rPr lang="ko-KR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판매할 수 있도록 중개해주는 브라질의 대표적인 </a:t>
            </a:r>
            <a:r>
              <a:rPr lang="ko-KR" alt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이커머스</a:t>
            </a:r>
            <a:r>
              <a:rPr lang="ko-KR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플랫폼입니다</a:t>
            </a:r>
            <a:r>
              <a:rPr lang="en-US" altLang="ko-K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즉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소비자는 하나의 쇼핑 경험을 하지만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 뒤에 존재하는 </a:t>
            </a:r>
            <a:r>
              <a:rPr lang="ko-KR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다양한 셀러와 거래를 연결해주는 플랫폼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이라고 보시면 됩니다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이제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플랫폼의 성격을 이해하신 상태에서 저희 분석의 출발 질문을 보시면 됩니다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왜 올리스트의 고객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97%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는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재구매하지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않을까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?”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일반적으로 이런 수치를 보면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리텐션이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문제라고 생각하고 재구매를 늘리는 방향부터 떠올리게 됩니다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하지만 저희는 분석을 이어가며 결국 질문이 이렇게 바뀌었습니다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떠나는 대다수의 고객에 계속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집중하는게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맞을까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아니면 처음부터 다른 방식으로 소비하는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의미있는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집단에 집중하는 것이 더 합리적일까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발표에서는 브라질의 대표적인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이커머스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중개 플랫폼인 올리스트의 고객 거래 데이터를 기반으로</a:t>
            </a:r>
            <a:endParaRPr lang="en-US" altLang="ko-K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AARRR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관점의 서비스의 성장 구조를 분석하고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최종적으로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고가치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고객 중심의 성장 전략을 제안하고자 합니다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17F9C8-91D1-A042-92E3-7082BD349B97}" type="slidenum">
              <a:rPr kumimoji="1" lang="ko-KR" altLang="en-US" smtClean="0"/>
              <a:t>1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7207255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먼저 올리스트의 전체적인 성과 흐름부터 살펴보겠습니다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왼쪽 그래프는 월별 매출과 구매 고객 수의 추이를 보여줍니다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보시는 것처럼 시간에 따라 매출과 고객 수가 함께 증가하고 있습니다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오른쪽 그래프의 파란색선은 고객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인당 평균 매출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즉 </a:t>
            </a:r>
            <a:r>
              <a:rPr lang="en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ARPU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의 변화입니다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고객 수가 늘어나는 와중에도 </a:t>
            </a:r>
            <a:r>
              <a:rPr lang="en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ARPU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 비교적 높은 수준을 유지하고 있어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고객 가치가 희석되지 않고 있는 것처럼 보입니다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앞에 급락하는 구간은 뒤에 뒤에 하늘색 바로 보이는 표본 규모에서 알 수 있듯이 </a:t>
            </a:r>
            <a:endParaRPr lang="en-US" altLang="ko-K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초기 샘플수가 매우 적었던 시점에서 발생한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변동값으로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해석했습니다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그래서 이 두 지표만 보면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올리스트는 고객 수 증가와 </a:t>
            </a:r>
            <a:endParaRPr lang="en-US" altLang="ko-K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고객당 매출이 동시에 유지되는 매우 건강한 성장 궤적을 그리고 있는 것처럼 보입니다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하지만 여기서 한 가지 질문이 생깁니다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성장은 정말 모든 고객이 고르게 만들어낸 지속 가능한 성장일까요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우리는 이 질문에 답하기 위해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단순한 매출 추이 분석을 넘어 </a:t>
            </a:r>
            <a:endParaRPr lang="en-US" altLang="ko-K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AARRR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프레임워크 관점에서 고객을 세분화해 구조적으로 살펴보는 코호트 분석을 진행했습니다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17F9C8-91D1-A042-92E3-7082BD349B97}" type="slidenum">
              <a:rPr kumimoji="1" lang="ko-KR" altLang="en-US" smtClean="0"/>
              <a:t>3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16768121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66A75C-2188-01EE-5D82-CB743E4A02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BFCCBB7-2A14-F436-2E0F-F0E52BCFA7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FD7E822-69BD-1CEB-C708-9D5FFC3375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먼저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이러한 분석이 왜 가능했는지 데이터 구조를 간단히 보면서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설명드리겠습니다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올리스트 데이터는 고객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주문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결제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배송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상품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리뷰 정보가 각각 분리되어 있는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마켓플레이스형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이커머스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데이터입니다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구조 덕분에 고객 단위로 첫 구매부터 반복 구매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그리고 누적 구매 가치까지 시간의 흐름에 따라 추적할 수 있었고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이를 기반으로 </a:t>
            </a:r>
            <a:r>
              <a:rPr lang="en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AARRR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각 단계에서 올리스트의 성장 구조를 </a:t>
            </a:r>
            <a:r>
              <a:rPr lang="ko-KR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고객 관점에서 구조적으로 분석할 수 있었습니다</a:t>
            </a:r>
            <a:r>
              <a:rPr lang="en-US" altLang="ko-K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66B4983-51FD-AB45-DC12-1A6E33FDEB0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17F9C8-91D1-A042-92E3-7082BD349B97}" type="slidenum">
              <a:rPr kumimoji="1" lang="ko-KR" altLang="en-US" smtClean="0"/>
              <a:t>4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14886091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다음으로 데이터 품질을 검토한 내용과 분석을 위한</a:t>
            </a:r>
            <a:endParaRPr lang="en-US" altLang="ko-K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팀 내 기준을 어떻게 통일했는지를 먼저 말씀드리겠습니다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결제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en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payments)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와 상품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en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items)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테이블에서 중복 </a:t>
            </a:r>
            <a:r>
              <a:rPr lang="en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row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 존재했는데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이는 한 주문에 여러 결제나 여러 상품이 포함될 수 있는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마켓플레이스형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이커머스의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정상적인 구조임을 확인했습니다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또한 리뷰 데이터의 결측 역시 사용자 선택 입력에 따른 자연스러운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결측으로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비즈니스 흐름상 설명 가능한 범위라고 판단하였습니다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특히 전체 주문의 약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97%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 배송 완료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en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delivered)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상태였기 때문에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이후 분석을 </a:t>
            </a:r>
            <a:r>
              <a:rPr lang="en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delivered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주문 기준으로 제한하더라도 데이터 대표성에는 문제가 없다고 판단했습니다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과정을 바탕으로 분석자마다 해석이 달라질 수 있는 혼선 방지를 위해 </a:t>
            </a:r>
            <a:endParaRPr lang="en-US" altLang="ko-K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고객 단위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주문 기준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첫 구매와 재구매 정의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그리고 매출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en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LTV)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계산 기준을 팀 내에서 사전에 명확히 통일했습니다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이후 모든 분석은 이 공통 기준 위에서 </a:t>
            </a:r>
            <a:r>
              <a:rPr lang="en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AARRR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각 단계의 결과를 일관된 기준에서 비교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·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해석하였습니다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이제 올리스트의 성장을 만들어낸 고객 구조에 대해 단계적으로 살펴보겠습니다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17F9C8-91D1-A042-92E3-7082BD349B97}" type="slidenum">
              <a:rPr kumimoji="1" lang="ko-KR" altLang="en-US" smtClean="0"/>
              <a:t>5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3594160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이제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리텐션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관점에서 올리스트의 고객 구조를 살펴보겠습니다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왼쪽 그래프는 고객의 구매 횟수 분포입니다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보시는 것처럼 전체 고객의 약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97%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 단 한 번만 구매하고 이탈하고 있으며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재구매 고객은 전체의 약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3%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불과합니다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그렇다면 재구매가 발생하는 고객들은 언제 다시 구매할까요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오른쪽 그래프를 보면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재구매 고객의 대부분은 첫 구매와 같은 달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즉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30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일 이내에 다시 구매하고 있습니다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장기적으로 다시 돌아오는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리텐션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패턴은 거의 관찰되지 않습니다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결과를 종합하면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올리스트의 성장은 재구매 기반의 성장 구조라고 보기 어렵습니다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그래서 저희는 다음 질문을 던지게 됩니다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그렇다면 “왜 고객은 다시 돌아오지 않는 걸까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?’”</a:t>
            </a:r>
          </a:p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17F9C8-91D1-A042-92E3-7082BD349B97}" type="slidenum">
              <a:rPr kumimoji="1" lang="ko-KR" altLang="en-US" smtClean="0"/>
              <a:t>6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87657404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앞에서 보신 것처럼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올리스트의 재구매율은 매우 낮았고 초기에 급감 후 매우 낮은 수준으로 유지되는 것처럼 보였습니다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그렇다면 여기서 중요한 질문은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‘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의미 있는 재구매 고객을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어디까지로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볼 것인가 입니다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그래프는 첫 구매 이후 경과 기간별 재구매율을 보여줍니다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보시면 재구매율은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30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일에서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180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일까지는 점진적으로 증가하지만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6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개월 이후부터는 재구매율 증가폭이 매우 제한적입니다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그래서 저희는 첫 구매 후 </a:t>
            </a:r>
            <a:r>
              <a:rPr lang="en-US" altLang="ko-K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</a:t>
            </a:r>
            <a:r>
              <a:rPr lang="ko-KR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개월을 재구매 유도의 </a:t>
            </a:r>
            <a:r>
              <a:rPr lang="ko-KR" alt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골든타임으로</a:t>
            </a:r>
            <a:r>
              <a:rPr lang="ko-KR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정의하고</a:t>
            </a:r>
            <a:r>
              <a:rPr lang="en-US" altLang="ko-K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시점을 넘기면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고객이 다시 돌아올 가능성은 사실상 매우 낮다고 판단했습니다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이에 따라 이후 분석에서는 첫 구매 후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개월 이내 재구매한 고객을 ‘잔존 고객’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</a:t>
            </a:r>
          </a:p>
          <a:p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6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개월을 초과한 고객을 ‘이탈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고객’으로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구분했고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다음 슬라이드부터는 이 두 집단의 </a:t>
            </a:r>
            <a:r>
              <a:rPr lang="ko-KR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첫 구매 경험에서 실제 차이가 있는지를 비교하며</a:t>
            </a:r>
            <a:r>
              <a:rPr lang="en-US" altLang="ko-K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재구매 부진의 원인을 살펴보았습니다</a:t>
            </a:r>
            <a:r>
              <a:rPr lang="en-US" altLang="ko-K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endParaRPr lang="ko-KR" alt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17F9C8-91D1-A042-92E3-7082BD349B97}" type="slidenum">
              <a:rPr kumimoji="1" lang="ko-KR" altLang="en-US" smtClean="0"/>
              <a:t>7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27012002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b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ko-KR" alt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재구매 부진의 원인 후보로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먼저 가격과 첫 구매 경험의 품질 요인을 살펴보았습니다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먼저 왼쪽 그래프는 첫 구매 결제 금액입니다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보시는 것처럼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재구매 여부에 따라 중앙값과 전체 분포에서 차이는 관찰되지 않았습니다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가운데 그래프는 첫 구매 배송 소요 기간을 살펴본 것입니다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역시 재구매 고객과 이탈 고객 간에 뚜렷한 차이를 보이지 않았습니다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마지막으로 오른쪽은 첫 구매 리뷰 점수를 비교한 것입니다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첫 구매 주문 중 리뷰가 존재하는 비율이 약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99%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였으므로 </a:t>
            </a:r>
            <a:endParaRPr lang="en-US" altLang="ko-K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올리스트에서는 사실상 첫 구매 시 리뷰 작성이 거의 자동으로 발생하는 구조임을 확인했습니다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두 집단 모두 전반적으로 높은 점수를 유지하고 있어 리뷰 유무나 리뷰 점수 역시 재구매 부진의 이유를 설명하기에는 충분치 않았습니다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결과를 종합하면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올리스트에서의 재구매 여부는 </a:t>
            </a:r>
            <a:endParaRPr lang="en-US" altLang="ko-K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가격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배송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리뷰와 같은 첫 구매 경험의 ‘질적 요소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차이’로는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설명되기 어렵다는 결론에 도달했습니다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그래서 다음 질문은 “그럼에도 불구하고 발생한 소수의 재구매는 왜 일어난 걸까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?“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였습니다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앞서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리텐션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히트맵에서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보셨듯이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재구매는 대부분 </a:t>
            </a:r>
            <a:endParaRPr lang="en-US" altLang="ko-K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첫 구매 이후 한 달 이내에 집중적으로 발생했기 때문에 </a:t>
            </a:r>
            <a:endParaRPr lang="en-US" altLang="ko-K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다음 분석에서는 이 구간에 집중해 재구매의 성격을 살펴보았습니다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17F9C8-91D1-A042-92E3-7082BD349B97}" type="slidenum">
              <a:rPr kumimoji="1" lang="ko-KR" altLang="en-US" smtClean="0"/>
              <a:t>8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59201515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먼저 왼쪽 그래프를 보시면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30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일 이내 재구매 고객의 </a:t>
            </a:r>
            <a:r>
              <a:rPr lang="en-US" altLang="ko-K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60% </a:t>
            </a:r>
            <a:r>
              <a:rPr lang="ko-KR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이상이 </a:t>
            </a:r>
            <a:endParaRPr lang="en-US" altLang="ko-KR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ko-KR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첫 구매와 동일한 카테고리를 다시 구매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한 것을 확인할 수 있습니다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이는 재구매가 새로운 관심사 탐색이나 서비스에 대한 충성도의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결과라기보다는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</a:p>
          <a:p>
            <a:r>
              <a:rPr lang="ko-KR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첫 구매에서 충분히 충족되지 못한 동일한 수요의 연장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일 가능성을 시사합니다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경향은 오른쪽 그래프에서 더 분명해집니다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재구매가 많이 발생한 카테고리를 보면 침구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·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욕실용품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뷰티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·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건강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생활용품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액세서리처럼 </a:t>
            </a:r>
            <a:endParaRPr lang="en-US" altLang="ko-K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ko-KR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소모성</a:t>
            </a:r>
            <a:r>
              <a:rPr lang="en-US" altLang="ko-K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·</a:t>
            </a:r>
            <a:r>
              <a:rPr lang="ko-KR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생활 밀착형 카테고리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 상위에 집중되어 있습니다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이를 종합하면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올리스트의 재구매는 충성도에 따른 반복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사용이라기보다는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</a:p>
          <a:p>
            <a:r>
              <a:rPr lang="ko-KR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첫 구매에서 충족되지 못한 수요를 짧은 시간 내 보완하는 구매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 가깝다고 해석할 수 있습니다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즉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올리스트의 성장을 설명하기 위해 재구매를 장기간 유도하는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리텐션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구조만으로는 한계가 있으며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</a:p>
          <a:p>
            <a:r>
              <a:rPr lang="ko-KR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저희는 이 시점에서 매출이 어떤 고객 구조에서 만들어지고 있는지</a:t>
            </a:r>
            <a:r>
              <a:rPr lang="en-US" altLang="ko-K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</a:p>
          <a:p>
            <a:r>
              <a:rPr lang="ko-KR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즉 </a:t>
            </a:r>
            <a:r>
              <a:rPr lang="en" altLang="ko-K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Revenue </a:t>
            </a:r>
            <a:r>
              <a:rPr lang="ko-KR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관점으로 분석의 초점을 전환할 필요가 있다고 판단했습니다</a:t>
            </a:r>
            <a:r>
              <a:rPr lang="en-US" altLang="ko-K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endParaRPr lang="ko-KR" alt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17F9C8-91D1-A042-92E3-7082BD349B97}" type="slidenum">
              <a:rPr kumimoji="1" lang="ko-KR" altLang="en-US" smtClean="0"/>
              <a:t>9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45588844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지금까지의 분석을 정리해보면 이렇습니다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올리스트의 재구매율은 전체 고객의 약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3%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수준에 불과했고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재구매는 대부분 첫 구매 후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30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일 이내에 발생했습니다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또한 재구매는 서비스에 대한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충성도라기보다는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첫 구매에서 충족되지 못한 수요를 보완하는 성격에 더 가까웠습니다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지점에서 저희는 한 가지 결론에 도달했습니다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Retention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지표만으로는 올리스트의 매출 성장을 설명하기 어렵다는 점입니다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그래서 질문을 바꿨습니다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‘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누가 오래 남는가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?’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 아니라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‘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누가 실제로 매출을 만드는가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?’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평균 고객이 아닌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매출을 만들어내는 고객 구조를 보기 위해 이후 분석은 </a:t>
            </a:r>
            <a:r>
              <a:rPr lang="en" altLang="ko-K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Revenue </a:t>
            </a:r>
            <a:r>
              <a:rPr lang="ko-KR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관점으로 전환했습니다</a:t>
            </a:r>
            <a:r>
              <a:rPr lang="en-US" altLang="ko-K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17F9C8-91D1-A042-92E3-7082BD349B97}" type="slidenum">
              <a:rPr kumimoji="1" lang="ko-KR" altLang="en-US" smtClean="0"/>
              <a:t>10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05509337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그래프는 고객을 </a:t>
            </a:r>
            <a:r>
              <a:rPr lang="en" altLang="ko-K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LTV </a:t>
            </a:r>
            <a:r>
              <a:rPr lang="ko-KR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기준으로 정렬했을 때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누적 고객 비율 대비 누적 매출 비율을 나타낸 </a:t>
            </a:r>
            <a:r>
              <a:rPr lang="ko-KR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파레토 커브입니다</a:t>
            </a:r>
            <a:r>
              <a:rPr lang="en-US" altLang="ko-K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쉽게 말해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매출 기여도가 높은 고객부터 차례대로 봤을 때 </a:t>
            </a:r>
            <a:endParaRPr lang="en-US" altLang="ko-K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누적된 고객이 전체 매출의 몇 퍼센트를 만들어내는지를 보여주는 그래프입니다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보시다시피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곡선이 초반에 매우 가파르게 상승합니다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이는 매출이 고객 전체에 고르게 분포된 것이 아니라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초기 소수 고객에게 집중되어 있다는 것을 말합니다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실제로 </a:t>
            </a:r>
            <a:r>
              <a:rPr lang="en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LTV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기준 **상위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5%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고객이 전체 매출의 약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26.7%**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차지하고 있으며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상위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20%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고객만으로도 전체 매출의 절반 이상이 발생합니다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결과를 통해 올리스트의 매출 구조는 ‘평균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고객’이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아니라</a:t>
            </a:r>
            <a:endParaRPr lang="en-US" altLang="ko-K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‘소수의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고가치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고객’에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의해 만들어지고 있음을 확인할 수 있었습니다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그래서 이후 분석에서는 이 상위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5%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고객을 </a:t>
            </a:r>
            <a:r>
              <a:rPr lang="en" altLang="ko-K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High Value Customer</a:t>
            </a:r>
            <a:r>
              <a:rPr lang="ko-KR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로 정의하고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해당 고객군을 중심으로 분석을 진행했습니다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17F9C8-91D1-A042-92E3-7082BD349B97}" type="slidenum">
              <a:rPr kumimoji="1" lang="ko-KR" altLang="en-US" smtClean="0"/>
              <a:t>11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1638637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슬라이드는 고객 세그먼트별로 ‘고객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1%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증가가 만들어내는 매출 효과’**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비교한 결과입니다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먼저 전체 고객을 기준으로 보면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왼쪽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), 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고객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1%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증가는 평균적으로 매출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1%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증가로 이어진다고 볼 수 있습니다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그런데 앞에서 보셨듯이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LTV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기준 상위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5%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고객은 전체 고객의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5%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불과하지만 </a:t>
            </a:r>
            <a:endParaRPr lang="en-US" altLang="ko-K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전체 매출의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26.7%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만들어내고 있었습니다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이를 동일한 기준으로 환산하면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고가치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고객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1%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증가는 평균 고객 대비 약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5.35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배 높은 매출 증가 효과를 가진다는 것을 확인할 수 있습니다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요약하면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고객을 아무나 늘리는 것보다 어떤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1%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늘리느냐가 매출 효율을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배 이상 바꾼다는 결과입니다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그래서 다음 질문은 자연스럽게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이겁니다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‘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그렇다면 우리가 늘려야 할 그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1%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의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고가치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고객은 과연 어떤 사람들인가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?’</a:t>
            </a:r>
          </a:p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17F9C8-91D1-A042-92E3-7082BD349B97}" type="slidenum">
              <a:rPr kumimoji="1" lang="ko-KR" altLang="en-US" smtClean="0"/>
              <a:t>12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26157150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슬라이드의 그래프는</a:t>
            </a:r>
          </a:p>
          <a:p>
            <a:r>
              <a:rPr lang="ko-KR" alt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고가치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고객이 첫 구매에서 선택한 상품 카테고리를 빈도 순으로 정렬한 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</a:t>
            </a:r>
          </a:p>
          <a:p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그중 상위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개 카테고리에 대해 하위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95%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고객과 비교한 결과입니다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먼저 그래프를 간단히 </a:t>
            </a:r>
            <a:r>
              <a:rPr lang="ko-KR" alt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설명드리면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</a:t>
            </a:r>
          </a:p>
          <a:p>
            <a:r>
              <a:rPr lang="en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축은 첫 구매 상품의 카테고리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</a:t>
            </a:r>
          </a:p>
          <a:p>
            <a:r>
              <a:rPr lang="en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축은 해당 카테고리가 각 고객 그룹의 ‘첫 </a:t>
            </a:r>
            <a:r>
              <a:rPr lang="ko-KR" alt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구매’에서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차지하는 비율을 의미합니다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즉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고가치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고객과 일반 고객이</a:t>
            </a:r>
          </a:p>
          <a:p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‘첫 구매를 어떤 카테고리에서 </a:t>
            </a:r>
            <a:r>
              <a:rPr lang="ko-KR" alt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시작했는가’를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비율 기준으로 비교한 그래프라고 보시면 됩니다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결과를 보시면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고가치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고객은 첫 구매 단계부터</a:t>
            </a:r>
          </a:p>
          <a:p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시계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·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선물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en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relogios_presentes</a:t>
            </a:r>
            <a:r>
              <a:rPr lang="en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),</a:t>
            </a:r>
          </a:p>
          <a:p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미용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·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건강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en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beleza_saude</a:t>
            </a:r>
            <a:r>
              <a:rPr lang="en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),</a:t>
            </a:r>
          </a:p>
          <a:p>
            <a:r>
              <a:rPr lang="en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액세서리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en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informatica_acessorios</a:t>
            </a:r>
            <a:r>
              <a:rPr lang="en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),</a:t>
            </a:r>
          </a:p>
          <a:p>
            <a:r>
              <a:rPr lang="en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라이프스타일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·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취향 상품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en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cool_stuff</a:t>
            </a:r>
            <a:r>
              <a:rPr lang="en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)**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과 같이</a:t>
            </a:r>
          </a:p>
          <a:p>
            <a:r>
              <a:rPr lang="ko-KR" alt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선물성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·</a:t>
            </a:r>
            <a:r>
              <a:rPr lang="ko-KR" alt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취향성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·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상대적으로 단가가 높은 카테고리에서 더 높은 비중을 보입니다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반면 스포츠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·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레저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en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esporte_lazer</a:t>
            </a:r>
            <a:r>
              <a:rPr lang="en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카테고리는</a:t>
            </a:r>
          </a:p>
          <a:p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일반 고객에서 상대적으로 더 높은 비중을 보여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</a:t>
            </a:r>
          </a:p>
          <a:p>
            <a:r>
              <a:rPr lang="ko-KR" alt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고가치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고객 유입의 초기 신호로는 보기 어렵다고 판단하였습니다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 </a:t>
            </a:r>
          </a:p>
          <a:p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종합적으로 보면 </a:t>
            </a:r>
            <a:r>
              <a:rPr lang="ko-KR" alt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고가치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고객이</a:t>
            </a:r>
          </a:p>
          <a:p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유입 시점부터 이미 소비 목적과 가치 기준이 다른 </a:t>
            </a:r>
            <a:r>
              <a:rPr lang="ko-KR" alt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고객군이며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</a:t>
            </a:r>
          </a:p>
          <a:p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단순한 가격 민감형이 아니라</a:t>
            </a:r>
          </a:p>
          <a:p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가치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·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취향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·</a:t>
            </a:r>
            <a:r>
              <a:rPr lang="ko-KR" alt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선물성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소비에 더 반응하는 집단임을 시사하는 결과입니다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17F9C8-91D1-A042-92E3-7082BD349B97}" type="slidenum">
              <a:rPr kumimoji="1" lang="ko-KR" altLang="en-US" smtClean="0"/>
              <a:t>13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82166701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B73478-352F-2E23-DE21-9EFCA64929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A2E5004-62CD-8EC4-8EA0-1B0D0A6ABA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4D2482A-9B41-A3F9-6346-595ED36720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앞 슬라이드에서는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고가치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고객이 </a:t>
            </a:r>
            <a:r>
              <a:rPr lang="ko-KR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무엇을 처음 샀는지</a:t>
            </a:r>
            <a:r>
              <a:rPr lang="en-US" altLang="ko-K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즉 첫 구매 카테고리를 살펴봤다면</a:t>
            </a:r>
            <a:r>
              <a:rPr lang="en-US" altLang="ko-K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이제는 한 단계 더 들어가서 그 첫 구매에서 실제로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얼마짜리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상품을 선택했는지를 보겠습니다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슬라이드의 차트는 고객의 첫 구매 주문에 포함된 개별 상품 단가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en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price)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의 분포를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고가치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고객과 일반 고객 간에 비교한 결과입니다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그래프의 왼쪽은 </a:t>
            </a:r>
            <a:r>
              <a:rPr lang="en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LTV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기준 상위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5%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인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고가치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고객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오른쪽은 하위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95%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인 일반 고객을 의미합니다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박스플롯은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첫 구매 시 선택된 상품 가격의 분포를 보여주며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중앙선은 중앙값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en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median)**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을 나타냅니다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중앙값 기준으로 보면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고가치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고객의 첫 구매 상품 단가는 약 </a:t>
            </a:r>
            <a:r>
              <a:rPr lang="en-US" altLang="ko-K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467,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일반 고객은 약 </a:t>
            </a:r>
            <a:r>
              <a:rPr lang="en-US" altLang="ko-K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70 </a:t>
            </a:r>
            <a:r>
              <a:rPr lang="ko-KR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수준으로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약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6.7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배의 차이가 발생합니다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결과가 의미하는 바는 명확합니다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고가치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고객은 구매를 반복해서 고가치가 된 고객이 아니라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첫 구매 시점부터 이미 더 비싼 상품을 선택할 수 있는 가격 허용도를 가진 고객이라는 점입니다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즉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앞 슬라이드에서 보였던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고가치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고객의 카테고리 차이는 우연이 아니라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실제로 첫 구매부터 더 비싼 상품을 선택했다는 행동 차이로 이어지고 있음을 이 가격 분포가 뒷받침합니다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다시 말해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고가치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고객은 처음부터 다른 방식으로 소비하는 고객군이라고 볼 수 있습니다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E9C062A-5677-6C4D-F27E-BE922737F44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17F9C8-91D1-A042-92E3-7082BD349B97}" type="slidenum">
              <a:rPr kumimoji="1" lang="ko-KR" altLang="en-US" smtClean="0"/>
              <a:t>14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72917827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이제 다음 질문은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이겁니다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이런 고객들은 실제로 </a:t>
            </a:r>
            <a:r>
              <a:rPr lang="ko-KR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어디에 많이 존재하고 있을까</a:t>
            </a:r>
            <a:endParaRPr lang="ko-KR" alt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그리고 마케팅 관점에서 우리는 이 고객들을 어떤 지역에서부터 접근하는 것이 합리적일까요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슬라이드는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고가치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고객 수 기준으로 지역 분포를 확인한 결과입니다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마케팅 관점에서 실제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고가치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고객 풀이 크게 형성된 지역이 타겟 후보가 되기 때문입니다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그래프과 지도를 보시면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상파울루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en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SP),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리우데자네이루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en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RJ),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미나스제라이스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en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MG)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endParaRPr lang="en-US" altLang="ko-K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고가치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고객이 수적으로 많이 집중되어 있는 것을 확인할 수 있습니다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세 지역은 브라질 내에서도 대표적인 대도시이자 경제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·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소비의 중심 지역으로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중산층 이상 인구와 온라인 소비 인프라가 밀집된 곳입니다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즉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앞에서 확인한 ‘처음부터 고단가 상품을 선택하는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고객’들은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무작위로 흩어져 있는 것이 아니라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대도시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·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경제 중심 지역에 구조적으로 집중되어 있다고 해석할 수 있습니다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17F9C8-91D1-A042-92E3-7082BD349B97}" type="slidenum">
              <a:rPr kumimoji="1" lang="ko-KR" altLang="en-US" smtClean="0"/>
              <a:t>15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50951896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지금까지의 분석을 종합해보면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올리스트의 성장은 </a:t>
            </a:r>
            <a:r>
              <a:rPr lang="ko-KR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재구매를 늘리는 구조로는 설명되지 않았습니다</a:t>
            </a:r>
            <a:r>
              <a:rPr lang="en-US" altLang="ko-K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대신 매출은 </a:t>
            </a:r>
            <a:r>
              <a:rPr lang="ko-KR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소수의 </a:t>
            </a:r>
            <a:r>
              <a:rPr lang="ko-KR" alt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고가치</a:t>
            </a:r>
            <a:r>
              <a:rPr lang="ko-KR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고객</a:t>
            </a:r>
            <a:r>
              <a:rPr lang="en-US" altLang="ko-K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그리고 그들의 </a:t>
            </a:r>
            <a:r>
              <a:rPr lang="ko-KR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첫 구매 시점에서 이미 결정되고 있었습니다</a:t>
            </a:r>
            <a:r>
              <a:rPr lang="en-US" altLang="ko-K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그래서 저희는 전략의 방향을 ‘전체 고객을 대상으로 한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리텐션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개선’이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아니라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</a:t>
            </a:r>
          </a:p>
          <a:p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고가치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고객 세그먼트에 집중한 </a:t>
            </a:r>
            <a:r>
              <a:rPr lang="en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AARRR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구조 재설계로 정리했습니다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먼저 </a:t>
            </a:r>
            <a:r>
              <a:rPr lang="en" altLang="ko-K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Acquisition </a:t>
            </a:r>
            <a:r>
              <a:rPr lang="ko-KR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단계입니다</a:t>
            </a:r>
            <a:r>
              <a:rPr lang="en-US" altLang="ko-K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분석 결과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고가치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고객은 특정 카테고리에서 더 많이 발생했고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이들의 초기 유입 자체가 이후 매출 구조에 큰 영향을 미쳤습니다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그래서 홈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·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검색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·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광고 진입점에서 시계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·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선물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·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뷰티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·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헬스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·</a:t>
            </a:r>
            <a:r>
              <a:rPr lang="en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액세서리처럼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고가치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고객 발생 가능성이 높은 카테고리를 우선 노출하는 전략을 제안합니다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단계의 핵심 지표는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고가치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고객 비중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첫 구매 객단가입니다</a:t>
            </a:r>
            <a:r>
              <a:rPr lang="en-US" altLang="ko-K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📌</a:t>
            </a:r>
            <a:r>
              <a:rPr lang="ko-KR" alt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객단가는 고객이 한 번의 구매에서 평균적으로 얼마를 쓰는지를 의미합니다</a:t>
            </a:r>
            <a:r>
              <a:rPr lang="en-US" altLang="ko-KR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다음은 </a:t>
            </a:r>
            <a:r>
              <a:rPr lang="en" altLang="ko-K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Activation </a:t>
            </a:r>
            <a:r>
              <a:rPr lang="ko-KR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단계입니다</a:t>
            </a:r>
            <a:r>
              <a:rPr lang="en-US" altLang="ko-K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고가치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고객은 특정 지역과 조건에 집중되어 있었고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특히 </a:t>
            </a:r>
            <a:r>
              <a:rPr lang="ko-KR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첫 구매 경험이 이후 매출을 사실상 결정하고 있었습니다</a:t>
            </a:r>
            <a:r>
              <a:rPr lang="en-US" altLang="ko-K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따라서 빠른 배송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프리미엄 셀러 강조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가치 소비 메시지를 지역 특성에 맞게 차별화하여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첫 구매 전환을 극대화하는 전략이 중요합니다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마지막은 </a:t>
            </a:r>
            <a:r>
              <a:rPr lang="en" altLang="ko-K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Revenue-focused Retention</a:t>
            </a:r>
            <a:endParaRPr lang="en" altLang="ko-K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여기서의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리텐션은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재구매를 오래 유지하는 것이 아니라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첫 구매 시점에서 매출을 최대화하는 관점의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리텐션입니다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프리미엄 상품과 옵션 강조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수량 가이드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고가 상품 구매 시 혜택 제공 등을 통해 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첫 구매 매출 기여도와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고가치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고객 </a:t>
            </a:r>
            <a:r>
              <a:rPr lang="en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LTV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극대화하는 것이 핵심 전략입니다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즉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올리스트의 성장은 ‘모두를 오래 붙잡는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서비스’가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아니라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</a:p>
          <a:p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고가치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고객을 빠르게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유입시키고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첫 구매에서 매출을 완성하는 구조로 이해할 수 있습니다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17F9C8-91D1-A042-92E3-7082BD349B97}" type="slidenum">
              <a:rPr kumimoji="1" lang="ko-KR" altLang="en-US" smtClean="0"/>
              <a:t>16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58921862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마지막으로 지금까지의 분석내용을 </a:t>
            </a:r>
            <a:r>
              <a:rPr lang="en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AARRR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프레임워크 기준으로 요약하고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이번 프로젝트를 통해 얻은 </a:t>
            </a:r>
            <a:r>
              <a:rPr lang="en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KPT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간단히 말씀드리겠습니다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먼저 </a:t>
            </a:r>
            <a:r>
              <a:rPr lang="en" altLang="ko-K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Acquisition </a:t>
            </a:r>
            <a:r>
              <a:rPr lang="ko-KR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단계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입니다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고가치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고객은 무작위로 유입되는 것이 아니라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</a:t>
            </a:r>
          </a:p>
          <a:p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특정 카테고리와 대도시</a:t>
            </a:r>
            <a:r>
              <a:rPr lang="en-US" altLang="ko-K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·</a:t>
            </a:r>
            <a:r>
              <a:rPr lang="ko-KR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경제 중심 지역에 집중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되어 있었습니다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즉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유입의 ‘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양’보다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누구를 데려오느냐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 성장에 더 중요하다는 점을 확인했습니다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" altLang="ko-K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Activation </a:t>
            </a:r>
            <a:r>
              <a:rPr lang="ko-KR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단계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에서는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고가치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고객이 첫 구매 시점부터 </a:t>
            </a:r>
            <a:r>
              <a:rPr lang="ko-KR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카테고리 선택과 상품 단가에서 일반 고객과 차이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 보였고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초기 경험에서 이미 매출 구조가 결정된다는 인사이트를 얻었습니다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반면 </a:t>
            </a:r>
            <a:r>
              <a:rPr lang="en" altLang="ko-K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Retention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은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재구매 자체가 매우 제한적이었고 장기 유지 개선만으로는 성장에 한계가 있다는 점을 확인했습니다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 결과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" altLang="ko-K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Revenue </a:t>
            </a:r>
            <a:r>
              <a:rPr lang="ko-KR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측면에서는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상위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5%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고객이 전체 매출의 약 **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27%**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차지하며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</a:t>
            </a:r>
          </a:p>
          <a:p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소수 고객이 올리스트 매출을 실질적으로 견인하고 있었습니다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따라서 저희는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올리스트의 성장은 </a:t>
            </a:r>
            <a:r>
              <a:rPr lang="en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Retention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개선보다는 </a:t>
            </a:r>
            <a:endParaRPr lang="en-US" altLang="ko-K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ko-KR" alt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고가치</a:t>
            </a:r>
            <a:r>
              <a:rPr lang="ko-KR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고객의 </a:t>
            </a:r>
            <a:r>
              <a:rPr lang="en" altLang="ko-K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Acquisition</a:t>
            </a:r>
            <a:r>
              <a:rPr lang="ko-KR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과 </a:t>
            </a:r>
            <a:r>
              <a:rPr lang="en" altLang="ko-K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Activation</a:t>
            </a:r>
            <a:r>
              <a:rPr lang="ko-KR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을 정밀하게 강화하는 전략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 달려 있다고 결론 내렸습니다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마지막으로 간단한 회고입니다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AARRR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프레임을 기준으로 문제를 구조화하고 분석을 전략까지 연결한 점은 이번 프로젝트의 가장 큰 성과였습니다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다만 </a:t>
            </a:r>
            <a:r>
              <a:rPr lang="en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CAC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와 같은 고객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명을 데려오는 데 드는 비용이나 </a:t>
            </a:r>
            <a:endParaRPr lang="en-US" altLang="ko-K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수수료율 데이터 부재로 수익 분석을 더 깊게 하지 못한 점은 한계로 남습니다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그럼에도 불구하고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복잡한 데이터셋을 팀원들과 함께 끝까지 분석해낸 경험은 모두에게 의미 있는 시간이었습니다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이상으로 발표를 마치겠습니다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감사합니다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17F9C8-91D1-A042-92E3-7082BD349B97}" type="slidenum">
              <a:rPr kumimoji="1" lang="ko-KR" altLang="en-US" smtClean="0"/>
              <a:t>17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0790419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862DCE1-47FB-5051-7D28-578A2E11B5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D471141-CA2E-1CAF-791D-83A320C3E4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384B6D4-3493-CD5F-F4E0-89E55145AA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BBCCD-C3A7-5045-9181-06F72EE0B3DC}" type="datetimeFigureOut">
              <a:rPr kumimoji="1" lang="ko-KR" altLang="en-US" smtClean="0"/>
              <a:t>2026. 1. 24.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551ACFA-649B-8361-E162-77D2CA9EEA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827C756-04BB-AE0A-E32D-D9C692A3AF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4D278A-49E2-EC47-A962-0497C522DAC4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6673370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7173200-EEA6-E641-84F9-27468A33E3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55B752E-AF52-83B0-8649-20409E5917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C2B1F90-B462-B254-F63F-2F6D1E88C8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BBCCD-C3A7-5045-9181-06F72EE0B3DC}" type="datetimeFigureOut">
              <a:rPr kumimoji="1" lang="ko-KR" altLang="en-US" smtClean="0"/>
              <a:t>2026. 1. 24.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01706D3-EE10-B92C-D97B-2F17A5849D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45F2CEC-1BD5-5C23-DAF6-702011591D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4D278A-49E2-EC47-A962-0497C522DAC4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2998580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E131992-C111-9FBA-403D-DA2B6182C5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30D9505-6CC6-63F7-EC51-B9F321FEBE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4F06544-11B8-7ECC-878F-A322143F79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BBCCD-C3A7-5045-9181-06F72EE0B3DC}" type="datetimeFigureOut">
              <a:rPr kumimoji="1" lang="ko-KR" altLang="en-US" smtClean="0"/>
              <a:t>2026. 1. 24.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AFABF21-D83F-6B02-7759-ED22C2519E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27D3CBB-6550-5D83-1AEE-029F7E997D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4D278A-49E2-EC47-A962-0497C522DAC4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3188909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6F293B-1C4F-3DCF-2602-64FEC93D30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9CE8B22-5CF2-6039-108C-DC837A2F232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3523A85-985A-59AD-9CE6-DF1402EB2C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BC911FE-757A-1BFF-BB76-6E8FCEECA9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BBCCD-C3A7-5045-9181-06F72EE0B3DC}" type="datetimeFigureOut">
              <a:rPr kumimoji="1" lang="ko-KR" altLang="en-US" smtClean="0"/>
              <a:t>2026. 1. 24.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D9BE747-C35E-7E92-18D9-A784C7769E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F31ED9B-8A08-1E09-A993-6F10888B4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4D278A-49E2-EC47-A962-0497C522DAC4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2185599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4FF71AD-A8AA-1850-355C-47091D43B8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4E342AB-D474-4229-910A-5C1AE73840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AA68566-7F20-ADC7-9740-EA492BE3F4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AAA99F9-2EF6-62A6-6D33-00248A4EB2F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6E620FD2-69FF-B432-32CA-566AFC4660C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1822BE27-C2F5-7F1F-5E52-D0329F49A1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BBCCD-C3A7-5045-9181-06F72EE0B3DC}" type="datetimeFigureOut">
              <a:rPr kumimoji="1" lang="ko-KR" altLang="en-US" smtClean="0"/>
              <a:t>2026. 1. 24.</a:t>
            </a:fld>
            <a:endParaRPr kumimoji="1"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96D5761C-AB8F-2DF0-F6A9-9F0C760603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9E1BED13-FB9A-DD20-F724-8DF368A947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4D278A-49E2-EC47-A962-0497C522DAC4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1455967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03A665B-E633-01F8-6574-2559748492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8EC3706E-4152-B9C7-AACC-75970AE0D6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BBCCD-C3A7-5045-9181-06F72EE0B3DC}" type="datetimeFigureOut">
              <a:rPr kumimoji="1" lang="ko-KR" altLang="en-US" smtClean="0"/>
              <a:t>2026. 1. 24.</a:t>
            </a:fld>
            <a:endParaRPr kumimoji="1"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337BC9C-9CB3-12D8-F126-FFFF678511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47E9BC9-F498-5A4D-D780-6817A625BD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4D278A-49E2-EC47-A962-0497C522DAC4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9146800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48B4551D-3488-0FFD-436A-FAA032F50B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BBCCD-C3A7-5045-9181-06F72EE0B3DC}" type="datetimeFigureOut">
              <a:rPr kumimoji="1" lang="ko-KR" altLang="en-US" smtClean="0"/>
              <a:t>2026. 1. 24.</a:t>
            </a:fld>
            <a:endParaRPr kumimoji="1"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12060876-ADA4-7062-0399-4261A4E66E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497F02E-2CA2-7089-9A2C-17265D278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4D278A-49E2-EC47-A962-0497C522DAC4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6085285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394D951-60F5-C11A-9A3F-8879C49805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8346113-9566-58BE-06EE-F160B10280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956BF86-19ED-A480-9B50-8CDD465914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9BCD6AB-1F8A-6E04-E5C6-1FA7CD72C9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BBCCD-C3A7-5045-9181-06F72EE0B3DC}" type="datetimeFigureOut">
              <a:rPr kumimoji="1" lang="ko-KR" altLang="en-US" smtClean="0"/>
              <a:t>2026. 1. 24.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989DAB4-8199-6757-941E-77F577B1D7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3C948F9-5749-E947-EFA6-02A7AEB0E9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4D278A-49E2-EC47-A962-0497C522DAC4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0499872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C080FA-2BEB-EBC1-7EA1-6625314600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7B9C5367-19DE-13CE-2584-BBB1B62DF90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E3C220B-CEDC-C33D-ED04-0E1D7BA49E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F71C265-21FE-B1C1-BBA8-32FB54CD65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BBCCD-C3A7-5045-9181-06F72EE0B3DC}" type="datetimeFigureOut">
              <a:rPr kumimoji="1" lang="ko-KR" altLang="en-US" smtClean="0"/>
              <a:t>2026. 1. 24.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1483BE9-C152-66EB-D57A-912DE3AE41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1D2D50B-213B-5EDF-E741-E510AEE3BF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4D278A-49E2-EC47-A962-0497C522DAC4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766018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AF0836A-BE3E-65EC-9EF6-309BA0D43F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2DA3BE9-BB2C-51C6-BCB0-89739816D0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8FF4A8D-787B-5FE2-DECF-ED144E3AE9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BBCCD-C3A7-5045-9181-06F72EE0B3DC}" type="datetimeFigureOut">
              <a:rPr kumimoji="1" lang="ko-KR" altLang="en-US" smtClean="0"/>
              <a:t>2026. 1. 24.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F67A7D7-9F46-2CBD-1DE9-A9ECEB75AF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BF95B02-8E26-723A-C6A0-7658251B26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4D278A-49E2-EC47-A962-0497C522DAC4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6618885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BA7E8BDD-5ADE-84B3-96E1-B96CA07D18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E2A8444-318E-C610-3993-9CE218116C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CDDF946-C32A-C4A4-13BD-2D51C2997C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BBCCD-C3A7-5045-9181-06F72EE0B3DC}" type="datetimeFigureOut">
              <a:rPr kumimoji="1" lang="ko-KR" altLang="en-US" smtClean="0"/>
              <a:t>2026. 1. 24.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068FFAC-1883-E654-D5A6-1E4D747BDA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EAD5CAE-83FE-3050-5AC0-E2632BF230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4D278A-49E2-EC47-A962-0497C522DAC4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1193377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9453E420-26E6-A979-5036-ABDD43D5CF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1F97CC7-5C7F-0DEA-8BCF-C60E326A87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1F84C6D-7CEB-0A8B-67A9-226F3602EAD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34BBCCD-C3A7-5045-9181-06F72EE0B3DC}" type="datetimeFigureOut">
              <a:rPr kumimoji="1" lang="ko-KR" altLang="en-US" smtClean="0"/>
              <a:t>2026. 1. 24.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1FE9D7B-DF49-EFBC-A42F-A37BD36400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4251FF3-6A06-8129-4BA3-C457FBB3C4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14D278A-49E2-EC47-A962-0497C522DAC4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2295124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440DEF8-B6B6-6F5A-BD69-88DB696CC07B}"/>
              </a:ext>
            </a:extLst>
          </p:cNvPr>
          <p:cNvSpPr txBox="1"/>
          <p:nvPr/>
        </p:nvSpPr>
        <p:spPr>
          <a:xfrm>
            <a:off x="7323566" y="145601"/>
            <a:ext cx="475994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buNone/>
            </a:pPr>
            <a:r>
              <a:rPr lang="en" altLang="ko-KR" sz="1400" dirty="0">
                <a:solidFill>
                  <a:schemeClr val="tx2"/>
                </a:solidFill>
                <a:latin typeface="Noto Sans Syriac SemiBold" panose="020B0502040504020204" pitchFamily="34" charset="0"/>
                <a:cs typeface="Noto Sans Syriac SemiBold" panose="020B0502040504020204" pitchFamily="34" charset="0"/>
              </a:rPr>
              <a:t>PBL 2. </a:t>
            </a:r>
            <a:r>
              <a:rPr lang="ko-KR" altLang="en-US" sz="1400" dirty="0">
                <a:solidFill>
                  <a:schemeClr val="tx2"/>
                </a:solidFill>
                <a:latin typeface="Noto Sans Syriac SemiBold" panose="020B0502040504020204" pitchFamily="34" charset="0"/>
                <a:cs typeface="Noto Sans Syriac SemiBold" panose="020B0502040504020204" pitchFamily="34" charset="0"/>
              </a:rPr>
              <a:t>서비스 분석</a:t>
            </a:r>
            <a:r>
              <a:rPr lang="en-US" altLang="ko-KR" sz="1400" dirty="0">
                <a:solidFill>
                  <a:schemeClr val="tx2"/>
                </a:solidFill>
                <a:latin typeface="Noto Sans Syriac SemiBold" panose="020B0502040504020204" pitchFamily="34" charset="0"/>
                <a:cs typeface="Noto Sans Syriac SemiBold" panose="020B0502040504020204" pitchFamily="34" charset="0"/>
              </a:rPr>
              <a:t>_26.01.26</a:t>
            </a:r>
            <a:endParaRPr lang="ko-KR" altLang="en-US" sz="1400" dirty="0">
              <a:solidFill>
                <a:schemeClr val="tx2"/>
              </a:solidFill>
              <a:latin typeface="Noto Sans Syriac SemiBold" panose="020B0502040504020204" pitchFamily="34" charset="0"/>
              <a:cs typeface="Noto Sans Syriac SemiBold" panose="020B0502040504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982571D-3711-01F8-D6D4-227CC8DD4CDE}"/>
              </a:ext>
            </a:extLst>
          </p:cNvPr>
          <p:cNvSpPr txBox="1"/>
          <p:nvPr/>
        </p:nvSpPr>
        <p:spPr>
          <a:xfrm>
            <a:off x="232230" y="1994994"/>
            <a:ext cx="8476342" cy="2236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buNone/>
            </a:pPr>
            <a:r>
              <a:rPr lang="ko-KR" altLang="en-US" sz="3600" b="1" dirty="0">
                <a:solidFill>
                  <a:schemeClr val="tx2"/>
                </a:solidFill>
              </a:rPr>
              <a:t>왜 </a:t>
            </a:r>
            <a:r>
              <a:rPr lang="en" altLang="ko-KR" sz="3600" b="1" dirty="0">
                <a:solidFill>
                  <a:schemeClr val="tx2"/>
                </a:solidFill>
              </a:rPr>
              <a:t>Olist </a:t>
            </a:r>
            <a:r>
              <a:rPr lang="ko-KR" altLang="en-US" sz="3600" b="1" dirty="0">
                <a:solidFill>
                  <a:schemeClr val="tx2"/>
                </a:solidFill>
              </a:rPr>
              <a:t>고객의 </a:t>
            </a:r>
            <a:r>
              <a:rPr lang="en-US" altLang="ko-KR" sz="3600" b="1" dirty="0">
                <a:solidFill>
                  <a:schemeClr val="tx2"/>
                </a:solidFill>
              </a:rPr>
              <a:t>97%</a:t>
            </a:r>
            <a:r>
              <a:rPr lang="ko-KR" altLang="en-US" sz="3600" b="1" dirty="0">
                <a:solidFill>
                  <a:schemeClr val="tx2"/>
                </a:solidFill>
              </a:rPr>
              <a:t>는 </a:t>
            </a:r>
            <a:endParaRPr lang="en-US" altLang="ko-KR" sz="3600" b="1" dirty="0">
              <a:solidFill>
                <a:schemeClr val="tx2"/>
              </a:solidFill>
            </a:endParaRPr>
          </a:p>
          <a:p>
            <a:pPr algn="ctr">
              <a:lnSpc>
                <a:spcPct val="150000"/>
              </a:lnSpc>
              <a:buNone/>
            </a:pPr>
            <a:r>
              <a:rPr lang="ko-KR" altLang="en-US" sz="3600" b="1" dirty="0" err="1">
                <a:solidFill>
                  <a:schemeClr val="tx2"/>
                </a:solidFill>
              </a:rPr>
              <a:t>재구매하지</a:t>
            </a:r>
            <a:r>
              <a:rPr lang="ko-KR" altLang="en-US" sz="3600" b="1" dirty="0">
                <a:solidFill>
                  <a:schemeClr val="tx2"/>
                </a:solidFill>
              </a:rPr>
              <a:t> 않는가</a:t>
            </a:r>
            <a:r>
              <a:rPr lang="en-US" altLang="ko-KR" sz="3600" b="1" dirty="0">
                <a:solidFill>
                  <a:schemeClr val="tx2"/>
                </a:solidFill>
              </a:rPr>
              <a:t>?</a:t>
            </a:r>
          </a:p>
          <a:p>
            <a:pPr algn="ctr">
              <a:lnSpc>
                <a:spcPct val="150000"/>
              </a:lnSpc>
              <a:buNone/>
            </a:pPr>
            <a:r>
              <a:rPr lang="en-US" altLang="ko-KR" sz="2400" b="1" dirty="0">
                <a:solidFill>
                  <a:schemeClr val="tx2"/>
                </a:solidFill>
              </a:rPr>
              <a:t>-</a:t>
            </a:r>
            <a:r>
              <a:rPr lang="ko-KR" altLang="en-US" sz="2400" b="1" dirty="0">
                <a:solidFill>
                  <a:schemeClr val="tx2"/>
                </a:solidFill>
              </a:rPr>
              <a:t> 데이터로 밝혀낸 </a:t>
            </a:r>
            <a:r>
              <a:rPr lang="en-US" altLang="ko-KR" sz="2400" b="1" dirty="0">
                <a:solidFill>
                  <a:schemeClr val="tx2"/>
                </a:solidFill>
              </a:rPr>
              <a:t>‘</a:t>
            </a:r>
            <a:r>
              <a:rPr lang="ko-KR" altLang="en-US" sz="2400" b="1" dirty="0">
                <a:solidFill>
                  <a:schemeClr val="tx2"/>
                </a:solidFill>
              </a:rPr>
              <a:t>고가치 고객</a:t>
            </a:r>
            <a:r>
              <a:rPr lang="en-US" altLang="ko-KR" sz="2400" b="1" dirty="0">
                <a:solidFill>
                  <a:schemeClr val="tx2"/>
                </a:solidFill>
              </a:rPr>
              <a:t>’</a:t>
            </a:r>
            <a:r>
              <a:rPr lang="ko-KR" altLang="en-US" sz="2400" b="1" dirty="0">
                <a:solidFill>
                  <a:schemeClr val="tx2"/>
                </a:solidFill>
              </a:rPr>
              <a:t> 중심 성장 전략 </a:t>
            </a:r>
            <a:r>
              <a:rPr lang="en-US" altLang="ko-KR" sz="2400" b="1" dirty="0">
                <a:solidFill>
                  <a:schemeClr val="tx2"/>
                </a:solidFill>
              </a:rPr>
              <a:t>-</a:t>
            </a:r>
            <a:r>
              <a:rPr lang="ko-KR" altLang="en-US" sz="2400" b="1" dirty="0">
                <a:solidFill>
                  <a:schemeClr val="tx2"/>
                </a:solidFill>
              </a:rPr>
              <a:t> </a:t>
            </a:r>
            <a:endParaRPr lang="en-US" altLang="ko-KR" sz="2400" b="1" dirty="0">
              <a:solidFill>
                <a:schemeClr val="tx2"/>
              </a:solidFill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1A1C2688-F59B-7196-BB6A-1657D1DA30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2052" y="915877"/>
            <a:ext cx="2729670" cy="4094506"/>
          </a:xfrm>
          <a:prstGeom prst="rect">
            <a:avLst/>
          </a:prstGeom>
        </p:spPr>
      </p:pic>
      <p:pic>
        <p:nvPicPr>
          <p:cNvPr id="17" name="그림 16" descr="텍스트, 그래픽, 로고, 그래픽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E1BAB8D-DDF3-083B-8E6D-6056DD8627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-175383"/>
            <a:ext cx="1707878" cy="1707878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93A6B1DF-5D04-0BFD-130B-78DECE9F9DBD}"/>
              </a:ext>
            </a:extLst>
          </p:cNvPr>
          <p:cNvSpPr txBox="1"/>
          <p:nvPr/>
        </p:nvSpPr>
        <p:spPr>
          <a:xfrm>
            <a:off x="627222" y="5010383"/>
            <a:ext cx="4128654" cy="16158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itchFamily="2" charset="2"/>
              <a:buChar char="u"/>
            </a:pPr>
            <a:r>
              <a:rPr lang="en-US" altLang="ko-KR" b="1" dirty="0">
                <a:solidFill>
                  <a:schemeClr val="tx2"/>
                </a:solidFill>
                <a:latin typeface="+mn-ea"/>
              </a:rPr>
              <a:t>TEAM</a:t>
            </a:r>
            <a:r>
              <a:rPr lang="ko-KR" altLang="en-US" b="1" dirty="0">
                <a:solidFill>
                  <a:schemeClr val="tx2"/>
                </a:solidFill>
                <a:latin typeface="+mn-ea"/>
              </a:rPr>
              <a:t> </a:t>
            </a:r>
            <a:r>
              <a:rPr lang="en-US" altLang="ko-KR" b="1" dirty="0">
                <a:solidFill>
                  <a:schemeClr val="tx2"/>
                </a:solidFill>
                <a:latin typeface="+mn-ea"/>
              </a:rPr>
              <a:t>:</a:t>
            </a:r>
            <a:r>
              <a:rPr lang="ko-KR" altLang="en-US" b="1" dirty="0">
                <a:solidFill>
                  <a:schemeClr val="tx2"/>
                </a:solidFill>
                <a:latin typeface="+mn-ea"/>
              </a:rPr>
              <a:t> </a:t>
            </a:r>
            <a:r>
              <a:rPr lang="ko-KR" altLang="en-US" b="1" dirty="0" err="1">
                <a:solidFill>
                  <a:schemeClr val="accent6">
                    <a:lumMod val="50000"/>
                  </a:schemeClr>
                </a:solidFill>
                <a:latin typeface="+mn-ea"/>
              </a:rPr>
              <a:t>올특인</a:t>
            </a:r>
            <a:r>
              <a:rPr lang="en-US" altLang="ko-KR" b="1" dirty="0">
                <a:solidFill>
                  <a:schemeClr val="accent6">
                    <a:lumMod val="50000"/>
                  </a:schemeClr>
                </a:solidFill>
                <a:latin typeface="+mn-ea"/>
              </a:rPr>
              <a:t>(=</a:t>
            </a:r>
            <a:r>
              <a:rPr lang="en-US" altLang="ko-KR" b="1" dirty="0" err="1">
                <a:solidFill>
                  <a:schemeClr val="accent6">
                    <a:lumMod val="50000"/>
                  </a:schemeClr>
                </a:solidFill>
                <a:latin typeface="+mn-ea"/>
              </a:rPr>
              <a:t>Olist</a:t>
            </a:r>
            <a:r>
              <a:rPr lang="en-US" altLang="ko-KR" b="1" dirty="0">
                <a:solidFill>
                  <a:schemeClr val="accent6">
                    <a:lumMod val="50000"/>
                  </a:schemeClr>
                </a:solidFill>
                <a:latin typeface="+mn-ea"/>
              </a:rPr>
              <a:t> ‘</a:t>
            </a:r>
            <a:r>
              <a:rPr lang="ko-KR" altLang="en-US" b="1" dirty="0" err="1">
                <a:solidFill>
                  <a:schemeClr val="accent6">
                    <a:lumMod val="50000"/>
                  </a:schemeClr>
                </a:solidFill>
                <a:latin typeface="+mn-ea"/>
              </a:rPr>
              <a:t>특</a:t>
            </a:r>
            <a:r>
              <a:rPr lang="en-US" altLang="ko-KR" b="1" dirty="0">
                <a:solidFill>
                  <a:schemeClr val="accent6">
                    <a:lumMod val="50000"/>
                  </a:schemeClr>
                </a:solidFill>
                <a:latin typeface="+mn-ea"/>
              </a:rPr>
              <a:t>’ insight)</a:t>
            </a:r>
          </a:p>
          <a:p>
            <a:pPr marL="285750" indent="-285750">
              <a:buFont typeface="Wingdings" pitchFamily="2" charset="2"/>
              <a:buChar char="u"/>
            </a:pPr>
            <a:r>
              <a:rPr lang="en-US" altLang="ko-KR" b="1" dirty="0">
                <a:solidFill>
                  <a:schemeClr val="tx2"/>
                </a:solidFill>
                <a:latin typeface="+mn-ea"/>
              </a:rPr>
              <a:t>MEMBERS : </a:t>
            </a:r>
            <a:r>
              <a:rPr lang="ko-KR" altLang="en-US" b="1" dirty="0">
                <a:solidFill>
                  <a:schemeClr val="tx2"/>
                </a:solidFill>
                <a:latin typeface="+mn-ea"/>
              </a:rPr>
              <a:t> </a:t>
            </a:r>
            <a:endParaRPr lang="en-US" altLang="ko-KR" b="1" dirty="0">
              <a:solidFill>
                <a:schemeClr val="tx2"/>
              </a:solidFill>
              <a:latin typeface="+mn-ea"/>
            </a:endParaRPr>
          </a:p>
          <a:p>
            <a:pPr marL="274638"/>
            <a:r>
              <a:rPr lang="ko-KR" altLang="en-US" dirty="0">
                <a:solidFill>
                  <a:schemeClr val="accent6">
                    <a:lumMod val="50000"/>
                  </a:schemeClr>
                </a:solidFill>
                <a:latin typeface="+mn-ea"/>
              </a:rPr>
              <a:t>이윤화 </a:t>
            </a:r>
            <a:r>
              <a:rPr lang="en-US" altLang="ko-KR" dirty="0">
                <a:solidFill>
                  <a:schemeClr val="accent6">
                    <a:lumMod val="50000"/>
                  </a:schemeClr>
                </a:solidFill>
                <a:latin typeface="+mn-ea"/>
              </a:rPr>
              <a:t>| </a:t>
            </a:r>
            <a:r>
              <a:rPr lang="en" altLang="ko-KR" dirty="0">
                <a:solidFill>
                  <a:schemeClr val="accent6">
                    <a:lumMod val="50000"/>
                  </a:schemeClr>
                </a:solidFill>
                <a:latin typeface="+mn-ea"/>
              </a:rPr>
              <a:t>Storyteller</a:t>
            </a:r>
          </a:p>
          <a:p>
            <a:pPr marL="274638"/>
            <a:r>
              <a:rPr lang="ko-KR" altLang="en-US" dirty="0">
                <a:solidFill>
                  <a:schemeClr val="accent6">
                    <a:lumMod val="50000"/>
                  </a:schemeClr>
                </a:solidFill>
                <a:latin typeface="+mn-ea"/>
              </a:rPr>
              <a:t>송현준 </a:t>
            </a:r>
            <a:r>
              <a:rPr lang="en-US" altLang="ko-KR" dirty="0">
                <a:solidFill>
                  <a:schemeClr val="accent6">
                    <a:lumMod val="50000"/>
                  </a:schemeClr>
                </a:solidFill>
                <a:latin typeface="+mn-ea"/>
              </a:rPr>
              <a:t>| </a:t>
            </a:r>
            <a:r>
              <a:rPr lang="en" altLang="ko-KR" dirty="0">
                <a:solidFill>
                  <a:schemeClr val="accent6">
                    <a:lumMod val="50000"/>
                  </a:schemeClr>
                </a:solidFill>
                <a:latin typeface="+mn-ea"/>
              </a:rPr>
              <a:t>Think Tank</a:t>
            </a:r>
          </a:p>
          <a:p>
            <a:pPr marL="274638"/>
            <a:r>
              <a:rPr lang="ko-KR" altLang="en-US" dirty="0" err="1">
                <a:solidFill>
                  <a:schemeClr val="accent6">
                    <a:lumMod val="50000"/>
                  </a:schemeClr>
                </a:solidFill>
                <a:latin typeface="+mn-ea"/>
              </a:rPr>
              <a:t>박의진</a:t>
            </a:r>
            <a:r>
              <a:rPr lang="ko-KR" altLang="en-US" dirty="0">
                <a:solidFill>
                  <a:schemeClr val="accent6">
                    <a:lumMod val="50000"/>
                  </a:schemeClr>
                </a:solidFill>
                <a:latin typeface="+mn-ea"/>
              </a:rPr>
              <a:t> </a:t>
            </a:r>
            <a:r>
              <a:rPr lang="en-US" altLang="ko-KR" dirty="0">
                <a:solidFill>
                  <a:schemeClr val="accent6">
                    <a:lumMod val="50000"/>
                  </a:schemeClr>
                </a:solidFill>
                <a:latin typeface="+mn-ea"/>
              </a:rPr>
              <a:t>|</a:t>
            </a:r>
            <a:r>
              <a:rPr lang="ko-KR" altLang="en-US" dirty="0">
                <a:solidFill>
                  <a:schemeClr val="accent6">
                    <a:lumMod val="50000"/>
                  </a:schemeClr>
                </a:solidFill>
                <a:latin typeface="+mn-ea"/>
              </a:rPr>
              <a:t> </a:t>
            </a:r>
            <a:r>
              <a:rPr lang="en" altLang="ko-KR" dirty="0">
                <a:solidFill>
                  <a:schemeClr val="accent6">
                    <a:lumMod val="50000"/>
                  </a:schemeClr>
                </a:solidFill>
                <a:latin typeface="+mn-ea"/>
              </a:rPr>
              <a:t>Architect</a:t>
            </a:r>
          </a:p>
        </p:txBody>
      </p:sp>
    </p:spTree>
    <p:extLst>
      <p:ext uri="{BB962C8B-B14F-4D97-AF65-F5344CB8AC3E}">
        <p14:creationId xmlns:p14="http://schemas.microsoft.com/office/powerpoint/2010/main" val="15849916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3363022-C969-41E9-8EB2-E4C94908C1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1695" cy="68520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D1AD6B3-BE88-4CEB-BA17-790657CC47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그림 4" descr="텍스트, 그래픽, 로고, 그래픽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FE95717-89AF-7C68-F7A3-F6EED69526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041" y="1771777"/>
            <a:ext cx="4141760" cy="4141760"/>
          </a:xfrm>
          <a:custGeom>
            <a:avLst/>
            <a:gdLst/>
            <a:ahLst/>
            <a:cxnLst/>
            <a:rect l="l" t="t" r="r" b="b"/>
            <a:pathLst>
              <a:path w="4141760" h="4377846">
                <a:moveTo>
                  <a:pt x="0" y="0"/>
                </a:moveTo>
                <a:lnTo>
                  <a:pt x="4141760" y="0"/>
                </a:lnTo>
                <a:lnTo>
                  <a:pt x="4141760" y="4377846"/>
                </a:lnTo>
                <a:lnTo>
                  <a:pt x="0" y="4377846"/>
                </a:lnTo>
                <a:close/>
              </a:path>
            </a:pathLst>
          </a:cu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89D1390B-7E13-4B4F-9CB2-391063412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253" y="-5977"/>
            <a:ext cx="6238675" cy="6863979"/>
            <a:chOff x="305" y="-5977"/>
            <a:chExt cx="6238675" cy="6863979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9E720206-AA49-4786-A932-A2650DE091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34854"/>
              <a:ext cx="6028697" cy="6817170"/>
            </a:xfrm>
            <a:custGeom>
              <a:avLst/>
              <a:gdLst>
                <a:gd name="connsiteX0" fmla="*/ 6028697 w 6028697"/>
                <a:gd name="connsiteY0" fmla="*/ 6155323 h 6817170"/>
                <a:gd name="connsiteX1" fmla="*/ 6028697 w 6028697"/>
                <a:gd name="connsiteY1" fmla="*/ 6817170 h 6817170"/>
                <a:gd name="connsiteX2" fmla="*/ 5157862 w 6028697"/>
                <a:gd name="connsiteY2" fmla="*/ 6817170 h 6817170"/>
                <a:gd name="connsiteX3" fmla="*/ 5347156 w 6028697"/>
                <a:gd name="connsiteY3" fmla="*/ 6687553 h 6817170"/>
                <a:gd name="connsiteX4" fmla="*/ 5487470 w 6028697"/>
                <a:gd name="connsiteY4" fmla="*/ 6581714 h 6817170"/>
                <a:gd name="connsiteX5" fmla="*/ 5627642 w 6028697"/>
                <a:gd name="connsiteY5" fmla="*/ 6472328 h 6817170"/>
                <a:gd name="connsiteX6" fmla="*/ 5911392 w 6028697"/>
                <a:gd name="connsiteY6" fmla="*/ 6245328 h 6817170"/>
                <a:gd name="connsiteX7" fmla="*/ 4481066 w 6028697"/>
                <a:gd name="connsiteY7" fmla="*/ 478 h 6817170"/>
                <a:gd name="connsiteX8" fmla="*/ 4672258 w 6028697"/>
                <a:gd name="connsiteY8" fmla="*/ 7519 h 6817170"/>
                <a:gd name="connsiteX9" fmla="*/ 5429869 w 6028697"/>
                <a:gd name="connsiteY9" fmla="*/ 125134 h 6817170"/>
                <a:gd name="connsiteX10" fmla="*/ 5976319 w 6028697"/>
                <a:gd name="connsiteY10" fmla="*/ 314893 h 6817170"/>
                <a:gd name="connsiteX11" fmla="*/ 6028697 w 6028697"/>
                <a:gd name="connsiteY11" fmla="*/ 339901 h 6817170"/>
                <a:gd name="connsiteX12" fmla="*/ 6028697 w 6028697"/>
                <a:gd name="connsiteY12" fmla="*/ 732458 h 6817170"/>
                <a:gd name="connsiteX13" fmla="*/ 5990985 w 6028697"/>
                <a:gd name="connsiteY13" fmla="*/ 712211 h 6817170"/>
                <a:gd name="connsiteX14" fmla="*/ 5341339 w 6028697"/>
                <a:gd name="connsiteY14" fmla="*/ 475281 h 6817170"/>
                <a:gd name="connsiteX15" fmla="*/ 4651969 w 6028697"/>
                <a:gd name="connsiteY15" fmla="*/ 377104 h 6817170"/>
                <a:gd name="connsiteX16" fmla="*/ 3953093 w 6028697"/>
                <a:gd name="connsiteY16" fmla="*/ 402498 h 6817170"/>
                <a:gd name="connsiteX17" fmla="*/ 3267413 w 6028697"/>
                <a:gd name="connsiteY17" fmla="*/ 546643 h 6817170"/>
                <a:gd name="connsiteX18" fmla="*/ 1439498 w 6028697"/>
                <a:gd name="connsiteY18" fmla="*/ 1568141 h 6817170"/>
                <a:gd name="connsiteX19" fmla="*/ 960671 w 6028697"/>
                <a:gd name="connsiteY19" fmla="*/ 2082013 h 6817170"/>
                <a:gd name="connsiteX20" fmla="*/ 581866 w 6028697"/>
                <a:gd name="connsiteY20" fmla="*/ 2672638 h 6817170"/>
                <a:gd name="connsiteX21" fmla="*/ 324789 w 6028697"/>
                <a:gd name="connsiteY21" fmla="*/ 3325262 h 6817170"/>
                <a:gd name="connsiteX22" fmla="*/ 231151 w 6028697"/>
                <a:gd name="connsiteY22" fmla="*/ 4022292 h 6817170"/>
                <a:gd name="connsiteX23" fmla="*/ 270592 w 6028697"/>
                <a:gd name="connsiteY23" fmla="*/ 4362792 h 6817170"/>
                <a:gd name="connsiteX24" fmla="*/ 387213 w 6028697"/>
                <a:gd name="connsiteY24" fmla="*/ 4681585 h 6817170"/>
                <a:gd name="connsiteX25" fmla="*/ 468507 w 6028697"/>
                <a:gd name="connsiteY25" fmla="*/ 4831546 h 6817170"/>
                <a:gd name="connsiteX26" fmla="*/ 561862 w 6028697"/>
                <a:gd name="connsiteY26" fmla="*/ 4976826 h 6817170"/>
                <a:gd name="connsiteX27" fmla="*/ 777511 w 6028697"/>
                <a:gd name="connsiteY27" fmla="*/ 5257597 h 6817170"/>
                <a:gd name="connsiteX28" fmla="*/ 1010895 w 6028697"/>
                <a:gd name="connsiteY28" fmla="*/ 5540494 h 6817170"/>
                <a:gd name="connsiteX29" fmla="*/ 1126948 w 6028697"/>
                <a:gd name="connsiteY29" fmla="*/ 5688186 h 6817170"/>
                <a:gd name="connsiteX30" fmla="*/ 1182706 w 6028697"/>
                <a:gd name="connsiteY30" fmla="*/ 5760543 h 6817170"/>
                <a:gd name="connsiteX31" fmla="*/ 1237327 w 6028697"/>
                <a:gd name="connsiteY31" fmla="*/ 5830060 h 6817170"/>
                <a:gd name="connsiteX32" fmla="*/ 1706649 w 6028697"/>
                <a:gd name="connsiteY32" fmla="*/ 6342797 h 6817170"/>
                <a:gd name="connsiteX33" fmla="*/ 1956207 w 6028697"/>
                <a:gd name="connsiteY33" fmla="*/ 6573484 h 6817170"/>
                <a:gd name="connsiteX34" fmla="*/ 2217681 w 6028697"/>
                <a:gd name="connsiteY34" fmla="*/ 6786297 h 6817170"/>
                <a:gd name="connsiteX35" fmla="*/ 2260820 w 6028697"/>
                <a:gd name="connsiteY35" fmla="*/ 6817170 h 6817170"/>
                <a:gd name="connsiteX36" fmla="*/ 1429497 w 6028697"/>
                <a:gd name="connsiteY36" fmla="*/ 6817170 h 6817170"/>
                <a:gd name="connsiteX37" fmla="*/ 1327275 w 6028697"/>
                <a:gd name="connsiteY37" fmla="*/ 6713800 h 6817170"/>
                <a:gd name="connsiteX38" fmla="*/ 1080556 w 6028697"/>
                <a:gd name="connsiteY38" fmla="*/ 6414443 h 6817170"/>
                <a:gd name="connsiteX39" fmla="*/ 865189 w 6028697"/>
                <a:gd name="connsiteY39" fmla="*/ 6097496 h 6817170"/>
                <a:gd name="connsiteX40" fmla="*/ 814823 w 6028697"/>
                <a:gd name="connsiteY40" fmla="*/ 6016911 h 6817170"/>
                <a:gd name="connsiteX41" fmla="*/ 766729 w 6028697"/>
                <a:gd name="connsiteY41" fmla="*/ 5938453 h 6817170"/>
                <a:gd name="connsiteX42" fmla="*/ 671672 w 6028697"/>
                <a:gd name="connsiteY42" fmla="*/ 5786648 h 6817170"/>
                <a:gd name="connsiteX43" fmla="*/ 474608 w 6028697"/>
                <a:gd name="connsiteY43" fmla="*/ 5474664 h 6817170"/>
                <a:gd name="connsiteX44" fmla="*/ 282652 w 6028697"/>
                <a:gd name="connsiteY44" fmla="*/ 5146508 h 6817170"/>
                <a:gd name="connsiteX45" fmla="*/ 196108 w 6028697"/>
                <a:gd name="connsiteY45" fmla="*/ 4972712 h 6817170"/>
                <a:gd name="connsiteX46" fmla="*/ 122474 w 6028697"/>
                <a:gd name="connsiteY46" fmla="*/ 4791821 h 6817170"/>
                <a:gd name="connsiteX47" fmla="*/ 65724 w 6028697"/>
                <a:gd name="connsiteY47" fmla="*/ 4603129 h 6817170"/>
                <a:gd name="connsiteX48" fmla="*/ 44727 w 6028697"/>
                <a:gd name="connsiteY48" fmla="*/ 4506937 h 6817170"/>
                <a:gd name="connsiteX49" fmla="*/ 35505 w 6028697"/>
                <a:gd name="connsiteY49" fmla="*/ 4458699 h 6817170"/>
                <a:gd name="connsiteX50" fmla="*/ 27845 w 6028697"/>
                <a:gd name="connsiteY50" fmla="*/ 4410320 h 6817170"/>
                <a:gd name="connsiteX51" fmla="*/ 37 w 6028697"/>
                <a:gd name="connsiteY51" fmla="*/ 4022292 h 6817170"/>
                <a:gd name="connsiteX52" fmla="*/ 78777 w 6028697"/>
                <a:gd name="connsiteY52" fmla="*/ 3267236 h 6817170"/>
                <a:gd name="connsiteX53" fmla="*/ 315424 w 6028697"/>
                <a:gd name="connsiteY53" fmla="*/ 2543673 h 6817170"/>
                <a:gd name="connsiteX54" fmla="*/ 1202710 w 6028697"/>
                <a:gd name="connsiteY54" fmla="*/ 1314895 h 6817170"/>
                <a:gd name="connsiteX55" fmla="*/ 1791065 w 6028697"/>
                <a:gd name="connsiteY55" fmla="*/ 833514 h 6817170"/>
                <a:gd name="connsiteX56" fmla="*/ 3908404 w 6028697"/>
                <a:gd name="connsiteY56" fmla="*/ 29794 h 6817170"/>
                <a:gd name="connsiteX57" fmla="*/ 4481066 w 6028697"/>
                <a:gd name="connsiteY57" fmla="*/ 478 h 6817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028697" h="6817170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C72F6EE6-EDE9-45A5-8F6D-02B9B7CB2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1"/>
              <a:ext cx="6165116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C093DC50-3BD7-46B1-A300-CD207E152F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-5977"/>
              <a:ext cx="6238675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CAAA098D-2048-49BD-AC08-FFD70BBA723F}"/>
              </a:ext>
            </a:extLst>
          </p:cNvPr>
          <p:cNvSpPr txBox="1"/>
          <p:nvPr/>
        </p:nvSpPr>
        <p:spPr>
          <a:xfrm>
            <a:off x="6268907" y="810385"/>
            <a:ext cx="2734173" cy="8162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buNone/>
            </a:pPr>
            <a:r>
              <a:rPr lang="ko-KR" altLang="en-US" sz="3600" b="1" dirty="0">
                <a:solidFill>
                  <a:schemeClr val="tx2"/>
                </a:solidFill>
              </a:rPr>
              <a:t>발표 흐름</a:t>
            </a:r>
            <a:endParaRPr lang="en-US" altLang="ko-KR" sz="3600" b="1" dirty="0">
              <a:solidFill>
                <a:schemeClr val="tx2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34CA5B3-62D2-8A94-844F-79D233A82060}"/>
              </a:ext>
            </a:extLst>
          </p:cNvPr>
          <p:cNvSpPr txBox="1"/>
          <p:nvPr/>
        </p:nvSpPr>
        <p:spPr>
          <a:xfrm>
            <a:off x="6606744" y="1758297"/>
            <a:ext cx="5139070" cy="43032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r>
              <a:rPr lang="en-US" altLang="ko-KR" sz="2000" b="1" dirty="0">
                <a:solidFill>
                  <a:srgbClr val="4C6B03"/>
                </a:solidFill>
              </a:rPr>
              <a:t>1.</a:t>
            </a:r>
            <a:r>
              <a:rPr lang="ko-KR" altLang="en-US" sz="2000" b="1" dirty="0">
                <a:solidFill>
                  <a:srgbClr val="4C6B03"/>
                </a:solidFill>
              </a:rPr>
              <a:t> 문제 정의</a:t>
            </a:r>
            <a:endParaRPr lang="en-US" altLang="ko-KR" sz="2000" b="1" dirty="0">
              <a:solidFill>
                <a:srgbClr val="4C6B03"/>
              </a:solidFill>
            </a:endParaRPr>
          </a:p>
          <a:p>
            <a:pPr>
              <a:lnSpc>
                <a:spcPct val="200000"/>
              </a:lnSpc>
              <a:buNone/>
            </a:pPr>
            <a:r>
              <a:rPr lang="en-US" altLang="ko-KR" sz="2000" b="1" dirty="0">
                <a:solidFill>
                  <a:srgbClr val="4C6B03"/>
                </a:solidFill>
              </a:rPr>
              <a:t>2.</a:t>
            </a:r>
            <a:r>
              <a:rPr lang="ko-KR" altLang="en-US" sz="2000" b="1" dirty="0">
                <a:solidFill>
                  <a:srgbClr val="4C6B03"/>
                </a:solidFill>
              </a:rPr>
              <a:t> 데이터 신뢰성 및 분석 기준 정립</a:t>
            </a:r>
            <a:endParaRPr lang="en-US" altLang="ko-KR" sz="2000" b="1" dirty="0">
              <a:solidFill>
                <a:srgbClr val="4C6B03"/>
              </a:solidFill>
            </a:endParaRPr>
          </a:p>
          <a:p>
            <a:pPr>
              <a:lnSpc>
                <a:spcPct val="200000"/>
              </a:lnSpc>
              <a:buNone/>
            </a:pPr>
            <a:r>
              <a:rPr lang="en-US" altLang="ko-KR" sz="2000" b="1" dirty="0">
                <a:solidFill>
                  <a:srgbClr val="4C6B03"/>
                </a:solidFill>
              </a:rPr>
              <a:t>3.</a:t>
            </a:r>
            <a:r>
              <a:rPr lang="ko-KR" altLang="en-US" sz="2000" b="1" dirty="0">
                <a:solidFill>
                  <a:srgbClr val="4C6B03"/>
                </a:solidFill>
              </a:rPr>
              <a:t> </a:t>
            </a:r>
            <a:r>
              <a:rPr lang="ko-KR" altLang="en-US" sz="2000" b="1" dirty="0" err="1">
                <a:solidFill>
                  <a:srgbClr val="4C6B03"/>
                </a:solidFill>
              </a:rPr>
              <a:t>리텐션</a:t>
            </a:r>
            <a:r>
              <a:rPr lang="ko-KR" altLang="en-US" sz="2000" b="1" dirty="0">
                <a:solidFill>
                  <a:srgbClr val="4C6B03"/>
                </a:solidFill>
              </a:rPr>
              <a:t> 구조 진단</a:t>
            </a:r>
            <a:endParaRPr lang="en-US" altLang="ko-KR" sz="2000" b="1" dirty="0">
              <a:solidFill>
                <a:srgbClr val="4C6B03"/>
              </a:solidFill>
            </a:endParaRPr>
          </a:p>
          <a:p>
            <a:pPr>
              <a:lnSpc>
                <a:spcPct val="200000"/>
              </a:lnSpc>
            </a:pPr>
            <a:r>
              <a:rPr lang="en-US" altLang="ko-KR" sz="2000" b="1" dirty="0">
                <a:solidFill>
                  <a:srgbClr val="4C6B03"/>
                </a:solidFill>
              </a:rPr>
              <a:t>4.</a:t>
            </a:r>
            <a:r>
              <a:rPr lang="ko-KR" altLang="en-US" sz="2000" b="1" dirty="0">
                <a:solidFill>
                  <a:srgbClr val="4C6B03"/>
                </a:solidFill>
              </a:rPr>
              <a:t> 재구매의 성격 분석 </a:t>
            </a:r>
            <a:r>
              <a:rPr lang="en-US" altLang="ko-KR" sz="2000" b="1" dirty="0">
                <a:solidFill>
                  <a:srgbClr val="4C6B03"/>
                </a:solidFill>
              </a:rPr>
              <a:t>(</a:t>
            </a:r>
            <a:r>
              <a:rPr lang="ko-KR" altLang="en-US" sz="2000" b="1" dirty="0">
                <a:solidFill>
                  <a:srgbClr val="4C6B03"/>
                </a:solidFill>
              </a:rPr>
              <a:t>행동 관점</a:t>
            </a:r>
            <a:r>
              <a:rPr lang="en-US" altLang="ko-KR" sz="2000" b="1" dirty="0">
                <a:solidFill>
                  <a:srgbClr val="4C6B03"/>
                </a:solidFill>
              </a:rPr>
              <a:t>)</a:t>
            </a:r>
            <a:r>
              <a:rPr lang="ko-KR" altLang="en-US" sz="2000" b="1" dirty="0">
                <a:solidFill>
                  <a:srgbClr val="4C6B03"/>
                </a:solidFill>
              </a:rPr>
              <a:t> </a:t>
            </a:r>
            <a:endParaRPr lang="en-US" altLang="ko-KR" sz="2000" b="1" dirty="0">
              <a:solidFill>
                <a:srgbClr val="4C6B03"/>
              </a:solidFill>
            </a:endParaRPr>
          </a:p>
          <a:p>
            <a:pPr>
              <a:lnSpc>
                <a:spcPct val="200000"/>
              </a:lnSpc>
            </a:pPr>
            <a:r>
              <a:rPr lang="en-US" altLang="ko-KR" sz="2000" b="1" dirty="0">
                <a:solidFill>
                  <a:srgbClr val="4C6B03"/>
                </a:solidFill>
              </a:rPr>
              <a:t>5.</a:t>
            </a:r>
            <a:r>
              <a:rPr lang="ko-KR" altLang="en-US" sz="2000" b="1" dirty="0">
                <a:solidFill>
                  <a:srgbClr val="4C6B03"/>
                </a:solidFill>
              </a:rPr>
              <a:t> 관점 전환 </a:t>
            </a:r>
            <a:r>
              <a:rPr lang="en-US" altLang="ko-KR" sz="2000" b="1" dirty="0">
                <a:solidFill>
                  <a:srgbClr val="4C6B03"/>
                </a:solidFill>
              </a:rPr>
              <a:t>:</a:t>
            </a:r>
            <a:r>
              <a:rPr lang="ko-KR" altLang="en-US" sz="2000" b="1" dirty="0">
                <a:solidFill>
                  <a:srgbClr val="4C6B03"/>
                </a:solidFill>
              </a:rPr>
              <a:t> </a:t>
            </a:r>
            <a:r>
              <a:rPr lang="en" altLang="ko-KR" sz="2000" b="1" dirty="0">
                <a:solidFill>
                  <a:srgbClr val="4C6B03"/>
                </a:solidFill>
              </a:rPr>
              <a:t>Retention → Revenue</a:t>
            </a:r>
          </a:p>
          <a:p>
            <a:pPr>
              <a:lnSpc>
                <a:spcPct val="200000"/>
              </a:lnSpc>
            </a:pPr>
            <a:r>
              <a:rPr lang="en-US" altLang="ko-KR" sz="2000" b="1" dirty="0">
                <a:solidFill>
                  <a:srgbClr val="4C6B03"/>
                </a:solidFill>
              </a:rPr>
              <a:t>6.</a:t>
            </a:r>
            <a:r>
              <a:rPr lang="ko-KR" altLang="en-US" sz="2000" b="1" dirty="0">
                <a:solidFill>
                  <a:srgbClr val="4C6B03"/>
                </a:solidFill>
              </a:rPr>
              <a:t> 매출 구조 분석</a:t>
            </a:r>
            <a:endParaRPr lang="en-US" altLang="ko-KR" sz="2000" b="1" dirty="0">
              <a:solidFill>
                <a:srgbClr val="4C6B03"/>
              </a:solidFill>
            </a:endParaRPr>
          </a:p>
          <a:p>
            <a:pPr>
              <a:lnSpc>
                <a:spcPct val="200000"/>
              </a:lnSpc>
            </a:pPr>
            <a:r>
              <a:rPr lang="en-US" altLang="ko-KR" sz="2000" b="1" dirty="0">
                <a:solidFill>
                  <a:srgbClr val="4C6B03"/>
                </a:solidFill>
              </a:rPr>
              <a:t>7.</a:t>
            </a:r>
            <a:r>
              <a:rPr lang="ko-KR" altLang="en-US" sz="2000" b="1" dirty="0">
                <a:solidFill>
                  <a:srgbClr val="4C6B03"/>
                </a:solidFill>
              </a:rPr>
              <a:t> 시사점 및 전략 제언</a:t>
            </a:r>
            <a:endParaRPr lang="en" altLang="ko-KR" sz="2000" b="1" dirty="0">
              <a:solidFill>
                <a:srgbClr val="4C6B0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05309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43D6347-ABCC-8067-7105-1B1A03741920}"/>
              </a:ext>
            </a:extLst>
          </p:cNvPr>
          <p:cNvSpPr txBox="1"/>
          <p:nvPr/>
        </p:nvSpPr>
        <p:spPr>
          <a:xfrm>
            <a:off x="7323566" y="145601"/>
            <a:ext cx="475994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buNone/>
            </a:pPr>
            <a:r>
              <a:rPr lang="en" altLang="ko-KR" sz="1400" dirty="0">
                <a:solidFill>
                  <a:schemeClr val="tx2"/>
                </a:solidFill>
                <a:latin typeface="Noto Sans Syriac SemiBold" panose="020B0502040504020204" pitchFamily="34" charset="0"/>
                <a:cs typeface="Noto Sans Syriac SemiBold" panose="020B0502040504020204" pitchFamily="34" charset="0"/>
              </a:rPr>
              <a:t>PBL 2. </a:t>
            </a:r>
            <a:r>
              <a:rPr lang="ko-KR" altLang="en-US" sz="1400" dirty="0">
                <a:solidFill>
                  <a:schemeClr val="tx2"/>
                </a:solidFill>
                <a:latin typeface="Noto Sans Syriac SemiBold" panose="020B0502040504020204" pitchFamily="34" charset="0"/>
                <a:cs typeface="Noto Sans Syriac SemiBold" panose="020B0502040504020204" pitchFamily="34" charset="0"/>
              </a:rPr>
              <a:t>서비스 분석</a:t>
            </a:r>
            <a:r>
              <a:rPr lang="en-US" altLang="ko-KR" sz="1400" dirty="0">
                <a:solidFill>
                  <a:schemeClr val="tx2"/>
                </a:solidFill>
                <a:latin typeface="Noto Sans Syriac SemiBold" panose="020B0502040504020204" pitchFamily="34" charset="0"/>
                <a:cs typeface="Noto Sans Syriac SemiBold" panose="020B0502040504020204" pitchFamily="34" charset="0"/>
              </a:rPr>
              <a:t>_26.01.26</a:t>
            </a:r>
            <a:endParaRPr lang="ko-KR" altLang="en-US" sz="1400" dirty="0">
              <a:solidFill>
                <a:schemeClr val="tx2"/>
              </a:solidFill>
              <a:latin typeface="Noto Sans Syriac SemiBold" panose="020B0502040504020204" pitchFamily="34" charset="0"/>
              <a:cs typeface="Noto Sans Syriac SemiBold" panose="020B0502040504020204" pitchFamily="34" charset="0"/>
            </a:endParaRPr>
          </a:p>
        </p:txBody>
      </p:sp>
      <p:pic>
        <p:nvPicPr>
          <p:cNvPr id="5" name="그림 4" descr="텍스트, 그래픽, 로고, 그래픽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B85A7EC-12E5-90CA-E037-F7F29F03D6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75383"/>
            <a:ext cx="1707878" cy="1707878"/>
          </a:xfrm>
          <a:prstGeom prst="rect">
            <a:avLst/>
          </a:prstGeom>
        </p:spPr>
      </p:pic>
      <p:sp>
        <p:nvSpPr>
          <p:cNvPr id="6" name="제목 1">
            <a:extLst>
              <a:ext uri="{FF2B5EF4-FFF2-40B4-BE49-F238E27FC236}">
                <a16:creationId xmlns:a16="http://schemas.microsoft.com/office/drawing/2014/main" id="{5D2C142E-35E6-4FC9-4C29-77E82FFFA3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19673"/>
            <a:ext cx="10515600" cy="571015"/>
          </a:xfrm>
          <a:solidFill>
            <a:srgbClr val="FFCB3C"/>
          </a:solidFill>
        </p:spPr>
        <p:txBody>
          <a:bodyPr>
            <a:noAutofit/>
          </a:bodyPr>
          <a:lstStyle/>
          <a:p>
            <a:pPr algn="ctr"/>
            <a:r>
              <a:rPr lang="en" altLang="ko-KR" sz="2000" b="1" dirty="0">
                <a:solidFill>
                  <a:schemeClr val="tx2"/>
                </a:solidFill>
              </a:rPr>
              <a:t>Olist </a:t>
            </a:r>
            <a:r>
              <a:rPr lang="ko-KR" altLang="en-US" sz="2000" b="1" dirty="0">
                <a:solidFill>
                  <a:schemeClr val="tx2"/>
                </a:solidFill>
              </a:rPr>
              <a:t>성장은 어디에서 기인하는 것일까</a:t>
            </a:r>
            <a:r>
              <a:rPr lang="en-US" altLang="ko-KR" sz="2000" b="1" dirty="0">
                <a:solidFill>
                  <a:schemeClr val="tx2"/>
                </a:solidFill>
              </a:rPr>
              <a:t>?</a:t>
            </a:r>
            <a:r>
              <a:rPr lang="ko-KR" altLang="en-US" sz="2000" b="1" dirty="0">
                <a:solidFill>
                  <a:schemeClr val="tx2"/>
                </a:solidFill>
              </a:rPr>
              <a:t>  </a:t>
            </a:r>
            <a:endParaRPr kumimoji="1" lang="ko-KR" altLang="en-US" sz="2000" b="1" dirty="0">
              <a:solidFill>
                <a:schemeClr val="tx2"/>
              </a:solidFill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61347764-E1E4-F853-A2B3-06E63C7B01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3939" y="2403287"/>
            <a:ext cx="5047952" cy="339525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1F3AB7A-CC5E-9365-D5CE-6D2536D31E04}"/>
              </a:ext>
            </a:extLst>
          </p:cNvPr>
          <p:cNvSpPr txBox="1"/>
          <p:nvPr/>
        </p:nvSpPr>
        <p:spPr>
          <a:xfrm>
            <a:off x="1136096" y="5798537"/>
            <a:ext cx="4262093" cy="4247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1600" b="1" dirty="0">
                <a:solidFill>
                  <a:schemeClr val="tx2"/>
                </a:solidFill>
                <a:latin typeface=".AppleSystemUIFont"/>
              </a:rPr>
              <a:t>✅  매출과 고객수가  함께 증가</a:t>
            </a:r>
            <a:endParaRPr lang="ko-KR" altLang="en-US" sz="1600" b="1" dirty="0">
              <a:solidFill>
                <a:schemeClr val="tx2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2950D65-6461-D48F-2623-C9CF94C7D81E}"/>
              </a:ext>
            </a:extLst>
          </p:cNvPr>
          <p:cNvSpPr txBox="1"/>
          <p:nvPr/>
        </p:nvSpPr>
        <p:spPr>
          <a:xfrm>
            <a:off x="6580078" y="5798537"/>
            <a:ext cx="4262093" cy="4247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b="1" dirty="0">
                <a:solidFill>
                  <a:schemeClr val="tx2"/>
                </a:solidFill>
                <a:latin typeface=".AppleSystemUIFont"/>
              </a:rPr>
              <a:t>✅ </a:t>
            </a:r>
            <a:r>
              <a:rPr lang="en-US" altLang="ko-KR" sz="1600" b="1" dirty="0">
                <a:solidFill>
                  <a:schemeClr val="tx2"/>
                </a:solidFill>
                <a:latin typeface=".AppleSystemUIFont"/>
              </a:rPr>
              <a:t>ARPU (</a:t>
            </a:r>
            <a:r>
              <a:rPr lang="ko-KR" altLang="en-US" sz="1600" b="1" dirty="0">
                <a:solidFill>
                  <a:schemeClr val="tx2"/>
                </a:solidFill>
                <a:latin typeface=".AppleSystemUIFont"/>
              </a:rPr>
              <a:t>고객 </a:t>
            </a:r>
            <a:r>
              <a:rPr lang="en-US" altLang="ko-KR" sz="1600" b="1" dirty="0">
                <a:solidFill>
                  <a:schemeClr val="tx2"/>
                </a:solidFill>
                <a:latin typeface=".AppleSystemUIFont"/>
              </a:rPr>
              <a:t>1</a:t>
            </a:r>
            <a:r>
              <a:rPr lang="ko-KR" altLang="en-US" sz="1600" b="1" dirty="0">
                <a:solidFill>
                  <a:schemeClr val="tx2"/>
                </a:solidFill>
                <a:latin typeface=".AppleSystemUIFont"/>
              </a:rPr>
              <a:t>인당 평균매출</a:t>
            </a:r>
            <a:r>
              <a:rPr lang="en-US" altLang="ko-KR" sz="1600" b="1" dirty="0">
                <a:solidFill>
                  <a:schemeClr val="tx2"/>
                </a:solidFill>
                <a:latin typeface=".AppleSystemUIFont"/>
              </a:rPr>
              <a:t>)</a:t>
            </a:r>
            <a:r>
              <a:rPr lang="ko-KR" altLang="en-US" sz="1600" b="1" dirty="0">
                <a:solidFill>
                  <a:schemeClr val="tx2"/>
                </a:solidFill>
                <a:latin typeface=".AppleSystemUIFont"/>
              </a:rPr>
              <a:t>도 안정적 유지 </a:t>
            </a:r>
            <a:endParaRPr lang="ko-KR" altLang="en-US" sz="1600" b="1" dirty="0">
              <a:solidFill>
                <a:schemeClr val="tx2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FA3D194-E9AD-C2AA-828D-CBF39A854100}"/>
              </a:ext>
            </a:extLst>
          </p:cNvPr>
          <p:cNvSpPr txBox="1"/>
          <p:nvPr/>
        </p:nvSpPr>
        <p:spPr>
          <a:xfrm>
            <a:off x="1601071" y="1985196"/>
            <a:ext cx="356942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1" dirty="0">
                <a:solidFill>
                  <a:schemeClr val="tx2"/>
                </a:solidFill>
              </a:rPr>
              <a:t>&lt;</a:t>
            </a:r>
            <a:r>
              <a:rPr lang="ko-KR" altLang="en-US" sz="1600" b="1" dirty="0">
                <a:solidFill>
                  <a:schemeClr val="tx2"/>
                </a:solidFill>
              </a:rPr>
              <a:t> 월별 매출과 구매 고객 수 추이 </a:t>
            </a:r>
            <a:r>
              <a:rPr lang="en-US" altLang="ko-KR" sz="1600" b="1" dirty="0">
                <a:solidFill>
                  <a:schemeClr val="tx2"/>
                </a:solidFill>
              </a:rPr>
              <a:t>&gt;</a:t>
            </a:r>
            <a:endParaRPr lang="ko-KR" altLang="en-US" sz="1600" dirty="0">
              <a:solidFill>
                <a:schemeClr val="tx2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4EAF7DD-E232-C33E-D9E2-3886F86F7CAB}"/>
              </a:ext>
            </a:extLst>
          </p:cNvPr>
          <p:cNvSpPr txBox="1"/>
          <p:nvPr/>
        </p:nvSpPr>
        <p:spPr>
          <a:xfrm>
            <a:off x="6521970" y="1968931"/>
            <a:ext cx="432020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1" dirty="0">
                <a:solidFill>
                  <a:schemeClr val="tx2"/>
                </a:solidFill>
              </a:rPr>
              <a:t>&lt;</a:t>
            </a:r>
            <a:r>
              <a:rPr lang="ko-KR" altLang="en-US" sz="1600" b="1" dirty="0">
                <a:solidFill>
                  <a:schemeClr val="tx2"/>
                </a:solidFill>
              </a:rPr>
              <a:t> 월별 고객 </a:t>
            </a:r>
            <a:r>
              <a:rPr lang="en-US" altLang="ko-KR" sz="1600" b="1" dirty="0">
                <a:solidFill>
                  <a:schemeClr val="tx2"/>
                </a:solidFill>
              </a:rPr>
              <a:t>1</a:t>
            </a:r>
            <a:r>
              <a:rPr lang="ko-KR" altLang="en-US" sz="1600" b="1" dirty="0">
                <a:solidFill>
                  <a:schemeClr val="tx2"/>
                </a:solidFill>
              </a:rPr>
              <a:t>인당 평균 매출</a:t>
            </a:r>
            <a:r>
              <a:rPr lang="en-US" altLang="ko-KR" sz="1600" b="1" dirty="0">
                <a:solidFill>
                  <a:schemeClr val="tx2"/>
                </a:solidFill>
              </a:rPr>
              <a:t>(ARPU</a:t>
            </a:r>
            <a:r>
              <a:rPr lang="ko-KR" altLang="en-US" sz="1600" b="1" dirty="0">
                <a:solidFill>
                  <a:schemeClr val="tx2"/>
                </a:solidFill>
              </a:rPr>
              <a:t> 변화</a:t>
            </a:r>
            <a:r>
              <a:rPr lang="en-US" altLang="ko-KR" sz="1600" b="1" dirty="0">
                <a:solidFill>
                  <a:schemeClr val="tx2"/>
                </a:solidFill>
              </a:rPr>
              <a:t>&gt;</a:t>
            </a:r>
            <a:endParaRPr lang="ko-KR" altLang="en-US" sz="1600" dirty="0">
              <a:solidFill>
                <a:schemeClr val="tx2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A42C7DA-71B8-0C3B-B1CA-D5BFD099BF3E}"/>
              </a:ext>
            </a:extLst>
          </p:cNvPr>
          <p:cNvSpPr txBox="1"/>
          <p:nvPr/>
        </p:nvSpPr>
        <p:spPr>
          <a:xfrm>
            <a:off x="3607540" y="634306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b="1" dirty="0">
                <a:solidFill>
                  <a:srgbClr val="C00000"/>
                </a:solidFill>
                <a:highlight>
                  <a:srgbClr val="FFFF00"/>
                </a:highlight>
                <a:sym typeface="Wingdings" pitchFamily="2" charset="2"/>
              </a:rPr>
              <a:t></a:t>
            </a:r>
            <a:r>
              <a:rPr lang="ko-KR" altLang="en-US" sz="1800" b="1" dirty="0">
                <a:solidFill>
                  <a:srgbClr val="C00000"/>
                </a:solidFill>
                <a:highlight>
                  <a:srgbClr val="FFFF00"/>
                </a:highlight>
                <a:sym typeface="Wingdings" pitchFamily="2" charset="2"/>
              </a:rPr>
              <a:t> 이 성장은 과연 문제없는 건강한 성장일까</a:t>
            </a:r>
            <a:r>
              <a:rPr lang="en-US" altLang="ko-KR" sz="1800" b="1" dirty="0">
                <a:solidFill>
                  <a:srgbClr val="C00000"/>
                </a:solidFill>
                <a:highlight>
                  <a:srgbClr val="FFFF00"/>
                </a:highlight>
                <a:sym typeface="Wingdings" pitchFamily="2" charset="2"/>
              </a:rPr>
              <a:t>?</a:t>
            </a:r>
            <a:r>
              <a:rPr lang="ko-KR" altLang="en-US" sz="1800" b="1" dirty="0">
                <a:solidFill>
                  <a:srgbClr val="C00000"/>
                </a:solidFill>
                <a:highlight>
                  <a:srgbClr val="FFFF00"/>
                </a:highlight>
                <a:sym typeface="Wingdings" pitchFamily="2" charset="2"/>
              </a:rPr>
              <a:t> </a:t>
            </a:r>
            <a:endParaRPr lang="ko-KR" altLang="en-US" dirty="0">
              <a:solidFill>
                <a:srgbClr val="C00000"/>
              </a:solidFill>
              <a:highlight>
                <a:srgbClr val="FFFF00"/>
              </a:highlight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8408A651-CC03-C43B-F548-5FD5D2BF293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5999" y="2403287"/>
            <a:ext cx="5261921" cy="3395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03410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D053E1-F304-D050-9393-666B616D6D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모서리가 둥근 직사각형 63">
            <a:extLst>
              <a:ext uri="{FF2B5EF4-FFF2-40B4-BE49-F238E27FC236}">
                <a16:creationId xmlns:a16="http://schemas.microsoft.com/office/drawing/2014/main" id="{E5DD690F-91F8-5E5B-D63D-3E62FE8EEA74}"/>
              </a:ext>
            </a:extLst>
          </p:cNvPr>
          <p:cNvSpPr/>
          <p:nvPr/>
        </p:nvSpPr>
        <p:spPr>
          <a:xfrm>
            <a:off x="1378857" y="2214517"/>
            <a:ext cx="9974943" cy="2253954"/>
          </a:xfrm>
          <a:prstGeom prst="roundRect">
            <a:avLst>
              <a:gd name="adj" fmla="val 10075"/>
            </a:avLst>
          </a:prstGeom>
          <a:solidFill>
            <a:schemeClr val="bg1">
              <a:lumMod val="95000"/>
            </a:schemeClr>
          </a:solidFill>
          <a:ln>
            <a:solidFill>
              <a:srgbClr val="FFCB3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C89F2BE-EF19-4B29-585E-C42299A93D4C}"/>
              </a:ext>
            </a:extLst>
          </p:cNvPr>
          <p:cNvSpPr txBox="1"/>
          <p:nvPr/>
        </p:nvSpPr>
        <p:spPr>
          <a:xfrm>
            <a:off x="7323566" y="145601"/>
            <a:ext cx="475994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buNone/>
            </a:pPr>
            <a:r>
              <a:rPr lang="en" altLang="ko-KR" sz="1400" dirty="0">
                <a:solidFill>
                  <a:schemeClr val="tx2"/>
                </a:solidFill>
                <a:latin typeface="Noto Sans Syriac SemiBold" panose="020B0502040504020204" pitchFamily="34" charset="0"/>
                <a:cs typeface="Noto Sans Syriac SemiBold" panose="020B0502040504020204" pitchFamily="34" charset="0"/>
              </a:rPr>
              <a:t>PBL 2. </a:t>
            </a:r>
            <a:r>
              <a:rPr lang="ko-KR" altLang="en-US" sz="1400" dirty="0">
                <a:solidFill>
                  <a:schemeClr val="tx2"/>
                </a:solidFill>
                <a:latin typeface="Noto Sans Syriac SemiBold" panose="020B0502040504020204" pitchFamily="34" charset="0"/>
                <a:cs typeface="Noto Sans Syriac SemiBold" panose="020B0502040504020204" pitchFamily="34" charset="0"/>
              </a:rPr>
              <a:t>서비스 분석</a:t>
            </a:r>
            <a:r>
              <a:rPr lang="en-US" altLang="ko-KR" sz="1400" dirty="0">
                <a:solidFill>
                  <a:schemeClr val="tx2"/>
                </a:solidFill>
                <a:latin typeface="Noto Sans Syriac SemiBold" panose="020B0502040504020204" pitchFamily="34" charset="0"/>
                <a:cs typeface="Noto Sans Syriac SemiBold" panose="020B0502040504020204" pitchFamily="34" charset="0"/>
              </a:rPr>
              <a:t>_26.01.26</a:t>
            </a:r>
            <a:endParaRPr lang="ko-KR" altLang="en-US" sz="1400" dirty="0">
              <a:solidFill>
                <a:schemeClr val="tx2"/>
              </a:solidFill>
              <a:latin typeface="Noto Sans Syriac SemiBold" panose="020B0502040504020204" pitchFamily="34" charset="0"/>
              <a:cs typeface="Noto Sans Syriac SemiBold" panose="020B0502040504020204" pitchFamily="34" charset="0"/>
            </a:endParaRPr>
          </a:p>
        </p:txBody>
      </p:sp>
      <p:pic>
        <p:nvPicPr>
          <p:cNvPr id="5" name="그림 4" descr="텍스트, 그래픽, 로고, 그래픽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9F422C5-6562-AB82-A226-37859B0E9E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75383"/>
            <a:ext cx="1707878" cy="1707878"/>
          </a:xfrm>
          <a:prstGeom prst="rect">
            <a:avLst/>
          </a:prstGeom>
        </p:spPr>
      </p:pic>
      <p:sp>
        <p:nvSpPr>
          <p:cNvPr id="6" name="제목 1">
            <a:extLst>
              <a:ext uri="{FF2B5EF4-FFF2-40B4-BE49-F238E27FC236}">
                <a16:creationId xmlns:a16="http://schemas.microsoft.com/office/drawing/2014/main" id="{BEED3E45-D97F-AB0D-EE2D-2F9C7A1C11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19673"/>
            <a:ext cx="10515600" cy="571015"/>
          </a:xfrm>
          <a:solidFill>
            <a:srgbClr val="FFCB3C"/>
          </a:solidFill>
        </p:spPr>
        <p:txBody>
          <a:bodyPr>
            <a:noAutofit/>
          </a:bodyPr>
          <a:lstStyle/>
          <a:p>
            <a:pPr algn="ctr"/>
            <a:r>
              <a:rPr kumimoji="1" lang="ko-KR" altLang="en-US" sz="2000" b="1" dirty="0">
                <a:solidFill>
                  <a:schemeClr val="tx2"/>
                </a:solidFill>
              </a:rPr>
              <a:t>보이는 성장 뒤에 숨은 구조는 무엇일까</a:t>
            </a:r>
            <a:r>
              <a:rPr kumimoji="1" lang="en-US" altLang="ko-KR" sz="2000" b="1" dirty="0">
                <a:solidFill>
                  <a:schemeClr val="tx2"/>
                </a:solidFill>
              </a:rPr>
              <a:t>?</a:t>
            </a:r>
            <a:r>
              <a:rPr kumimoji="1" lang="ko-KR" altLang="en-US" sz="2000" b="1" dirty="0">
                <a:solidFill>
                  <a:schemeClr val="tx2"/>
                </a:solidFill>
              </a:rPr>
              <a:t> </a:t>
            </a:r>
          </a:p>
        </p:txBody>
      </p:sp>
      <p:grpSp>
        <p:nvGrpSpPr>
          <p:cNvPr id="44" name="그룹 43">
            <a:extLst>
              <a:ext uri="{FF2B5EF4-FFF2-40B4-BE49-F238E27FC236}">
                <a16:creationId xmlns:a16="http://schemas.microsoft.com/office/drawing/2014/main" id="{37A83C6E-E7A3-A58E-7718-B892B9D5EDD7}"/>
              </a:ext>
            </a:extLst>
          </p:cNvPr>
          <p:cNvGrpSpPr/>
          <p:nvPr/>
        </p:nvGrpSpPr>
        <p:grpSpPr>
          <a:xfrm>
            <a:off x="1707878" y="2419474"/>
            <a:ext cx="9068296" cy="1430212"/>
            <a:chOff x="1068292" y="1835229"/>
            <a:chExt cx="9934898" cy="1729904"/>
          </a:xfrm>
        </p:grpSpPr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8BFC0123-FE9D-38DC-935F-D1264D2A8C9B}"/>
                </a:ext>
              </a:extLst>
            </p:cNvPr>
            <p:cNvSpPr/>
            <p:nvPr/>
          </p:nvSpPr>
          <p:spPr>
            <a:xfrm>
              <a:off x="1068292" y="2146622"/>
              <a:ext cx="1424312" cy="302703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ko-KR" altLang="en-US" sz="1600" dirty="0">
                  <a:solidFill>
                    <a:schemeClr val="accent3"/>
                  </a:solidFill>
                </a:rPr>
                <a:t>고객</a:t>
              </a:r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FE8B22DA-9BA1-DF26-4683-CFCA43F4D628}"/>
                </a:ext>
              </a:extLst>
            </p:cNvPr>
            <p:cNvSpPr/>
            <p:nvPr/>
          </p:nvSpPr>
          <p:spPr>
            <a:xfrm>
              <a:off x="3532563" y="1835229"/>
              <a:ext cx="1424312" cy="302703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ko-KR" altLang="en-US" sz="1600" dirty="0">
                  <a:solidFill>
                    <a:schemeClr val="accent3"/>
                  </a:solidFill>
                </a:rPr>
                <a:t> 위치</a:t>
              </a:r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B9827364-526C-22B1-1E87-F9430B59FF42}"/>
                </a:ext>
              </a:extLst>
            </p:cNvPr>
            <p:cNvSpPr/>
            <p:nvPr/>
          </p:nvSpPr>
          <p:spPr>
            <a:xfrm>
              <a:off x="3532563" y="2464917"/>
              <a:ext cx="1424312" cy="302703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ko-KR" altLang="en-US" sz="1600" dirty="0">
                  <a:solidFill>
                    <a:schemeClr val="accent3"/>
                  </a:solidFill>
                </a:rPr>
                <a:t>주문</a:t>
              </a:r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8DA5B5D8-19D6-B43A-FF6E-723762A52344}"/>
                </a:ext>
              </a:extLst>
            </p:cNvPr>
            <p:cNvSpPr/>
            <p:nvPr/>
          </p:nvSpPr>
          <p:spPr>
            <a:xfrm>
              <a:off x="5537869" y="2198836"/>
              <a:ext cx="1424312" cy="302703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ko-KR" altLang="en-US" sz="1600" dirty="0">
                  <a:solidFill>
                    <a:schemeClr val="accent3"/>
                  </a:solidFill>
                </a:rPr>
                <a:t>결제 </a:t>
              </a:r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9E338CDD-6860-1E3A-D626-D6D89A507377}"/>
                </a:ext>
              </a:extLst>
            </p:cNvPr>
            <p:cNvSpPr/>
            <p:nvPr/>
          </p:nvSpPr>
          <p:spPr>
            <a:xfrm>
              <a:off x="5537869" y="2613698"/>
              <a:ext cx="1424312" cy="302703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ko-KR" altLang="en-US" sz="1600" dirty="0">
                  <a:solidFill>
                    <a:schemeClr val="accent3"/>
                  </a:solidFill>
                </a:rPr>
                <a:t>리뷰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36635255-4294-DFBF-0FF8-CD1BC5AA8A65}"/>
                </a:ext>
              </a:extLst>
            </p:cNvPr>
            <p:cNvSpPr/>
            <p:nvPr/>
          </p:nvSpPr>
          <p:spPr>
            <a:xfrm>
              <a:off x="5537869" y="3077243"/>
              <a:ext cx="1424312" cy="302703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ko-KR" altLang="en-US" sz="1600" dirty="0">
                  <a:solidFill>
                    <a:schemeClr val="accent3"/>
                  </a:solidFill>
                </a:rPr>
                <a:t>상품</a:t>
              </a:r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924C3404-0EF9-F690-EEC7-2AB839770B12}"/>
                </a:ext>
              </a:extLst>
            </p:cNvPr>
            <p:cNvSpPr/>
            <p:nvPr/>
          </p:nvSpPr>
          <p:spPr>
            <a:xfrm>
              <a:off x="7679641" y="3272749"/>
              <a:ext cx="1424312" cy="289862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ko-KR" altLang="en-US" sz="1600" dirty="0">
                  <a:solidFill>
                    <a:schemeClr val="accent3"/>
                  </a:solidFill>
                </a:rPr>
                <a:t>판매자</a:t>
              </a:r>
            </a:p>
          </p:txBody>
        </p: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FF294ECC-F29A-9C69-D2AE-4BC84A22F4A8}"/>
                </a:ext>
              </a:extLst>
            </p:cNvPr>
            <p:cNvSpPr/>
            <p:nvPr/>
          </p:nvSpPr>
          <p:spPr>
            <a:xfrm>
              <a:off x="7679641" y="2820188"/>
              <a:ext cx="1424312" cy="302703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ko-KR" altLang="en-US" sz="1600" dirty="0">
                  <a:solidFill>
                    <a:schemeClr val="accent3"/>
                  </a:solidFill>
                </a:rPr>
                <a:t>카테고리</a:t>
              </a:r>
            </a:p>
          </p:txBody>
        </p: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55C72324-0CFE-9721-298D-067A06282A93}"/>
                </a:ext>
              </a:extLst>
            </p:cNvPr>
            <p:cNvSpPr/>
            <p:nvPr/>
          </p:nvSpPr>
          <p:spPr>
            <a:xfrm>
              <a:off x="9578878" y="3262430"/>
              <a:ext cx="1424312" cy="302703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ko-KR" altLang="en-US" sz="1600" dirty="0">
                  <a:solidFill>
                    <a:schemeClr val="accent3"/>
                  </a:solidFill>
                </a:rPr>
                <a:t>판매자 위치</a:t>
              </a:r>
            </a:p>
          </p:txBody>
        </p:sp>
        <p:cxnSp>
          <p:nvCxnSpPr>
            <p:cNvPr id="21" name="직선 연결선[R] 20">
              <a:extLst>
                <a:ext uri="{FF2B5EF4-FFF2-40B4-BE49-F238E27FC236}">
                  <a16:creationId xmlns:a16="http://schemas.microsoft.com/office/drawing/2014/main" id="{5547C1AE-10F5-BE63-E961-1D2E75F2C147}"/>
                </a:ext>
              </a:extLst>
            </p:cNvPr>
            <p:cNvCxnSpPr/>
            <p:nvPr/>
          </p:nvCxnSpPr>
          <p:spPr>
            <a:xfrm>
              <a:off x="3018971" y="1994886"/>
              <a:ext cx="513592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[R] 21">
              <a:extLst>
                <a:ext uri="{FF2B5EF4-FFF2-40B4-BE49-F238E27FC236}">
                  <a16:creationId xmlns:a16="http://schemas.microsoft.com/office/drawing/2014/main" id="{7E1738B4-11F5-36B9-80EF-37D8651888EE}"/>
                </a:ext>
              </a:extLst>
            </p:cNvPr>
            <p:cNvCxnSpPr/>
            <p:nvPr/>
          </p:nvCxnSpPr>
          <p:spPr>
            <a:xfrm>
              <a:off x="3018971" y="2613698"/>
              <a:ext cx="513592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4" name="직선 연결선[R] 23">
              <a:extLst>
                <a:ext uri="{FF2B5EF4-FFF2-40B4-BE49-F238E27FC236}">
                  <a16:creationId xmlns:a16="http://schemas.microsoft.com/office/drawing/2014/main" id="{16B636C0-EBE8-F2F6-2B65-99ABCF1A2E76}"/>
                </a:ext>
              </a:extLst>
            </p:cNvPr>
            <p:cNvCxnSpPr/>
            <p:nvPr/>
          </p:nvCxnSpPr>
          <p:spPr>
            <a:xfrm>
              <a:off x="3033485" y="1994886"/>
              <a:ext cx="0" cy="618812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[R] 24">
              <a:extLst>
                <a:ext uri="{FF2B5EF4-FFF2-40B4-BE49-F238E27FC236}">
                  <a16:creationId xmlns:a16="http://schemas.microsoft.com/office/drawing/2014/main" id="{5EE14BC7-6AF7-1448-61AF-BA4E0D00CE71}"/>
                </a:ext>
              </a:extLst>
            </p:cNvPr>
            <p:cNvCxnSpPr/>
            <p:nvPr/>
          </p:nvCxnSpPr>
          <p:spPr>
            <a:xfrm>
              <a:off x="2492604" y="2297973"/>
              <a:ext cx="513592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[R] 25">
              <a:extLst>
                <a:ext uri="{FF2B5EF4-FFF2-40B4-BE49-F238E27FC236}">
                  <a16:creationId xmlns:a16="http://schemas.microsoft.com/office/drawing/2014/main" id="{76169AC5-0C26-D8E1-9A84-186004217AE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168001" y="2297973"/>
              <a:ext cx="369868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[R] 29">
              <a:extLst>
                <a:ext uri="{FF2B5EF4-FFF2-40B4-BE49-F238E27FC236}">
                  <a16:creationId xmlns:a16="http://schemas.microsoft.com/office/drawing/2014/main" id="{09408EEF-4ABB-2550-BC84-9242BE2F05C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168001" y="2770481"/>
              <a:ext cx="369868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[R] 30">
              <a:extLst>
                <a:ext uri="{FF2B5EF4-FFF2-40B4-BE49-F238E27FC236}">
                  <a16:creationId xmlns:a16="http://schemas.microsoft.com/office/drawing/2014/main" id="{DA208F30-7D73-695F-2857-02091A91E34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168001" y="3263131"/>
              <a:ext cx="369868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[R] 31">
              <a:extLst>
                <a:ext uri="{FF2B5EF4-FFF2-40B4-BE49-F238E27FC236}">
                  <a16:creationId xmlns:a16="http://schemas.microsoft.com/office/drawing/2014/main" id="{2D7E4546-E763-DDB6-8D03-3EBB118665E9}"/>
                </a:ext>
              </a:extLst>
            </p:cNvPr>
            <p:cNvCxnSpPr>
              <a:cxnSpLocks/>
            </p:cNvCxnSpPr>
            <p:nvPr/>
          </p:nvCxnSpPr>
          <p:spPr>
            <a:xfrm>
              <a:off x="5167999" y="1936985"/>
              <a:ext cx="1" cy="1326146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[R] 33">
              <a:extLst>
                <a:ext uri="{FF2B5EF4-FFF2-40B4-BE49-F238E27FC236}">
                  <a16:creationId xmlns:a16="http://schemas.microsoft.com/office/drawing/2014/main" id="{73A90836-B6C7-B63B-BC47-809DEE846B12}"/>
                </a:ext>
              </a:extLst>
            </p:cNvPr>
            <p:cNvCxnSpPr>
              <a:cxnSpLocks/>
            </p:cNvCxnSpPr>
            <p:nvPr/>
          </p:nvCxnSpPr>
          <p:spPr>
            <a:xfrm>
              <a:off x="4953691" y="2613698"/>
              <a:ext cx="214310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직선 연결선[R] 35">
              <a:extLst>
                <a:ext uri="{FF2B5EF4-FFF2-40B4-BE49-F238E27FC236}">
                  <a16:creationId xmlns:a16="http://schemas.microsoft.com/office/drawing/2014/main" id="{BD37F477-8E08-72E0-0990-08EEB4EAF46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302516" y="3013855"/>
              <a:ext cx="369868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직선 연결선[R] 36">
              <a:extLst>
                <a:ext uri="{FF2B5EF4-FFF2-40B4-BE49-F238E27FC236}">
                  <a16:creationId xmlns:a16="http://schemas.microsoft.com/office/drawing/2014/main" id="{04362E8D-CB84-EAE1-B924-8A0660980D3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302516" y="3413781"/>
              <a:ext cx="369868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직선 연결선[R] 39">
              <a:extLst>
                <a:ext uri="{FF2B5EF4-FFF2-40B4-BE49-F238E27FC236}">
                  <a16:creationId xmlns:a16="http://schemas.microsoft.com/office/drawing/2014/main" id="{123E350A-5E32-326C-FB42-D7DBFBD65A3A}"/>
                </a:ext>
              </a:extLst>
            </p:cNvPr>
            <p:cNvCxnSpPr>
              <a:cxnSpLocks/>
            </p:cNvCxnSpPr>
            <p:nvPr/>
          </p:nvCxnSpPr>
          <p:spPr>
            <a:xfrm>
              <a:off x="6962181" y="3263131"/>
              <a:ext cx="34033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직선 연결선[R] 42">
              <a:extLst>
                <a:ext uri="{FF2B5EF4-FFF2-40B4-BE49-F238E27FC236}">
                  <a16:creationId xmlns:a16="http://schemas.microsoft.com/office/drawing/2014/main" id="{66434A87-38CC-139A-21A6-67DCE45764AA}"/>
                </a:ext>
              </a:extLst>
            </p:cNvPr>
            <p:cNvCxnSpPr/>
            <p:nvPr/>
          </p:nvCxnSpPr>
          <p:spPr>
            <a:xfrm>
              <a:off x="9084619" y="3429000"/>
              <a:ext cx="513592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5" name="TextBox 44">
            <a:extLst>
              <a:ext uri="{FF2B5EF4-FFF2-40B4-BE49-F238E27FC236}">
                <a16:creationId xmlns:a16="http://schemas.microsoft.com/office/drawing/2014/main" id="{E35449E7-E30E-F5E1-68CC-F2B612594BBD}"/>
              </a:ext>
            </a:extLst>
          </p:cNvPr>
          <p:cNvSpPr txBox="1"/>
          <p:nvPr/>
        </p:nvSpPr>
        <p:spPr>
          <a:xfrm>
            <a:off x="1195371" y="4468471"/>
            <a:ext cx="8379217" cy="21068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200000"/>
              </a:lnSpc>
              <a:buFont typeface="Wingdings" pitchFamily="2" charset="2"/>
              <a:buChar char="§"/>
            </a:pPr>
            <a:r>
              <a:rPr kumimoji="1" lang="ko-KR" altLang="en-US" b="1" dirty="0">
                <a:solidFill>
                  <a:schemeClr val="tx2"/>
                </a:solidFill>
              </a:rPr>
              <a:t>데이터셋 특징</a:t>
            </a:r>
            <a:endParaRPr kumimoji="1" lang="en-US" altLang="ko-KR" b="1" dirty="0">
              <a:solidFill>
                <a:schemeClr val="tx2"/>
              </a:solidFill>
            </a:endParaRPr>
          </a:p>
          <a:p>
            <a:pPr>
              <a:lnSpc>
                <a:spcPct val="200000"/>
              </a:lnSpc>
            </a:pPr>
            <a:r>
              <a:rPr kumimoji="1" lang="ko-KR" altLang="en-US" sz="1600" dirty="0">
                <a:solidFill>
                  <a:schemeClr val="tx2"/>
                </a:solidFill>
              </a:rPr>
              <a:t>    </a:t>
            </a:r>
            <a:r>
              <a:rPr kumimoji="1" lang="en-US" altLang="ko-KR" sz="1600" dirty="0">
                <a:solidFill>
                  <a:schemeClr val="tx2"/>
                </a:solidFill>
              </a:rPr>
              <a:t>:</a:t>
            </a:r>
            <a:r>
              <a:rPr kumimoji="1" lang="ko-KR" altLang="en-US" sz="1600" dirty="0">
                <a:solidFill>
                  <a:schemeClr val="tx2"/>
                </a:solidFill>
              </a:rPr>
              <a:t> 주문</a:t>
            </a:r>
            <a:r>
              <a:rPr kumimoji="1" lang="en-US" altLang="ko-KR" sz="1600" dirty="0">
                <a:solidFill>
                  <a:schemeClr val="tx2"/>
                </a:solidFill>
              </a:rPr>
              <a:t>,</a:t>
            </a:r>
            <a:r>
              <a:rPr kumimoji="1" lang="ko-KR" altLang="en-US" sz="1600" dirty="0">
                <a:solidFill>
                  <a:schemeClr val="tx2"/>
                </a:solidFill>
              </a:rPr>
              <a:t> 결제</a:t>
            </a:r>
            <a:r>
              <a:rPr kumimoji="1" lang="en-US" altLang="ko-KR" sz="1600" dirty="0">
                <a:solidFill>
                  <a:schemeClr val="tx2"/>
                </a:solidFill>
              </a:rPr>
              <a:t>,</a:t>
            </a:r>
            <a:r>
              <a:rPr kumimoji="1" lang="ko-KR" altLang="en-US" sz="1600" dirty="0">
                <a:solidFill>
                  <a:schemeClr val="tx2"/>
                </a:solidFill>
              </a:rPr>
              <a:t> 상품</a:t>
            </a:r>
            <a:r>
              <a:rPr kumimoji="1" lang="en-US" altLang="ko-KR" sz="1600" dirty="0">
                <a:solidFill>
                  <a:schemeClr val="tx2"/>
                </a:solidFill>
              </a:rPr>
              <a:t>,</a:t>
            </a:r>
            <a:r>
              <a:rPr kumimoji="1" lang="ko-KR" altLang="en-US" sz="1600" dirty="0">
                <a:solidFill>
                  <a:schemeClr val="tx2"/>
                </a:solidFill>
              </a:rPr>
              <a:t> 리뷰</a:t>
            </a:r>
            <a:r>
              <a:rPr kumimoji="1" lang="en-US" altLang="ko-KR" sz="1600" dirty="0">
                <a:solidFill>
                  <a:schemeClr val="tx2"/>
                </a:solidFill>
              </a:rPr>
              <a:t>,</a:t>
            </a:r>
            <a:r>
              <a:rPr kumimoji="1" lang="ko-KR" altLang="en-US" sz="1600" dirty="0">
                <a:solidFill>
                  <a:schemeClr val="tx2"/>
                </a:solidFill>
              </a:rPr>
              <a:t> 판매자</a:t>
            </a:r>
            <a:r>
              <a:rPr kumimoji="1" lang="en-US" altLang="ko-KR" sz="1600" dirty="0">
                <a:solidFill>
                  <a:schemeClr val="tx2"/>
                </a:solidFill>
              </a:rPr>
              <a:t>,</a:t>
            </a:r>
            <a:r>
              <a:rPr kumimoji="1" lang="ko-KR" altLang="en-US" sz="1600" dirty="0">
                <a:solidFill>
                  <a:schemeClr val="tx2"/>
                </a:solidFill>
              </a:rPr>
              <a:t> 고객 정보가 분리된 </a:t>
            </a:r>
            <a:r>
              <a:rPr kumimoji="1" lang="ko-KR" altLang="en-US" sz="1600" dirty="0" err="1">
                <a:solidFill>
                  <a:schemeClr val="tx2"/>
                </a:solidFill>
              </a:rPr>
              <a:t>마켓플레이스형</a:t>
            </a:r>
            <a:r>
              <a:rPr kumimoji="1" lang="ko-KR" altLang="en-US" sz="1600" dirty="0">
                <a:solidFill>
                  <a:schemeClr val="tx2"/>
                </a:solidFill>
              </a:rPr>
              <a:t> </a:t>
            </a:r>
            <a:r>
              <a:rPr kumimoji="1" lang="ko-KR" altLang="en-US" sz="1600" dirty="0" err="1">
                <a:solidFill>
                  <a:schemeClr val="tx2"/>
                </a:solidFill>
              </a:rPr>
              <a:t>이커머스</a:t>
            </a:r>
            <a:r>
              <a:rPr kumimoji="1" lang="ko-KR" altLang="en-US" sz="1600" dirty="0">
                <a:solidFill>
                  <a:schemeClr val="tx2"/>
                </a:solidFill>
              </a:rPr>
              <a:t> 데이터</a:t>
            </a:r>
            <a:r>
              <a:rPr kumimoji="1" lang="ko-KR" altLang="en-US" sz="1600" b="1" dirty="0">
                <a:solidFill>
                  <a:schemeClr val="tx2"/>
                </a:solidFill>
              </a:rPr>
              <a:t> </a:t>
            </a:r>
            <a:endParaRPr kumimoji="1" lang="en-US" altLang="ko-KR" sz="1600" b="1" dirty="0">
              <a:solidFill>
                <a:schemeClr val="tx2"/>
              </a:solidFill>
            </a:endParaRPr>
          </a:p>
          <a:p>
            <a:pPr marL="285750" indent="-285750">
              <a:lnSpc>
                <a:spcPct val="200000"/>
              </a:lnSpc>
              <a:buFont typeface="Wingdings" pitchFamily="2" charset="2"/>
              <a:buChar char="§"/>
            </a:pPr>
            <a:r>
              <a:rPr kumimoji="1" lang="ko-KR" altLang="en-US" b="1" dirty="0">
                <a:solidFill>
                  <a:schemeClr val="tx2"/>
                </a:solidFill>
              </a:rPr>
              <a:t>분석 목표  </a:t>
            </a:r>
            <a:endParaRPr kumimoji="1" lang="en-US" altLang="ko-KR" b="1" dirty="0">
              <a:solidFill>
                <a:schemeClr val="tx2"/>
              </a:solidFill>
            </a:endParaRPr>
          </a:p>
          <a:p>
            <a:pPr>
              <a:lnSpc>
                <a:spcPct val="200000"/>
              </a:lnSpc>
            </a:pPr>
            <a:r>
              <a:rPr kumimoji="1" lang="ko-KR" altLang="en-US" sz="1600" dirty="0">
                <a:solidFill>
                  <a:schemeClr val="tx2"/>
                </a:solidFill>
              </a:rPr>
              <a:t>    </a:t>
            </a:r>
            <a:r>
              <a:rPr kumimoji="1" lang="en-US" altLang="ko-KR" sz="1600" dirty="0">
                <a:solidFill>
                  <a:schemeClr val="tx2"/>
                </a:solidFill>
              </a:rPr>
              <a:t>:</a:t>
            </a:r>
            <a:r>
              <a:rPr kumimoji="1" lang="ko-KR" altLang="en-US" sz="1600" dirty="0">
                <a:solidFill>
                  <a:schemeClr val="tx2"/>
                </a:solidFill>
              </a:rPr>
              <a:t> </a:t>
            </a:r>
            <a:r>
              <a:rPr kumimoji="1" lang="en-US" altLang="ko-KR" sz="1600" dirty="0">
                <a:solidFill>
                  <a:schemeClr val="tx2"/>
                </a:solidFill>
              </a:rPr>
              <a:t>AARRR </a:t>
            </a:r>
            <a:r>
              <a:rPr kumimoji="1" lang="ko-KR" altLang="en-US" sz="1600" dirty="0">
                <a:solidFill>
                  <a:schemeClr val="tx2"/>
                </a:solidFill>
              </a:rPr>
              <a:t>프레임워크 관점에서 올리스트의 성장 구조를 고객 단위로 해부</a:t>
            </a:r>
            <a:endParaRPr kumimoji="1" lang="en-US" altLang="ko-KR" sz="1600" dirty="0">
              <a:solidFill>
                <a:schemeClr val="tx2"/>
              </a:solidFill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B1E770DC-D9F4-576E-5A5E-71D7F72743D9}"/>
              </a:ext>
            </a:extLst>
          </p:cNvPr>
          <p:cNvSpPr txBox="1"/>
          <p:nvPr/>
        </p:nvSpPr>
        <p:spPr>
          <a:xfrm>
            <a:off x="2683996" y="4049531"/>
            <a:ext cx="717439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dirty="0">
                <a:solidFill>
                  <a:srgbClr val="0E0E0E"/>
                </a:solidFill>
                <a:latin typeface=".AppleSystemUIFont"/>
              </a:rPr>
              <a:t>✅ </a:t>
            </a:r>
            <a:r>
              <a:rPr lang="ko-KR" altLang="en-US" sz="1600" dirty="0">
                <a:solidFill>
                  <a:srgbClr val="0E0E0E"/>
                </a:solidFill>
                <a:highlight>
                  <a:srgbClr val="FFFF00"/>
                </a:highlight>
                <a:latin typeface=".AppleSystemUIFont"/>
              </a:rPr>
              <a:t>고객단위로 시간 흐름에 따라 첫 구매 </a:t>
            </a:r>
            <a:r>
              <a:rPr lang="en-US" altLang="ko-KR" sz="1600" dirty="0">
                <a:solidFill>
                  <a:srgbClr val="0E0E0E"/>
                </a:solidFill>
                <a:highlight>
                  <a:srgbClr val="FFFF00"/>
                </a:highlight>
                <a:latin typeface=".AppleSystemUIFont"/>
                <a:sym typeface="Wingdings" pitchFamily="2" charset="2"/>
              </a:rPr>
              <a:t></a:t>
            </a:r>
            <a:r>
              <a:rPr lang="ko-KR" altLang="en-US" sz="1600" dirty="0">
                <a:solidFill>
                  <a:srgbClr val="0E0E0E"/>
                </a:solidFill>
                <a:highlight>
                  <a:srgbClr val="FFFF00"/>
                </a:highlight>
                <a:latin typeface=".AppleSystemUIFont"/>
              </a:rPr>
              <a:t> 반복 구매 </a:t>
            </a:r>
            <a:r>
              <a:rPr lang="en-US" altLang="ko-KR" sz="1600" dirty="0">
                <a:solidFill>
                  <a:srgbClr val="0E0E0E"/>
                </a:solidFill>
                <a:highlight>
                  <a:srgbClr val="FFFF00"/>
                </a:highlight>
                <a:latin typeface=".AppleSystemUIFont"/>
                <a:sym typeface="Wingdings" pitchFamily="2" charset="2"/>
              </a:rPr>
              <a:t></a:t>
            </a:r>
            <a:r>
              <a:rPr lang="ko-KR" altLang="en-US" sz="1600" dirty="0">
                <a:solidFill>
                  <a:srgbClr val="0E0E0E"/>
                </a:solidFill>
                <a:highlight>
                  <a:srgbClr val="FFFF00"/>
                </a:highlight>
                <a:latin typeface=".AppleSystemUIFont"/>
              </a:rPr>
              <a:t>누적 가치를 추적 가능</a:t>
            </a:r>
            <a:endParaRPr lang="ko-KR" altLang="en-US" sz="1600" dirty="0">
              <a:highlight>
                <a:srgbClr val="FFFF00"/>
              </a:highlight>
            </a:endParaRP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3CB956BD-5B5C-4F03-9F0B-E4B173848B4A}"/>
              </a:ext>
            </a:extLst>
          </p:cNvPr>
          <p:cNvSpPr/>
          <p:nvPr/>
        </p:nvSpPr>
        <p:spPr>
          <a:xfrm>
            <a:off x="5787583" y="2349024"/>
            <a:ext cx="1300072" cy="25026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1600" dirty="0">
                <a:solidFill>
                  <a:schemeClr val="accent3"/>
                </a:solidFill>
              </a:rPr>
              <a:t>배송 </a:t>
            </a:r>
          </a:p>
        </p:txBody>
      </p:sp>
      <p:cxnSp>
        <p:nvCxnSpPr>
          <p:cNvPr id="53" name="직선 연결선[R] 52">
            <a:extLst>
              <a:ext uri="{FF2B5EF4-FFF2-40B4-BE49-F238E27FC236}">
                <a16:creationId xmlns:a16="http://schemas.microsoft.com/office/drawing/2014/main" id="{C116DC5D-B392-A8DE-C087-55CDD3E47F14}"/>
              </a:ext>
            </a:extLst>
          </p:cNvPr>
          <p:cNvCxnSpPr>
            <a:cxnSpLocks/>
          </p:cNvCxnSpPr>
          <p:nvPr/>
        </p:nvCxnSpPr>
        <p:spPr>
          <a:xfrm flipH="1">
            <a:off x="5449976" y="2493138"/>
            <a:ext cx="337605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2290E06E-959E-9AC2-9BFD-0BBAC2123DEE}"/>
              </a:ext>
            </a:extLst>
          </p:cNvPr>
          <p:cNvSpPr/>
          <p:nvPr/>
        </p:nvSpPr>
        <p:spPr>
          <a:xfrm>
            <a:off x="7724885" y="2890294"/>
            <a:ext cx="1300072" cy="25026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1600" dirty="0">
                <a:solidFill>
                  <a:schemeClr val="accent3"/>
                </a:solidFill>
              </a:rPr>
              <a:t>가격</a:t>
            </a:r>
          </a:p>
        </p:txBody>
      </p:sp>
      <p:cxnSp>
        <p:nvCxnSpPr>
          <p:cNvPr id="56" name="직선 연결선[R] 55">
            <a:extLst>
              <a:ext uri="{FF2B5EF4-FFF2-40B4-BE49-F238E27FC236}">
                <a16:creationId xmlns:a16="http://schemas.microsoft.com/office/drawing/2014/main" id="{93BA9DCC-15E7-1049-ADD9-5B10568BB25D}"/>
              </a:ext>
            </a:extLst>
          </p:cNvPr>
          <p:cNvCxnSpPr>
            <a:cxnSpLocks/>
          </p:cNvCxnSpPr>
          <p:nvPr/>
        </p:nvCxnSpPr>
        <p:spPr>
          <a:xfrm flipH="1">
            <a:off x="7391678" y="3043295"/>
            <a:ext cx="317914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직선 연결선[R] 59">
            <a:extLst>
              <a:ext uri="{FF2B5EF4-FFF2-40B4-BE49-F238E27FC236}">
                <a16:creationId xmlns:a16="http://schemas.microsoft.com/office/drawing/2014/main" id="{1C78D380-6AE3-0AD7-5AFF-B116F879B9F5}"/>
              </a:ext>
            </a:extLst>
          </p:cNvPr>
          <p:cNvCxnSpPr>
            <a:cxnSpLocks/>
          </p:cNvCxnSpPr>
          <p:nvPr/>
        </p:nvCxnSpPr>
        <p:spPr>
          <a:xfrm>
            <a:off x="7398303" y="3043295"/>
            <a:ext cx="0" cy="693842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8DBFBD67-7824-C5A6-46D8-FD75FAFCA000}"/>
              </a:ext>
            </a:extLst>
          </p:cNvPr>
          <p:cNvSpPr txBox="1"/>
          <p:nvPr/>
        </p:nvSpPr>
        <p:spPr>
          <a:xfrm>
            <a:off x="1227566" y="1643502"/>
            <a:ext cx="6096000" cy="5581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Wingdings" pitchFamily="2" charset="2"/>
              <a:buChar char="§"/>
            </a:pPr>
            <a:r>
              <a:rPr kumimoji="1" lang="ko-KR" altLang="en-US" b="1" dirty="0">
                <a:solidFill>
                  <a:schemeClr val="tx2"/>
                </a:solidFill>
              </a:rPr>
              <a:t>고객 구매 여정 기반 데이터 구조</a:t>
            </a:r>
            <a:endParaRPr kumimoji="1" lang="en-US" altLang="ko-KR" b="1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54126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A9497E1-6E12-0BC0-DF02-1CC5501E6243}"/>
              </a:ext>
            </a:extLst>
          </p:cNvPr>
          <p:cNvSpPr txBox="1"/>
          <p:nvPr/>
        </p:nvSpPr>
        <p:spPr>
          <a:xfrm>
            <a:off x="7323566" y="145601"/>
            <a:ext cx="475994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buNone/>
            </a:pPr>
            <a:r>
              <a:rPr lang="en" altLang="ko-KR" sz="1400" dirty="0">
                <a:solidFill>
                  <a:schemeClr val="tx2"/>
                </a:solidFill>
                <a:latin typeface="Noto Sans Syriac SemiBold" panose="020B0502040504020204" pitchFamily="34" charset="0"/>
                <a:cs typeface="Noto Sans Syriac SemiBold" panose="020B0502040504020204" pitchFamily="34" charset="0"/>
              </a:rPr>
              <a:t>PBL 2. </a:t>
            </a:r>
            <a:r>
              <a:rPr lang="ko-KR" altLang="en-US" sz="1400" dirty="0">
                <a:solidFill>
                  <a:schemeClr val="tx2"/>
                </a:solidFill>
                <a:latin typeface="Noto Sans Syriac SemiBold" panose="020B0502040504020204" pitchFamily="34" charset="0"/>
                <a:cs typeface="Noto Sans Syriac SemiBold" panose="020B0502040504020204" pitchFamily="34" charset="0"/>
              </a:rPr>
              <a:t>서비스 분석</a:t>
            </a:r>
            <a:r>
              <a:rPr lang="en-US" altLang="ko-KR" sz="1400" dirty="0">
                <a:solidFill>
                  <a:schemeClr val="tx2"/>
                </a:solidFill>
                <a:latin typeface="Noto Sans Syriac SemiBold" panose="020B0502040504020204" pitchFamily="34" charset="0"/>
                <a:cs typeface="Noto Sans Syriac SemiBold" panose="020B0502040504020204" pitchFamily="34" charset="0"/>
              </a:rPr>
              <a:t>_26.01.26</a:t>
            </a:r>
            <a:endParaRPr lang="ko-KR" altLang="en-US" sz="1400" dirty="0">
              <a:solidFill>
                <a:schemeClr val="tx2"/>
              </a:solidFill>
              <a:latin typeface="Noto Sans Syriac SemiBold" panose="020B0502040504020204" pitchFamily="34" charset="0"/>
              <a:cs typeface="Noto Sans Syriac SemiBold" panose="020B0502040504020204" pitchFamily="34" charset="0"/>
            </a:endParaRPr>
          </a:p>
        </p:txBody>
      </p:sp>
      <p:pic>
        <p:nvPicPr>
          <p:cNvPr id="5" name="그림 4" descr="텍스트, 그래픽, 로고, 그래픽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F05A159-2BF9-6258-D149-A538547F60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75383"/>
            <a:ext cx="1707878" cy="1707878"/>
          </a:xfrm>
          <a:prstGeom prst="rect">
            <a:avLst/>
          </a:prstGeom>
        </p:spPr>
      </p:pic>
      <p:sp>
        <p:nvSpPr>
          <p:cNvPr id="6" name="제목 1">
            <a:extLst>
              <a:ext uri="{FF2B5EF4-FFF2-40B4-BE49-F238E27FC236}">
                <a16:creationId xmlns:a16="http://schemas.microsoft.com/office/drawing/2014/main" id="{EFF73524-101F-3324-86E0-348BE5C7AD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19673"/>
            <a:ext cx="10515600" cy="571015"/>
          </a:xfrm>
          <a:solidFill>
            <a:srgbClr val="FFCB3C"/>
          </a:solidFill>
        </p:spPr>
        <p:txBody>
          <a:bodyPr>
            <a:noAutofit/>
          </a:bodyPr>
          <a:lstStyle/>
          <a:p>
            <a:pPr algn="ctr"/>
            <a:r>
              <a:rPr kumimoji="1" lang="ko-KR" altLang="en-US" sz="2000" b="1" dirty="0">
                <a:solidFill>
                  <a:schemeClr val="tx2"/>
                </a:solidFill>
              </a:rPr>
              <a:t>신뢰 가능한 데이터 구조 위에서 분석 설계 기획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84D16C-C709-6651-B5F3-C6C9D76AC6DF}"/>
              </a:ext>
            </a:extLst>
          </p:cNvPr>
          <p:cNvSpPr txBox="1"/>
          <p:nvPr/>
        </p:nvSpPr>
        <p:spPr>
          <a:xfrm>
            <a:off x="838200" y="1932314"/>
            <a:ext cx="8860311" cy="17067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200000"/>
              </a:lnSpc>
              <a:buFont typeface="Wingdings" pitchFamily="2" charset="2"/>
              <a:buChar char="u"/>
            </a:pPr>
            <a:r>
              <a:rPr kumimoji="1" lang="ko-KR" altLang="en-US" b="1" dirty="0">
                <a:solidFill>
                  <a:schemeClr val="tx2"/>
                </a:solidFill>
              </a:rPr>
              <a:t>데이터 품질 검토 요약</a:t>
            </a:r>
            <a:endParaRPr kumimoji="1" lang="en-US" altLang="ko-KR" b="1" dirty="0">
              <a:solidFill>
                <a:schemeClr val="tx2"/>
              </a:solidFill>
            </a:endParaRPr>
          </a:p>
          <a:p>
            <a:pPr>
              <a:lnSpc>
                <a:spcPct val="150000"/>
              </a:lnSpc>
            </a:pPr>
            <a:r>
              <a:rPr kumimoji="1" lang="en-US" altLang="ko-KR" sz="1600" dirty="0">
                <a:solidFill>
                  <a:schemeClr val="tx2"/>
                </a:solidFill>
                <a:latin typeface="+mn-ea"/>
              </a:rPr>
              <a:t>-</a:t>
            </a:r>
            <a:r>
              <a:rPr kumimoji="1" lang="ko-KR" altLang="en-US" sz="1600" dirty="0">
                <a:solidFill>
                  <a:schemeClr val="tx2"/>
                </a:solidFill>
                <a:latin typeface="+mn-ea"/>
              </a:rPr>
              <a:t> </a:t>
            </a:r>
            <a:r>
              <a:rPr lang="ko-KR" altLang="en-US" sz="1600" dirty="0">
                <a:solidFill>
                  <a:schemeClr val="tx2"/>
                </a:solidFill>
                <a:latin typeface="+mn-ea"/>
              </a:rPr>
              <a:t>결제</a:t>
            </a:r>
            <a:r>
              <a:rPr lang="en-US" altLang="ko-KR" sz="1600" dirty="0">
                <a:solidFill>
                  <a:schemeClr val="tx2"/>
                </a:solidFill>
                <a:latin typeface="+mn-ea"/>
              </a:rPr>
              <a:t>(</a:t>
            </a:r>
            <a:r>
              <a:rPr lang="en" altLang="ko-KR" sz="1600" dirty="0">
                <a:solidFill>
                  <a:schemeClr val="tx2"/>
                </a:solidFill>
                <a:latin typeface="+mn-ea"/>
              </a:rPr>
              <a:t>payments), </a:t>
            </a:r>
            <a:r>
              <a:rPr lang="ko-KR" altLang="en-US" sz="1600" dirty="0">
                <a:solidFill>
                  <a:schemeClr val="tx2"/>
                </a:solidFill>
                <a:latin typeface="+mn-ea"/>
              </a:rPr>
              <a:t>상품</a:t>
            </a:r>
            <a:r>
              <a:rPr lang="en-US" altLang="ko-KR" sz="1600" dirty="0">
                <a:solidFill>
                  <a:schemeClr val="tx2"/>
                </a:solidFill>
                <a:latin typeface="+mn-ea"/>
              </a:rPr>
              <a:t>(</a:t>
            </a:r>
            <a:r>
              <a:rPr lang="en" altLang="ko-KR" sz="1600" dirty="0">
                <a:solidFill>
                  <a:schemeClr val="tx2"/>
                </a:solidFill>
                <a:latin typeface="+mn-ea"/>
              </a:rPr>
              <a:t>items)</a:t>
            </a:r>
            <a:r>
              <a:rPr lang="ko-KR" altLang="en-US" sz="1600" dirty="0">
                <a:solidFill>
                  <a:schemeClr val="tx2"/>
                </a:solidFill>
                <a:latin typeface="+mn-ea"/>
              </a:rPr>
              <a:t>의 중복은 한 주문에 여러 결제</a:t>
            </a:r>
            <a:r>
              <a:rPr lang="en-US" altLang="ko-KR" sz="1600" dirty="0">
                <a:solidFill>
                  <a:schemeClr val="tx2"/>
                </a:solidFill>
                <a:latin typeface="+mn-ea"/>
              </a:rPr>
              <a:t>/</a:t>
            </a:r>
            <a:r>
              <a:rPr lang="ko-KR" altLang="en-US" sz="1600" dirty="0">
                <a:solidFill>
                  <a:schemeClr val="tx2"/>
                </a:solidFill>
                <a:latin typeface="+mn-ea"/>
              </a:rPr>
              <a:t>상품이 포함될 수 있는 정상 구조</a:t>
            </a:r>
          </a:p>
          <a:p>
            <a:pPr>
              <a:lnSpc>
                <a:spcPct val="150000"/>
              </a:lnSpc>
            </a:pPr>
            <a:r>
              <a:rPr lang="en-US" altLang="ko-KR" sz="1600" dirty="0">
                <a:solidFill>
                  <a:schemeClr val="tx2"/>
                </a:solidFill>
                <a:latin typeface="+mn-ea"/>
              </a:rPr>
              <a:t>-</a:t>
            </a:r>
            <a:r>
              <a:rPr lang="ko-KR" altLang="en-US" sz="1600" dirty="0">
                <a:solidFill>
                  <a:schemeClr val="tx2"/>
                </a:solidFill>
                <a:latin typeface="+mn-ea"/>
              </a:rPr>
              <a:t> 비즈니스 흐름으로 설명 가능한 </a:t>
            </a:r>
            <a:r>
              <a:rPr lang="ko-KR" altLang="en-US" sz="1600" dirty="0" err="1">
                <a:solidFill>
                  <a:schemeClr val="tx2"/>
                </a:solidFill>
                <a:latin typeface="+mn-ea"/>
              </a:rPr>
              <a:t>결측만</a:t>
            </a:r>
            <a:r>
              <a:rPr lang="ko-KR" altLang="en-US" sz="1600" dirty="0">
                <a:solidFill>
                  <a:schemeClr val="tx2"/>
                </a:solidFill>
                <a:latin typeface="+mn-ea"/>
              </a:rPr>
              <a:t> 존재 </a:t>
            </a:r>
            <a:r>
              <a:rPr lang="en-US" altLang="ko-KR" sz="1600" dirty="0">
                <a:solidFill>
                  <a:schemeClr val="tx2"/>
                </a:solidFill>
                <a:latin typeface="+mn-ea"/>
              </a:rPr>
              <a:t>(</a:t>
            </a:r>
            <a:r>
              <a:rPr lang="ko-KR" altLang="en-US" sz="1600" dirty="0">
                <a:solidFill>
                  <a:schemeClr val="tx2"/>
                </a:solidFill>
                <a:latin typeface="+mn-ea"/>
              </a:rPr>
              <a:t>예</a:t>
            </a:r>
            <a:r>
              <a:rPr lang="en-US" altLang="ko-KR" sz="1600" dirty="0">
                <a:solidFill>
                  <a:schemeClr val="tx2"/>
                </a:solidFill>
                <a:latin typeface="+mn-ea"/>
              </a:rPr>
              <a:t>.</a:t>
            </a:r>
            <a:r>
              <a:rPr lang="ko-KR" altLang="en-US" sz="1600" dirty="0">
                <a:solidFill>
                  <a:schemeClr val="tx2"/>
                </a:solidFill>
                <a:latin typeface="+mn-ea"/>
              </a:rPr>
              <a:t> 리뷰</a:t>
            </a:r>
            <a:r>
              <a:rPr lang="en-US" altLang="ko-KR" sz="1600" dirty="0">
                <a:solidFill>
                  <a:schemeClr val="tx2"/>
                </a:solidFill>
                <a:latin typeface="+mn-ea"/>
              </a:rPr>
              <a:t>)</a:t>
            </a:r>
            <a:endParaRPr lang="ko-KR" altLang="en-US" sz="1600" dirty="0">
              <a:solidFill>
                <a:schemeClr val="tx2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600" dirty="0">
                <a:solidFill>
                  <a:schemeClr val="tx2"/>
                </a:solidFill>
                <a:latin typeface="+mn-ea"/>
              </a:rPr>
              <a:t>-</a:t>
            </a:r>
            <a:r>
              <a:rPr lang="ko-KR" altLang="en-US" sz="1600" dirty="0">
                <a:solidFill>
                  <a:schemeClr val="tx2"/>
                </a:solidFill>
                <a:latin typeface="+mn-ea"/>
              </a:rPr>
              <a:t> 전체 주문의 약 </a:t>
            </a:r>
            <a:r>
              <a:rPr lang="en-US" altLang="ko-KR" sz="1600" dirty="0">
                <a:solidFill>
                  <a:schemeClr val="tx2"/>
                </a:solidFill>
                <a:latin typeface="+mn-ea"/>
              </a:rPr>
              <a:t>97%</a:t>
            </a:r>
            <a:r>
              <a:rPr lang="ko-KR" altLang="en-US" sz="1600" dirty="0">
                <a:solidFill>
                  <a:schemeClr val="tx2"/>
                </a:solidFill>
                <a:latin typeface="+mn-ea"/>
              </a:rPr>
              <a:t>가 배송 완료</a:t>
            </a:r>
            <a:r>
              <a:rPr lang="en-US" altLang="ko-KR" sz="1600" dirty="0">
                <a:solidFill>
                  <a:schemeClr val="tx2"/>
                </a:solidFill>
                <a:latin typeface="+mn-ea"/>
              </a:rPr>
              <a:t>(</a:t>
            </a:r>
            <a:r>
              <a:rPr lang="en" altLang="ko-KR" sz="1600" dirty="0">
                <a:solidFill>
                  <a:schemeClr val="tx2"/>
                </a:solidFill>
                <a:latin typeface="+mn-ea"/>
              </a:rPr>
              <a:t>delivered) </a:t>
            </a:r>
            <a:r>
              <a:rPr lang="ko-KR" altLang="en-US" sz="1600" dirty="0">
                <a:solidFill>
                  <a:schemeClr val="tx2"/>
                </a:solidFill>
                <a:latin typeface="+mn-ea"/>
              </a:rPr>
              <a:t>상태 → 대표성 문제 없음</a:t>
            </a:r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779B0946-514D-14E7-CD9B-D887B62012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6060529"/>
              </p:ext>
            </p:extLst>
          </p:nvPr>
        </p:nvGraphicFramePr>
        <p:xfrm>
          <a:off x="1187769" y="4339368"/>
          <a:ext cx="10166031" cy="2225040"/>
        </p:xfrm>
        <a:graphic>
          <a:graphicData uri="http://schemas.openxmlformats.org/drawingml/2006/table">
            <a:tbl>
              <a:tblPr firstRow="1" bandRow="1">
                <a:tableStyleId>{16D9F66E-5EB9-4882-86FB-DCBF35E3C3E4}</a:tableStyleId>
              </a:tblPr>
              <a:tblGrid>
                <a:gridCol w="2971208">
                  <a:extLst>
                    <a:ext uri="{9D8B030D-6E8A-4147-A177-3AD203B41FA5}">
                      <a16:colId xmlns:a16="http://schemas.microsoft.com/office/drawing/2014/main" val="2433978804"/>
                    </a:ext>
                  </a:extLst>
                </a:gridCol>
                <a:gridCol w="7194823">
                  <a:extLst>
                    <a:ext uri="{9D8B030D-6E8A-4147-A177-3AD203B41FA5}">
                      <a16:colId xmlns:a16="http://schemas.microsoft.com/office/drawing/2014/main" val="309247685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1" dirty="0">
                          <a:solidFill>
                            <a:schemeClr val="tx2"/>
                          </a:solidFill>
                        </a:rPr>
                        <a:t>고객 단위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ko-KR" sz="1600" b="0" dirty="0" err="1">
                          <a:solidFill>
                            <a:srgbClr val="4C6B03"/>
                          </a:solidFill>
                        </a:rPr>
                        <a:t>customer_unique_id</a:t>
                      </a:r>
                      <a:endParaRPr lang="en" altLang="ko-KR" sz="1600" b="0" dirty="0">
                        <a:solidFill>
                          <a:srgbClr val="4C6B03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54015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1" dirty="0">
                          <a:solidFill>
                            <a:schemeClr val="tx2"/>
                          </a:solidFill>
                        </a:rPr>
                        <a:t>분석 대상 주문</a:t>
                      </a:r>
                      <a:r>
                        <a:rPr lang="en-US" altLang="ko-KR" sz="1600" b="1" dirty="0">
                          <a:solidFill>
                            <a:schemeClr val="tx2"/>
                          </a:solidFill>
                        </a:rPr>
                        <a:t> </a:t>
                      </a:r>
                      <a:endParaRPr lang="ko-KR" altLang="en-US" sz="1600" b="1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b="0" dirty="0">
                          <a:solidFill>
                            <a:srgbClr val="4C6B03"/>
                          </a:solidFill>
                        </a:rPr>
                        <a:t>배송 완료</a:t>
                      </a:r>
                      <a:r>
                        <a:rPr lang="en-US" altLang="ko-KR" sz="1600" b="0" dirty="0">
                          <a:solidFill>
                            <a:srgbClr val="4C6B03"/>
                          </a:solidFill>
                        </a:rPr>
                        <a:t>(</a:t>
                      </a:r>
                      <a:r>
                        <a:rPr lang="en" altLang="ko-KR" sz="1600" b="0" dirty="0">
                          <a:solidFill>
                            <a:srgbClr val="4C6B03"/>
                          </a:solidFill>
                        </a:rPr>
                        <a:t>delivered) </a:t>
                      </a:r>
                      <a:r>
                        <a:rPr lang="ko-KR" altLang="en-US" sz="1600" b="0" dirty="0">
                          <a:solidFill>
                            <a:srgbClr val="4C6B03"/>
                          </a:solidFill>
                        </a:rPr>
                        <a:t>주문만 사용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36746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1" dirty="0">
                          <a:solidFill>
                            <a:schemeClr val="tx2"/>
                          </a:solidFill>
                        </a:rPr>
                        <a:t>첫 구매 정의</a:t>
                      </a:r>
                      <a:r>
                        <a:rPr lang="en-US" altLang="ko-KR" sz="1600" b="1" dirty="0">
                          <a:solidFill>
                            <a:schemeClr val="tx2"/>
                          </a:solidFill>
                        </a:rPr>
                        <a:t> (Activation)</a:t>
                      </a:r>
                      <a:endParaRPr lang="ko-KR" altLang="en-US" sz="1600" b="1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b="0" dirty="0">
                          <a:solidFill>
                            <a:srgbClr val="4C6B03"/>
                          </a:solidFill>
                        </a:rPr>
                        <a:t>고객별 </a:t>
                      </a:r>
                      <a:r>
                        <a:rPr lang="en" altLang="ko-KR" sz="1600" b="0" dirty="0">
                          <a:solidFill>
                            <a:srgbClr val="4C6B03"/>
                          </a:solidFill>
                        </a:rPr>
                        <a:t>delivered </a:t>
                      </a:r>
                      <a:r>
                        <a:rPr lang="ko-KR" altLang="en-US" sz="1600" b="0" dirty="0">
                          <a:solidFill>
                            <a:srgbClr val="4C6B03"/>
                          </a:solidFill>
                        </a:rPr>
                        <a:t>주문 중 가장 이른 구매 시점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88211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1" dirty="0">
                          <a:solidFill>
                            <a:schemeClr val="tx2"/>
                          </a:solidFill>
                        </a:rPr>
                        <a:t>재 구매</a:t>
                      </a:r>
                      <a:r>
                        <a:rPr lang="en-US" altLang="ko-KR" sz="1600" b="1" dirty="0">
                          <a:solidFill>
                            <a:schemeClr val="tx2"/>
                          </a:solidFill>
                        </a:rPr>
                        <a:t> </a:t>
                      </a:r>
                      <a:r>
                        <a:rPr lang="ko-KR" altLang="en-US" sz="1600" b="1" dirty="0">
                          <a:solidFill>
                            <a:schemeClr val="tx2"/>
                          </a:solidFill>
                        </a:rPr>
                        <a:t>정의 </a:t>
                      </a:r>
                      <a:r>
                        <a:rPr lang="en-US" altLang="ko-KR" sz="1600" b="1" dirty="0">
                          <a:solidFill>
                            <a:schemeClr val="tx2"/>
                          </a:solidFill>
                        </a:rPr>
                        <a:t>(Retention)</a:t>
                      </a:r>
                      <a:endParaRPr lang="ko-KR" altLang="en-US" sz="1600" b="1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b="0" dirty="0">
                          <a:solidFill>
                            <a:srgbClr val="4C6B03"/>
                          </a:solidFill>
                        </a:rPr>
                        <a:t>재구매율 </a:t>
                      </a:r>
                      <a:r>
                        <a:rPr lang="en-US" altLang="ko-KR" sz="1600" b="0" dirty="0">
                          <a:solidFill>
                            <a:srgbClr val="4C6B03"/>
                          </a:solidFill>
                        </a:rPr>
                        <a:t>=</a:t>
                      </a:r>
                      <a:r>
                        <a:rPr lang="ko-KR" altLang="en-US" sz="1600" b="0" dirty="0">
                          <a:solidFill>
                            <a:srgbClr val="4C6B03"/>
                          </a:solidFill>
                        </a:rPr>
                        <a:t> 첫 구매 이후 추가 주문 발생 여부</a:t>
                      </a:r>
                      <a:endParaRPr lang="en-US" altLang="ko-KR" sz="1600" b="0" dirty="0">
                        <a:solidFill>
                          <a:srgbClr val="4C6B03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14654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1" dirty="0">
                          <a:solidFill>
                            <a:schemeClr val="tx2"/>
                          </a:solidFill>
                        </a:rPr>
                        <a:t>시간 기준 </a:t>
                      </a:r>
                      <a:r>
                        <a:rPr lang="en-US" altLang="ko-KR" sz="1600" b="1" dirty="0">
                          <a:solidFill>
                            <a:schemeClr val="tx2"/>
                          </a:solidFill>
                        </a:rPr>
                        <a:t>(</a:t>
                      </a:r>
                      <a:r>
                        <a:rPr lang="ko-KR" altLang="en-US" sz="1600" b="1" dirty="0">
                          <a:solidFill>
                            <a:schemeClr val="tx2"/>
                          </a:solidFill>
                        </a:rPr>
                        <a:t>코호트 분석 단위</a:t>
                      </a:r>
                      <a:r>
                        <a:rPr lang="en-US" altLang="ko-KR" sz="1600" b="1" dirty="0">
                          <a:solidFill>
                            <a:schemeClr val="tx2"/>
                          </a:solidFill>
                        </a:rPr>
                        <a:t>)</a:t>
                      </a:r>
                      <a:endParaRPr lang="ko-KR" altLang="en-US" sz="1600" b="1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ko-KR" sz="1600" b="0" dirty="0">
                          <a:solidFill>
                            <a:srgbClr val="4C6B03"/>
                          </a:solidFill>
                        </a:rPr>
                        <a:t>order_purchase_timestamp (</a:t>
                      </a:r>
                      <a:r>
                        <a:rPr lang="ko-KR" altLang="en-US" sz="1600" b="0" dirty="0">
                          <a:solidFill>
                            <a:srgbClr val="4C6B03"/>
                          </a:solidFill>
                        </a:rPr>
                        <a:t>월 단위 집계</a:t>
                      </a:r>
                      <a:r>
                        <a:rPr lang="en-US" altLang="ko-KR" sz="1600" b="0" dirty="0">
                          <a:solidFill>
                            <a:srgbClr val="4C6B03"/>
                          </a:solidFill>
                        </a:rPr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55389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b="1" dirty="0">
                          <a:solidFill>
                            <a:schemeClr val="tx2"/>
                          </a:solidFill>
                        </a:rPr>
                        <a:t>매출</a:t>
                      </a:r>
                      <a:r>
                        <a:rPr lang="en-US" altLang="ko-KR" sz="1600" b="1" dirty="0">
                          <a:solidFill>
                            <a:schemeClr val="tx2"/>
                          </a:solidFill>
                        </a:rPr>
                        <a:t>:</a:t>
                      </a:r>
                      <a:r>
                        <a:rPr lang="ko-KR" altLang="en-US" sz="1600" b="1" dirty="0">
                          <a:solidFill>
                            <a:schemeClr val="tx2"/>
                          </a:solidFill>
                        </a:rPr>
                        <a:t> </a:t>
                      </a:r>
                      <a:r>
                        <a:rPr lang="en-US" altLang="ko-KR" sz="1600" b="1" dirty="0">
                          <a:solidFill>
                            <a:schemeClr val="tx2"/>
                          </a:solidFill>
                        </a:rPr>
                        <a:t>LTV</a:t>
                      </a:r>
                      <a:r>
                        <a:rPr lang="ko-KR" altLang="en-US" sz="1600" b="1" dirty="0">
                          <a:solidFill>
                            <a:schemeClr val="tx2"/>
                          </a:solidFill>
                        </a:rPr>
                        <a:t> </a:t>
                      </a:r>
                      <a:r>
                        <a:rPr lang="en-US" altLang="ko-KR" sz="1600" b="1" dirty="0">
                          <a:solidFill>
                            <a:schemeClr val="tx2"/>
                          </a:solidFill>
                        </a:rPr>
                        <a:t>(</a:t>
                      </a:r>
                      <a:r>
                        <a:rPr lang="en" altLang="ko-KR" sz="1600" b="1" dirty="0">
                          <a:solidFill>
                            <a:schemeClr val="tx2"/>
                          </a:solidFill>
                        </a:rPr>
                        <a:t>Revenue</a:t>
                      </a:r>
                      <a:r>
                        <a:rPr lang="en-US" altLang="ko-KR" sz="1600" b="1" dirty="0">
                          <a:solidFill>
                            <a:schemeClr val="tx2"/>
                          </a:solidFill>
                        </a:rPr>
                        <a:t>)</a:t>
                      </a:r>
                      <a:endParaRPr lang="en" altLang="ko-KR" sz="160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ko-KR" sz="1600" b="0" dirty="0" err="1">
                          <a:solidFill>
                            <a:srgbClr val="4C6B03"/>
                          </a:solidFill>
                        </a:rPr>
                        <a:t>order_id</a:t>
                      </a:r>
                      <a:r>
                        <a:rPr lang="en" altLang="ko-KR" sz="1600" b="0" dirty="0">
                          <a:solidFill>
                            <a:srgbClr val="4C6B03"/>
                          </a:solidFill>
                        </a:rPr>
                        <a:t> </a:t>
                      </a:r>
                      <a:r>
                        <a:rPr lang="ko-KR" altLang="en-US" sz="1600" b="0" dirty="0">
                          <a:solidFill>
                            <a:srgbClr val="4C6B03"/>
                          </a:solidFill>
                        </a:rPr>
                        <a:t>기준 </a:t>
                      </a:r>
                      <a:r>
                        <a:rPr lang="en" altLang="ko-KR" sz="1600" b="0" dirty="0" err="1">
                          <a:solidFill>
                            <a:srgbClr val="4C6B03"/>
                          </a:solidFill>
                        </a:rPr>
                        <a:t>payment_value</a:t>
                      </a:r>
                      <a:r>
                        <a:rPr lang="en" altLang="ko-KR" sz="1600" b="0" dirty="0">
                          <a:solidFill>
                            <a:srgbClr val="4C6B03"/>
                          </a:solidFill>
                        </a:rPr>
                        <a:t> </a:t>
                      </a:r>
                      <a:r>
                        <a:rPr lang="ko-KR" altLang="en-US" sz="1600" b="0" dirty="0">
                          <a:solidFill>
                            <a:srgbClr val="4C6B03"/>
                          </a:solidFill>
                        </a:rPr>
                        <a:t>합산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1677300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3FAE79BD-5269-68FC-3437-E160072EBC87}"/>
              </a:ext>
            </a:extLst>
          </p:cNvPr>
          <p:cNvSpPr txBox="1"/>
          <p:nvPr/>
        </p:nvSpPr>
        <p:spPr>
          <a:xfrm>
            <a:off x="853939" y="3699246"/>
            <a:ext cx="6096000" cy="5581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Wingdings" pitchFamily="2" charset="2"/>
              <a:buChar char="u"/>
            </a:pPr>
            <a:r>
              <a:rPr kumimoji="1" lang="ko-KR" altLang="en-US" b="1" dirty="0">
                <a:solidFill>
                  <a:schemeClr val="tx2"/>
                </a:solidFill>
              </a:rPr>
              <a:t>분석 기준 통일</a:t>
            </a:r>
            <a:endParaRPr kumimoji="1" lang="en-US" altLang="ko-KR" b="1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820001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0E4433-FA93-0F84-4837-3854FFEE01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7272F04-ED69-FD60-595F-9475D3BF460B}"/>
              </a:ext>
            </a:extLst>
          </p:cNvPr>
          <p:cNvSpPr txBox="1"/>
          <p:nvPr/>
        </p:nvSpPr>
        <p:spPr>
          <a:xfrm>
            <a:off x="7323566" y="145601"/>
            <a:ext cx="475994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buNone/>
            </a:pPr>
            <a:r>
              <a:rPr lang="en" altLang="ko-KR" sz="1400" dirty="0">
                <a:solidFill>
                  <a:schemeClr val="tx2"/>
                </a:solidFill>
                <a:latin typeface="Noto Sans Syriac SemiBold" panose="020B0502040504020204" pitchFamily="34" charset="0"/>
                <a:cs typeface="Noto Sans Syriac SemiBold" panose="020B0502040504020204" pitchFamily="34" charset="0"/>
              </a:rPr>
              <a:t>PBL 2. </a:t>
            </a:r>
            <a:r>
              <a:rPr lang="ko-KR" altLang="en-US" sz="1400" dirty="0">
                <a:solidFill>
                  <a:schemeClr val="tx2"/>
                </a:solidFill>
                <a:latin typeface="Noto Sans Syriac SemiBold" panose="020B0502040504020204" pitchFamily="34" charset="0"/>
                <a:cs typeface="Noto Sans Syriac SemiBold" panose="020B0502040504020204" pitchFamily="34" charset="0"/>
              </a:rPr>
              <a:t>서비스 분석</a:t>
            </a:r>
            <a:r>
              <a:rPr lang="en-US" altLang="ko-KR" sz="1400" dirty="0">
                <a:solidFill>
                  <a:schemeClr val="tx2"/>
                </a:solidFill>
                <a:latin typeface="Noto Sans Syriac SemiBold" panose="020B0502040504020204" pitchFamily="34" charset="0"/>
                <a:cs typeface="Noto Sans Syriac SemiBold" panose="020B0502040504020204" pitchFamily="34" charset="0"/>
              </a:rPr>
              <a:t>_26.01.26</a:t>
            </a:r>
            <a:endParaRPr lang="ko-KR" altLang="en-US" sz="1400" dirty="0">
              <a:solidFill>
                <a:schemeClr val="tx2"/>
              </a:solidFill>
              <a:latin typeface="Noto Sans Syriac SemiBold" panose="020B0502040504020204" pitchFamily="34" charset="0"/>
              <a:cs typeface="Noto Sans Syriac SemiBold" panose="020B0502040504020204" pitchFamily="34" charset="0"/>
            </a:endParaRPr>
          </a:p>
        </p:txBody>
      </p:sp>
      <p:pic>
        <p:nvPicPr>
          <p:cNvPr id="5" name="그림 4" descr="텍스트, 그래픽, 로고, 그래픽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FCA949D-0004-049C-FCE6-620D471426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75383"/>
            <a:ext cx="1707878" cy="1707878"/>
          </a:xfrm>
          <a:prstGeom prst="rect">
            <a:avLst/>
          </a:prstGeom>
        </p:spPr>
      </p:pic>
      <p:sp>
        <p:nvSpPr>
          <p:cNvPr id="6" name="제목 1">
            <a:extLst>
              <a:ext uri="{FF2B5EF4-FFF2-40B4-BE49-F238E27FC236}">
                <a16:creationId xmlns:a16="http://schemas.microsoft.com/office/drawing/2014/main" id="{79B44386-2AFC-89A2-9E77-03D0B81A0A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19673"/>
            <a:ext cx="10515600" cy="571015"/>
          </a:xfrm>
          <a:solidFill>
            <a:srgbClr val="FFCB3C"/>
          </a:solidFill>
        </p:spPr>
        <p:txBody>
          <a:bodyPr>
            <a:noAutofit/>
          </a:bodyPr>
          <a:lstStyle/>
          <a:p>
            <a:pPr algn="ctr"/>
            <a:r>
              <a:rPr kumimoji="1" lang="ko-KR" altLang="en-US" sz="2000" b="1" dirty="0">
                <a:solidFill>
                  <a:schemeClr val="tx2"/>
                </a:solidFill>
              </a:rPr>
              <a:t>올리스트의 성장은 재구매</a:t>
            </a:r>
            <a:r>
              <a:rPr kumimoji="1" lang="en-US" altLang="ko-KR" sz="2000" b="1" dirty="0">
                <a:solidFill>
                  <a:schemeClr val="tx2"/>
                </a:solidFill>
              </a:rPr>
              <a:t>(Retention)</a:t>
            </a:r>
            <a:r>
              <a:rPr kumimoji="1" lang="ko-KR" altLang="en-US" sz="2000" b="1" dirty="0" err="1">
                <a:solidFill>
                  <a:schemeClr val="tx2"/>
                </a:solidFill>
              </a:rPr>
              <a:t>에</a:t>
            </a:r>
            <a:r>
              <a:rPr kumimoji="1" lang="ko-KR" altLang="en-US" sz="2000" b="1" dirty="0">
                <a:solidFill>
                  <a:schemeClr val="tx2"/>
                </a:solidFill>
              </a:rPr>
              <a:t> 의해 만들어지고 있지 않다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F35DB568-472E-3900-5988-B66E9686CC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2515371"/>
            <a:ext cx="3924754" cy="3407922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2341BAEC-3CBF-AEA3-98EF-2BD49C5904E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74771" y="2515371"/>
            <a:ext cx="6342742" cy="340792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C8FD593-8D16-7A31-3A49-E8F358C6A2BC}"/>
              </a:ext>
            </a:extLst>
          </p:cNvPr>
          <p:cNvSpPr txBox="1"/>
          <p:nvPr/>
        </p:nvSpPr>
        <p:spPr>
          <a:xfrm>
            <a:off x="825954" y="1984552"/>
            <a:ext cx="395514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1" dirty="0">
                <a:solidFill>
                  <a:schemeClr val="tx2"/>
                </a:solidFill>
              </a:rPr>
              <a:t>&lt;</a:t>
            </a:r>
            <a:r>
              <a:rPr lang="ko-KR" altLang="en-US" sz="1600" b="1" dirty="0">
                <a:solidFill>
                  <a:schemeClr val="tx2"/>
                </a:solidFill>
              </a:rPr>
              <a:t> 단일구매 </a:t>
            </a:r>
            <a:r>
              <a:rPr lang="ko-KR" altLang="en-US" sz="1600" b="1" dirty="0" err="1">
                <a:solidFill>
                  <a:schemeClr val="tx2"/>
                </a:solidFill>
              </a:rPr>
              <a:t>고객수</a:t>
            </a:r>
            <a:r>
              <a:rPr lang="ko-KR" altLang="en-US" sz="1600" b="1" dirty="0">
                <a:solidFill>
                  <a:schemeClr val="tx2"/>
                </a:solidFill>
              </a:rPr>
              <a:t> </a:t>
            </a:r>
            <a:r>
              <a:rPr lang="en-US" altLang="ko-KR" sz="1600" b="1" dirty="0">
                <a:solidFill>
                  <a:schemeClr val="tx2"/>
                </a:solidFill>
              </a:rPr>
              <a:t>vs. </a:t>
            </a:r>
            <a:r>
              <a:rPr lang="ko-KR" altLang="en-US" sz="1600" b="1" dirty="0">
                <a:solidFill>
                  <a:schemeClr val="tx2"/>
                </a:solidFill>
              </a:rPr>
              <a:t>재구매 </a:t>
            </a:r>
            <a:r>
              <a:rPr lang="ko-KR" altLang="en-US" sz="1600" b="1" dirty="0" err="1">
                <a:solidFill>
                  <a:schemeClr val="tx2"/>
                </a:solidFill>
              </a:rPr>
              <a:t>고객수</a:t>
            </a:r>
            <a:r>
              <a:rPr lang="ko-KR" altLang="en-US" sz="1600" b="1" dirty="0">
                <a:solidFill>
                  <a:schemeClr val="tx2"/>
                </a:solidFill>
              </a:rPr>
              <a:t> </a:t>
            </a:r>
            <a:r>
              <a:rPr lang="en-US" altLang="ko-KR" sz="1600" b="1" dirty="0">
                <a:solidFill>
                  <a:schemeClr val="tx2"/>
                </a:solidFill>
              </a:rPr>
              <a:t>&gt;</a:t>
            </a:r>
            <a:r>
              <a:rPr lang="ko-KR" altLang="en-US" sz="1600" b="1" dirty="0">
                <a:solidFill>
                  <a:schemeClr val="tx2"/>
                </a:solidFill>
              </a:rPr>
              <a:t> </a:t>
            </a:r>
            <a:endParaRPr lang="en-US" altLang="ko-KR" sz="1600" b="1" dirty="0">
              <a:solidFill>
                <a:schemeClr val="tx2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D4A01A0-3349-CDE2-2648-FFD85C889745}"/>
              </a:ext>
            </a:extLst>
          </p:cNvPr>
          <p:cNvSpPr txBox="1"/>
          <p:nvPr/>
        </p:nvSpPr>
        <p:spPr>
          <a:xfrm>
            <a:off x="5892800" y="1980647"/>
            <a:ext cx="502194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1" dirty="0">
                <a:solidFill>
                  <a:schemeClr val="tx2"/>
                </a:solidFill>
              </a:rPr>
              <a:t>&lt;</a:t>
            </a:r>
            <a:r>
              <a:rPr lang="ko-KR" altLang="en-US" sz="1600" b="1" dirty="0">
                <a:solidFill>
                  <a:schemeClr val="tx2"/>
                </a:solidFill>
              </a:rPr>
              <a:t> 재구매 발생 시점 분포</a:t>
            </a:r>
            <a:r>
              <a:rPr lang="en-US" altLang="ko-KR" sz="1600" b="1" dirty="0">
                <a:solidFill>
                  <a:schemeClr val="tx2"/>
                </a:solidFill>
              </a:rPr>
              <a:t>:</a:t>
            </a:r>
            <a:r>
              <a:rPr lang="ko-KR" altLang="en-US" sz="1600" b="1" dirty="0">
                <a:solidFill>
                  <a:schemeClr val="tx2"/>
                </a:solidFill>
              </a:rPr>
              <a:t> </a:t>
            </a:r>
            <a:r>
              <a:rPr lang="ko-KR" altLang="en-US" sz="1600" b="1" dirty="0" err="1">
                <a:solidFill>
                  <a:schemeClr val="tx2"/>
                </a:solidFill>
              </a:rPr>
              <a:t>첫구매</a:t>
            </a:r>
            <a:r>
              <a:rPr lang="ko-KR" altLang="en-US" sz="1600" b="1" dirty="0">
                <a:solidFill>
                  <a:schemeClr val="tx2"/>
                </a:solidFill>
              </a:rPr>
              <a:t> 이후 경과 기간 </a:t>
            </a:r>
            <a:r>
              <a:rPr lang="en-US" altLang="ko-KR" sz="1600" b="1" dirty="0">
                <a:solidFill>
                  <a:schemeClr val="tx2"/>
                </a:solidFill>
              </a:rPr>
              <a:t>&gt;</a:t>
            </a:r>
            <a:r>
              <a:rPr lang="ko-KR" altLang="en-US" sz="1600" b="1" dirty="0">
                <a:solidFill>
                  <a:schemeClr val="tx2"/>
                </a:solidFill>
              </a:rPr>
              <a:t> </a:t>
            </a:r>
            <a:endParaRPr lang="en-US" altLang="ko-KR" sz="1600" b="1" dirty="0">
              <a:solidFill>
                <a:schemeClr val="tx2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29AF73A-B250-CC5F-0E0D-BE289B3ABCF6}"/>
              </a:ext>
            </a:extLst>
          </p:cNvPr>
          <p:cNvSpPr txBox="1"/>
          <p:nvPr/>
        </p:nvSpPr>
        <p:spPr>
          <a:xfrm>
            <a:off x="788309" y="6115558"/>
            <a:ext cx="434113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itchFamily="2" charset="2"/>
              <a:buChar char="ü"/>
            </a:pPr>
            <a:r>
              <a:rPr lang="ko-KR" altLang="en-US" sz="1600" b="1" dirty="0">
                <a:solidFill>
                  <a:srgbClr val="C00000"/>
                </a:solidFill>
                <a:highlight>
                  <a:srgbClr val="FFFF00"/>
                </a:highlight>
              </a:rPr>
              <a:t>전체 고객의 </a:t>
            </a:r>
            <a:r>
              <a:rPr lang="en-US" altLang="ko-KR" sz="1600" b="1" dirty="0">
                <a:solidFill>
                  <a:srgbClr val="C00000"/>
                </a:solidFill>
                <a:highlight>
                  <a:srgbClr val="FFFF00"/>
                </a:highlight>
              </a:rPr>
              <a:t>97%</a:t>
            </a:r>
            <a:r>
              <a:rPr lang="ko-KR" altLang="en-US" sz="1600" b="1" dirty="0">
                <a:solidFill>
                  <a:srgbClr val="C00000"/>
                </a:solidFill>
                <a:highlight>
                  <a:srgbClr val="FFFF00"/>
                </a:highlight>
              </a:rPr>
              <a:t>가 단일 구매 후 이탈</a:t>
            </a:r>
            <a:endParaRPr lang="ko-KR" altLang="en-US" sz="1600" dirty="0">
              <a:solidFill>
                <a:srgbClr val="C00000"/>
              </a:solidFill>
              <a:highlight>
                <a:srgbClr val="FFFF00"/>
              </a:highlight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E9C7297-646B-B5B0-2578-CAE4BDB6AC5C}"/>
              </a:ext>
            </a:extLst>
          </p:cNvPr>
          <p:cNvSpPr txBox="1"/>
          <p:nvPr/>
        </p:nvSpPr>
        <p:spPr>
          <a:xfrm>
            <a:off x="5129441" y="6115558"/>
            <a:ext cx="618807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itchFamily="2" charset="2"/>
              <a:buChar char="ü"/>
            </a:pPr>
            <a:r>
              <a:rPr lang="ko-KR" altLang="en-US" sz="1600" b="1" dirty="0">
                <a:solidFill>
                  <a:srgbClr val="C00000"/>
                </a:solidFill>
                <a:highlight>
                  <a:srgbClr val="FFFF00"/>
                </a:highlight>
              </a:rPr>
              <a:t>재구매 고객의 대부분은 </a:t>
            </a:r>
            <a:r>
              <a:rPr lang="ko-KR" altLang="en-US" sz="1600" b="1" dirty="0" err="1">
                <a:solidFill>
                  <a:srgbClr val="C00000"/>
                </a:solidFill>
                <a:highlight>
                  <a:srgbClr val="FFFF00"/>
                </a:highlight>
              </a:rPr>
              <a:t>첫구매와</a:t>
            </a:r>
            <a:r>
              <a:rPr lang="ko-KR" altLang="en-US" sz="1600" b="1" dirty="0">
                <a:solidFill>
                  <a:srgbClr val="C00000"/>
                </a:solidFill>
                <a:highlight>
                  <a:srgbClr val="FFFF00"/>
                </a:highlight>
              </a:rPr>
              <a:t> 같은 달 </a:t>
            </a:r>
            <a:r>
              <a:rPr lang="en-US" altLang="ko-KR" sz="1600" b="1" dirty="0">
                <a:solidFill>
                  <a:srgbClr val="C00000"/>
                </a:solidFill>
                <a:highlight>
                  <a:srgbClr val="FFFF00"/>
                </a:highlight>
              </a:rPr>
              <a:t>(30</a:t>
            </a:r>
            <a:r>
              <a:rPr lang="ko-KR" altLang="en-US" sz="1600" b="1" dirty="0">
                <a:solidFill>
                  <a:srgbClr val="C00000"/>
                </a:solidFill>
                <a:highlight>
                  <a:srgbClr val="FFFF00"/>
                </a:highlight>
              </a:rPr>
              <a:t>일 이내</a:t>
            </a:r>
            <a:r>
              <a:rPr lang="en-US" altLang="ko-KR" sz="1600" b="1" dirty="0">
                <a:solidFill>
                  <a:srgbClr val="C00000"/>
                </a:solidFill>
                <a:highlight>
                  <a:srgbClr val="FFFF00"/>
                </a:highlight>
              </a:rPr>
              <a:t>)</a:t>
            </a:r>
            <a:r>
              <a:rPr lang="ko-KR" altLang="en-US" sz="1600" b="1" dirty="0">
                <a:solidFill>
                  <a:srgbClr val="C00000"/>
                </a:solidFill>
                <a:highlight>
                  <a:srgbClr val="FFFF00"/>
                </a:highlight>
              </a:rPr>
              <a:t> 재구매 </a:t>
            </a:r>
            <a:endParaRPr lang="ko-KR" altLang="en-US" sz="1600" dirty="0">
              <a:solidFill>
                <a:srgbClr val="C00000"/>
              </a:solidFill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2795344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8A8409-2140-D05C-0A74-38015148F9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2B9B57A-C8F5-B308-7CED-9D7E93D2F1C8}"/>
              </a:ext>
            </a:extLst>
          </p:cNvPr>
          <p:cNvSpPr txBox="1"/>
          <p:nvPr/>
        </p:nvSpPr>
        <p:spPr>
          <a:xfrm>
            <a:off x="7323566" y="145601"/>
            <a:ext cx="475994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buNone/>
            </a:pPr>
            <a:r>
              <a:rPr lang="en" altLang="ko-KR" sz="1400" dirty="0">
                <a:solidFill>
                  <a:schemeClr val="tx2"/>
                </a:solidFill>
                <a:latin typeface="Noto Sans Syriac SemiBold" panose="020B0502040504020204" pitchFamily="34" charset="0"/>
                <a:cs typeface="Noto Sans Syriac SemiBold" panose="020B0502040504020204" pitchFamily="34" charset="0"/>
              </a:rPr>
              <a:t>PBL 2. </a:t>
            </a:r>
            <a:r>
              <a:rPr lang="ko-KR" altLang="en-US" sz="1400" dirty="0">
                <a:solidFill>
                  <a:schemeClr val="tx2"/>
                </a:solidFill>
                <a:latin typeface="Noto Sans Syriac SemiBold" panose="020B0502040504020204" pitchFamily="34" charset="0"/>
                <a:cs typeface="Noto Sans Syriac SemiBold" panose="020B0502040504020204" pitchFamily="34" charset="0"/>
              </a:rPr>
              <a:t>서비스 분석</a:t>
            </a:r>
            <a:r>
              <a:rPr lang="en-US" altLang="ko-KR" sz="1400" dirty="0">
                <a:solidFill>
                  <a:schemeClr val="tx2"/>
                </a:solidFill>
                <a:latin typeface="Noto Sans Syriac SemiBold" panose="020B0502040504020204" pitchFamily="34" charset="0"/>
                <a:cs typeface="Noto Sans Syriac SemiBold" panose="020B0502040504020204" pitchFamily="34" charset="0"/>
              </a:rPr>
              <a:t>_26.01.26</a:t>
            </a:r>
            <a:endParaRPr lang="ko-KR" altLang="en-US" sz="1400" dirty="0">
              <a:solidFill>
                <a:schemeClr val="tx2"/>
              </a:solidFill>
              <a:latin typeface="Noto Sans Syriac SemiBold" panose="020B0502040504020204" pitchFamily="34" charset="0"/>
              <a:cs typeface="Noto Sans Syriac SemiBold" panose="020B0502040504020204" pitchFamily="34" charset="0"/>
            </a:endParaRPr>
          </a:p>
        </p:txBody>
      </p:sp>
      <p:pic>
        <p:nvPicPr>
          <p:cNvPr id="5" name="그림 4" descr="텍스트, 그래픽, 로고, 그래픽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CF73071-43D8-1263-1E2E-7009E2D987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75383"/>
            <a:ext cx="1707878" cy="1707878"/>
          </a:xfrm>
          <a:prstGeom prst="rect">
            <a:avLst/>
          </a:prstGeom>
        </p:spPr>
      </p:pic>
      <p:sp>
        <p:nvSpPr>
          <p:cNvPr id="6" name="제목 1">
            <a:extLst>
              <a:ext uri="{FF2B5EF4-FFF2-40B4-BE49-F238E27FC236}">
                <a16:creationId xmlns:a16="http://schemas.microsoft.com/office/drawing/2014/main" id="{4E0462F8-35D0-6434-4955-994C7C1F18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19673"/>
            <a:ext cx="10515600" cy="571015"/>
          </a:xfrm>
          <a:solidFill>
            <a:srgbClr val="FFCB3C"/>
          </a:solidFill>
        </p:spPr>
        <p:txBody>
          <a:bodyPr>
            <a:noAutofit/>
          </a:bodyPr>
          <a:lstStyle/>
          <a:p>
            <a:pPr algn="ctr"/>
            <a:r>
              <a:rPr kumimoji="1" lang="ko-KR" altLang="en-US" sz="2000" b="1" dirty="0" err="1">
                <a:solidFill>
                  <a:schemeClr val="tx2"/>
                </a:solidFill>
              </a:rPr>
              <a:t>의미있는</a:t>
            </a:r>
            <a:r>
              <a:rPr kumimoji="1" lang="ko-KR" altLang="en-US" sz="2000" b="1" dirty="0">
                <a:solidFill>
                  <a:schemeClr val="tx2"/>
                </a:solidFill>
              </a:rPr>
              <a:t> 재구매 고객을 추려낼 수 있을까</a:t>
            </a:r>
            <a:r>
              <a:rPr kumimoji="1" lang="en-US" altLang="ko-KR" sz="2000" b="1" dirty="0">
                <a:solidFill>
                  <a:schemeClr val="tx2"/>
                </a:solidFill>
              </a:rPr>
              <a:t>?</a:t>
            </a:r>
            <a:r>
              <a:rPr kumimoji="1" lang="ko-KR" altLang="en-US" sz="2000" b="1" dirty="0">
                <a:solidFill>
                  <a:schemeClr val="tx2"/>
                </a:solidFill>
              </a:rPr>
              <a:t> 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FD73A9A-A3C8-334F-F79C-26BFD1ABE695}"/>
              </a:ext>
            </a:extLst>
          </p:cNvPr>
          <p:cNvSpPr txBox="1"/>
          <p:nvPr/>
        </p:nvSpPr>
        <p:spPr>
          <a:xfrm>
            <a:off x="2140856" y="1914880"/>
            <a:ext cx="395514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600" b="1" dirty="0">
                <a:solidFill>
                  <a:schemeClr val="tx2"/>
                </a:solidFill>
              </a:rPr>
              <a:t>&lt;</a:t>
            </a:r>
            <a:r>
              <a:rPr lang="ko-KR" altLang="en-US" sz="1600" b="1" dirty="0">
                <a:solidFill>
                  <a:schemeClr val="tx2"/>
                </a:solidFill>
              </a:rPr>
              <a:t> 기간 기준 재구매율 분석 </a:t>
            </a:r>
            <a:r>
              <a:rPr lang="en-US" altLang="ko-KR" sz="1600" b="1" dirty="0">
                <a:solidFill>
                  <a:schemeClr val="tx2"/>
                </a:solidFill>
              </a:rPr>
              <a:t>&gt;</a:t>
            </a:r>
            <a:r>
              <a:rPr lang="ko-KR" altLang="en-US" sz="1600" b="1" dirty="0">
                <a:solidFill>
                  <a:schemeClr val="tx2"/>
                </a:solidFill>
              </a:rPr>
              <a:t> </a:t>
            </a:r>
            <a:endParaRPr lang="en-US" altLang="ko-KR" sz="1600" b="1" dirty="0">
              <a:solidFill>
                <a:schemeClr val="tx2"/>
              </a:solidFill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1148BB0F-6AA5-1671-4258-8B072FB84D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3939" y="2356983"/>
            <a:ext cx="6737032" cy="4178666"/>
          </a:xfrm>
          <a:prstGeom prst="rect">
            <a:avLst/>
          </a:prstGeom>
        </p:spPr>
      </p:pic>
      <p:sp>
        <p:nvSpPr>
          <p:cNvPr id="10" name="모서리가 둥근 직사각형 9">
            <a:extLst>
              <a:ext uri="{FF2B5EF4-FFF2-40B4-BE49-F238E27FC236}">
                <a16:creationId xmlns:a16="http://schemas.microsoft.com/office/drawing/2014/main" id="{92D5B66E-7333-26D5-9245-4C7CE84A7CB1}"/>
              </a:ext>
            </a:extLst>
          </p:cNvPr>
          <p:cNvSpPr/>
          <p:nvPr/>
        </p:nvSpPr>
        <p:spPr>
          <a:xfrm>
            <a:off x="1480457" y="3251200"/>
            <a:ext cx="3947886" cy="3284449"/>
          </a:xfrm>
          <a:prstGeom prst="roundRect">
            <a:avLst>
              <a:gd name="adj" fmla="val 8713"/>
            </a:avLst>
          </a:prstGeom>
          <a:noFill/>
          <a:ln w="381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8D11D2C-4549-C43A-0EC7-C0AD9FEB2D61}"/>
              </a:ext>
            </a:extLst>
          </p:cNvPr>
          <p:cNvSpPr txBox="1"/>
          <p:nvPr/>
        </p:nvSpPr>
        <p:spPr>
          <a:xfrm>
            <a:off x="7851489" y="4177302"/>
            <a:ext cx="4340511" cy="27112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lnSpc>
                <a:spcPct val="150000"/>
              </a:lnSpc>
              <a:spcBef>
                <a:spcPts val="75"/>
              </a:spcBef>
              <a:spcAft>
                <a:spcPts val="75"/>
              </a:spcAft>
              <a:buFont typeface="Wingdings" pitchFamily="2" charset="2"/>
              <a:buChar char="u"/>
            </a:pPr>
            <a:r>
              <a:rPr lang="ko-KR" altLang="en-US" b="1" i="0" dirty="0">
                <a:solidFill>
                  <a:schemeClr val="tx2"/>
                </a:solidFill>
                <a:effectLst/>
                <a:latin typeface="ui-sans-serif"/>
              </a:rPr>
              <a:t>분석 기준에 따른 고객 구분</a:t>
            </a:r>
            <a:endParaRPr lang="en-US" altLang="ko-KR" b="1" i="0" dirty="0">
              <a:solidFill>
                <a:schemeClr val="tx2"/>
              </a:solidFill>
              <a:effectLst/>
              <a:latin typeface="ui-sans-serif"/>
            </a:endParaRPr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1600" b="1" dirty="0">
                <a:solidFill>
                  <a:srgbClr val="4C6B03"/>
                </a:solidFill>
              </a:rPr>
              <a:t>잔존 고객 </a:t>
            </a:r>
            <a:r>
              <a:rPr lang="en-US" altLang="ko-KR" sz="1600" b="1" dirty="0">
                <a:solidFill>
                  <a:srgbClr val="4C6B03"/>
                </a:solidFill>
              </a:rPr>
              <a:t>(</a:t>
            </a:r>
            <a:r>
              <a:rPr lang="en" altLang="ko-KR" sz="1600" b="1" dirty="0">
                <a:solidFill>
                  <a:srgbClr val="4C6B03"/>
                </a:solidFill>
              </a:rPr>
              <a:t>Repurchased ≤ 6M)</a:t>
            </a:r>
            <a:endParaRPr lang="en" altLang="ko-KR" sz="1600" dirty="0">
              <a:solidFill>
                <a:srgbClr val="4C6B03"/>
              </a:solidFill>
            </a:endParaRPr>
          </a:p>
          <a:p>
            <a:pPr>
              <a:lnSpc>
                <a:spcPct val="150000"/>
              </a:lnSpc>
            </a:pPr>
            <a:r>
              <a:rPr lang="en" altLang="ko-KR" sz="1600" dirty="0">
                <a:solidFill>
                  <a:schemeClr val="tx2"/>
                </a:solidFill>
              </a:rPr>
              <a:t>→ </a:t>
            </a:r>
            <a:r>
              <a:rPr lang="ko-KR" altLang="en-US" sz="1600" dirty="0">
                <a:solidFill>
                  <a:schemeClr val="tx2"/>
                </a:solidFill>
              </a:rPr>
              <a:t>첫 구매 후 </a:t>
            </a:r>
            <a:r>
              <a:rPr lang="en-US" altLang="ko-KR" sz="1600" dirty="0">
                <a:solidFill>
                  <a:schemeClr val="tx2"/>
                </a:solidFill>
              </a:rPr>
              <a:t>6</a:t>
            </a:r>
            <a:r>
              <a:rPr lang="ko-KR" altLang="en-US" sz="1600" dirty="0">
                <a:solidFill>
                  <a:schemeClr val="tx2"/>
                </a:solidFill>
              </a:rPr>
              <a:t>개월 이내 재구매한 고객</a:t>
            </a:r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1600" b="1" dirty="0">
                <a:solidFill>
                  <a:srgbClr val="4C6B03"/>
                </a:solidFill>
              </a:rPr>
              <a:t>이탈 고객 </a:t>
            </a:r>
            <a:r>
              <a:rPr lang="en-US" altLang="ko-KR" sz="1600" b="1" dirty="0">
                <a:solidFill>
                  <a:srgbClr val="4C6B03"/>
                </a:solidFill>
              </a:rPr>
              <a:t>(</a:t>
            </a:r>
            <a:r>
              <a:rPr lang="en" altLang="ko-KR" sz="1600" b="1" dirty="0">
                <a:solidFill>
                  <a:srgbClr val="4C6B03"/>
                </a:solidFill>
              </a:rPr>
              <a:t>Churned &gt; 6M)</a:t>
            </a:r>
            <a:endParaRPr lang="en" altLang="ko-KR" sz="1600" dirty="0">
              <a:solidFill>
                <a:srgbClr val="4C6B03"/>
              </a:solidFill>
            </a:endParaRPr>
          </a:p>
          <a:p>
            <a:pPr marL="317500" indent="-317500">
              <a:lnSpc>
                <a:spcPct val="150000"/>
              </a:lnSpc>
            </a:pPr>
            <a:r>
              <a:rPr lang="en" altLang="ko-KR" sz="1600" dirty="0">
                <a:solidFill>
                  <a:schemeClr val="tx2"/>
                </a:solidFill>
              </a:rPr>
              <a:t>→ </a:t>
            </a:r>
            <a:r>
              <a:rPr lang="ko-KR" altLang="en-US" sz="1600" dirty="0">
                <a:solidFill>
                  <a:schemeClr val="tx2"/>
                </a:solidFill>
              </a:rPr>
              <a:t>첫 구매 후 </a:t>
            </a:r>
            <a:r>
              <a:rPr lang="en-US" altLang="ko-KR" sz="1600" dirty="0">
                <a:solidFill>
                  <a:schemeClr val="tx2"/>
                </a:solidFill>
              </a:rPr>
              <a:t>6</a:t>
            </a:r>
            <a:r>
              <a:rPr lang="ko-KR" altLang="en-US" sz="1600" dirty="0">
                <a:solidFill>
                  <a:schemeClr val="tx2"/>
                </a:solidFill>
              </a:rPr>
              <a:t>개월 초과 </a:t>
            </a:r>
            <a:r>
              <a:rPr lang="en-US" altLang="ko-KR" sz="1600" dirty="0">
                <a:solidFill>
                  <a:schemeClr val="tx2"/>
                </a:solidFill>
              </a:rPr>
              <a:t>(</a:t>
            </a:r>
            <a:r>
              <a:rPr lang="ko-KR" altLang="en-US" sz="1600" dirty="0">
                <a:solidFill>
                  <a:schemeClr val="tx2"/>
                </a:solidFill>
              </a:rPr>
              <a:t> 재구매 가능성이 사실상 소멸된 그룹으로 판단</a:t>
            </a:r>
          </a:p>
          <a:p>
            <a:pPr algn="l">
              <a:lnSpc>
                <a:spcPct val="150000"/>
              </a:lnSpc>
              <a:spcBef>
                <a:spcPts val="75"/>
              </a:spcBef>
              <a:spcAft>
                <a:spcPts val="75"/>
              </a:spcAft>
            </a:pPr>
            <a:endParaRPr lang="ko-KR" altLang="en-US" sz="1600" b="0" i="0" dirty="0">
              <a:solidFill>
                <a:schemeClr val="tx2"/>
              </a:solidFill>
              <a:effectLst/>
              <a:latin typeface="ui-sans-serif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23364E9-F8EA-8EE1-00E8-BFB345B300DF}"/>
              </a:ext>
            </a:extLst>
          </p:cNvPr>
          <p:cNvSpPr txBox="1"/>
          <p:nvPr/>
        </p:nvSpPr>
        <p:spPr>
          <a:xfrm>
            <a:off x="7743003" y="2437740"/>
            <a:ext cx="4158711" cy="1626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lnSpc>
                <a:spcPct val="150000"/>
              </a:lnSpc>
              <a:spcBef>
                <a:spcPts val="75"/>
              </a:spcBef>
              <a:spcAft>
                <a:spcPts val="75"/>
              </a:spcAft>
              <a:buFont typeface="Wingdings" pitchFamily="2" charset="2"/>
              <a:buChar char="u"/>
            </a:pPr>
            <a:r>
              <a:rPr lang="ko-KR" altLang="en-US" b="1" i="0" dirty="0">
                <a:solidFill>
                  <a:schemeClr val="tx2"/>
                </a:solidFill>
                <a:effectLst/>
                <a:latin typeface="ui-sans-serif"/>
              </a:rPr>
              <a:t>재구매 유도 </a:t>
            </a:r>
            <a:r>
              <a:rPr lang="ko-KR" altLang="en-US" b="1" i="0" dirty="0" err="1">
                <a:solidFill>
                  <a:schemeClr val="tx2"/>
                </a:solidFill>
                <a:effectLst/>
                <a:latin typeface="ui-sans-serif"/>
              </a:rPr>
              <a:t>골든타임의</a:t>
            </a:r>
            <a:r>
              <a:rPr lang="ko-KR" altLang="en-US" b="1" i="0" dirty="0">
                <a:solidFill>
                  <a:schemeClr val="tx2"/>
                </a:solidFill>
                <a:effectLst/>
                <a:latin typeface="ui-sans-serif"/>
              </a:rPr>
              <a:t> 정의</a:t>
            </a:r>
            <a:endParaRPr lang="en-US" altLang="ko-KR" b="1" i="0" dirty="0">
              <a:solidFill>
                <a:schemeClr val="tx2"/>
              </a:solidFill>
              <a:effectLst/>
              <a:latin typeface="ui-sans-serif"/>
            </a:endParaRPr>
          </a:p>
          <a:p>
            <a:pPr marL="285750" indent="-285750" algn="l">
              <a:lnSpc>
                <a:spcPct val="150000"/>
              </a:lnSpc>
              <a:spcBef>
                <a:spcPts val="75"/>
              </a:spcBef>
              <a:spcAft>
                <a:spcPts val="75"/>
              </a:spcAft>
              <a:buFontTx/>
              <a:buChar char="-"/>
            </a:pPr>
            <a:r>
              <a:rPr lang="en-US" altLang="ko-KR" sz="1600" dirty="0">
                <a:solidFill>
                  <a:schemeClr val="tx2"/>
                </a:solidFill>
                <a:latin typeface="ui-sans-serif"/>
              </a:rPr>
              <a:t>6</a:t>
            </a:r>
            <a:r>
              <a:rPr lang="ko-KR" altLang="en-US" sz="1600" dirty="0">
                <a:solidFill>
                  <a:schemeClr val="tx2"/>
                </a:solidFill>
                <a:latin typeface="ui-sans-serif"/>
              </a:rPr>
              <a:t>개월 이후 재구매율 증가는 매우 제한적</a:t>
            </a:r>
            <a:endParaRPr lang="en-US" altLang="ko-KR" sz="1600" dirty="0">
              <a:solidFill>
                <a:schemeClr val="tx2"/>
              </a:solidFill>
              <a:latin typeface="ui-sans-serif"/>
            </a:endParaRPr>
          </a:p>
          <a:p>
            <a:pPr marL="273050" indent="-273050" algn="l">
              <a:lnSpc>
                <a:spcPct val="150000"/>
              </a:lnSpc>
              <a:spcBef>
                <a:spcPts val="75"/>
              </a:spcBef>
              <a:spcAft>
                <a:spcPts val="75"/>
              </a:spcAft>
            </a:pPr>
            <a:r>
              <a:rPr lang="en-US" altLang="ko-KR" sz="1600" b="0" i="0" dirty="0">
                <a:solidFill>
                  <a:srgbClr val="C00000"/>
                </a:solidFill>
                <a:effectLst/>
                <a:highlight>
                  <a:srgbClr val="FFFF00"/>
                </a:highlight>
                <a:latin typeface="ui-sans-serif"/>
                <a:sym typeface="Wingdings" pitchFamily="2" charset="2"/>
              </a:rPr>
              <a:t></a:t>
            </a:r>
            <a:r>
              <a:rPr lang="ko-KR" altLang="en-US" sz="1600" b="0" i="0" dirty="0">
                <a:solidFill>
                  <a:srgbClr val="C00000"/>
                </a:solidFill>
                <a:effectLst/>
                <a:highlight>
                  <a:srgbClr val="FFFF00"/>
                </a:highlight>
                <a:latin typeface="ui-sans-serif"/>
                <a:sym typeface="Wingdings" pitchFamily="2" charset="2"/>
              </a:rPr>
              <a:t> 첫 구매 후 </a:t>
            </a:r>
            <a:r>
              <a:rPr lang="en-US" altLang="ko-KR" sz="1600" b="0" i="0" dirty="0">
                <a:solidFill>
                  <a:srgbClr val="C00000"/>
                </a:solidFill>
                <a:effectLst/>
                <a:highlight>
                  <a:srgbClr val="FFFF00"/>
                </a:highlight>
                <a:latin typeface="ui-sans-serif"/>
                <a:sym typeface="Wingdings" pitchFamily="2" charset="2"/>
              </a:rPr>
              <a:t>6</a:t>
            </a:r>
            <a:r>
              <a:rPr lang="ko-KR" altLang="en-US" sz="1600" b="0" i="0" dirty="0">
                <a:solidFill>
                  <a:srgbClr val="C00000"/>
                </a:solidFill>
                <a:effectLst/>
                <a:highlight>
                  <a:srgbClr val="FFFF00"/>
                </a:highlight>
                <a:latin typeface="ui-sans-serif"/>
                <a:sym typeface="Wingdings" pitchFamily="2" charset="2"/>
              </a:rPr>
              <a:t>개월을 재구매 유도 </a:t>
            </a:r>
            <a:r>
              <a:rPr lang="ko-KR" altLang="en-US" sz="1600" b="0" i="0" dirty="0" err="1">
                <a:solidFill>
                  <a:srgbClr val="C00000"/>
                </a:solidFill>
                <a:effectLst/>
                <a:highlight>
                  <a:srgbClr val="FFFF00"/>
                </a:highlight>
                <a:latin typeface="ui-sans-serif"/>
                <a:sym typeface="Wingdings" pitchFamily="2" charset="2"/>
              </a:rPr>
              <a:t>골든타임으로</a:t>
            </a:r>
            <a:r>
              <a:rPr lang="ko-KR" altLang="en-US" sz="1600" b="0" i="0" dirty="0">
                <a:solidFill>
                  <a:srgbClr val="C00000"/>
                </a:solidFill>
                <a:effectLst/>
                <a:highlight>
                  <a:srgbClr val="FFFF00"/>
                </a:highlight>
                <a:latin typeface="ui-sans-serif"/>
                <a:sym typeface="Wingdings" pitchFamily="2" charset="2"/>
              </a:rPr>
              <a:t> 정의 </a:t>
            </a:r>
            <a:endParaRPr lang="ko-KR" altLang="en-US" sz="1600" b="0" i="0" dirty="0">
              <a:solidFill>
                <a:srgbClr val="C00000"/>
              </a:solidFill>
              <a:effectLst/>
              <a:highlight>
                <a:srgbClr val="FFFF00"/>
              </a:highlight>
              <a:latin typeface="ui-sans-serif"/>
            </a:endParaRPr>
          </a:p>
        </p:txBody>
      </p:sp>
    </p:spTree>
    <p:extLst>
      <p:ext uri="{BB962C8B-B14F-4D97-AF65-F5344CB8AC3E}">
        <p14:creationId xmlns:p14="http://schemas.microsoft.com/office/powerpoint/2010/main" val="31850903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33BCC9-96F4-89D9-044B-D960D2BA86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28ECE7A-1F40-E45C-398B-656677F6AC43}"/>
              </a:ext>
            </a:extLst>
          </p:cNvPr>
          <p:cNvSpPr txBox="1"/>
          <p:nvPr/>
        </p:nvSpPr>
        <p:spPr>
          <a:xfrm>
            <a:off x="7323566" y="145601"/>
            <a:ext cx="475994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buNone/>
            </a:pPr>
            <a:r>
              <a:rPr lang="en" altLang="ko-KR" sz="1400" dirty="0">
                <a:solidFill>
                  <a:schemeClr val="tx2"/>
                </a:solidFill>
                <a:latin typeface="Noto Sans Syriac SemiBold" panose="020B0502040504020204" pitchFamily="34" charset="0"/>
                <a:cs typeface="Noto Sans Syriac SemiBold" panose="020B0502040504020204" pitchFamily="34" charset="0"/>
              </a:rPr>
              <a:t>PBL 2. </a:t>
            </a:r>
            <a:r>
              <a:rPr lang="ko-KR" altLang="en-US" sz="1400" dirty="0">
                <a:solidFill>
                  <a:schemeClr val="tx2"/>
                </a:solidFill>
                <a:latin typeface="Noto Sans Syriac SemiBold" panose="020B0502040504020204" pitchFamily="34" charset="0"/>
                <a:cs typeface="Noto Sans Syriac SemiBold" panose="020B0502040504020204" pitchFamily="34" charset="0"/>
              </a:rPr>
              <a:t>서비스 분석</a:t>
            </a:r>
            <a:r>
              <a:rPr lang="en-US" altLang="ko-KR" sz="1400" dirty="0">
                <a:solidFill>
                  <a:schemeClr val="tx2"/>
                </a:solidFill>
                <a:latin typeface="Noto Sans Syriac SemiBold" panose="020B0502040504020204" pitchFamily="34" charset="0"/>
                <a:cs typeface="Noto Sans Syriac SemiBold" panose="020B0502040504020204" pitchFamily="34" charset="0"/>
              </a:rPr>
              <a:t>_26.01.26</a:t>
            </a:r>
            <a:endParaRPr lang="ko-KR" altLang="en-US" sz="1400" dirty="0">
              <a:solidFill>
                <a:schemeClr val="tx2"/>
              </a:solidFill>
              <a:latin typeface="Noto Sans Syriac SemiBold" panose="020B0502040504020204" pitchFamily="34" charset="0"/>
              <a:cs typeface="Noto Sans Syriac SemiBold" panose="020B0502040504020204" pitchFamily="34" charset="0"/>
            </a:endParaRPr>
          </a:p>
        </p:txBody>
      </p:sp>
      <p:pic>
        <p:nvPicPr>
          <p:cNvPr id="5" name="그림 4" descr="텍스트, 그래픽, 로고, 그래픽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01A87EB-88A5-F636-CB9F-D035E5AEB8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75383"/>
            <a:ext cx="1707878" cy="1707878"/>
          </a:xfrm>
          <a:prstGeom prst="rect">
            <a:avLst/>
          </a:prstGeom>
        </p:spPr>
      </p:pic>
      <p:sp>
        <p:nvSpPr>
          <p:cNvPr id="6" name="제목 1">
            <a:extLst>
              <a:ext uri="{FF2B5EF4-FFF2-40B4-BE49-F238E27FC236}">
                <a16:creationId xmlns:a16="http://schemas.microsoft.com/office/drawing/2014/main" id="{A1CB3985-F97A-E9C1-33B9-BDC03B7839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19673"/>
            <a:ext cx="10515600" cy="571015"/>
          </a:xfrm>
          <a:solidFill>
            <a:srgbClr val="FFCB3C"/>
          </a:solidFill>
        </p:spPr>
        <p:txBody>
          <a:bodyPr>
            <a:noAutofit/>
          </a:bodyPr>
          <a:lstStyle/>
          <a:p>
            <a:pPr algn="ctr"/>
            <a:r>
              <a:rPr kumimoji="1" lang="ko-KR" altLang="en-US" sz="2000" b="1" dirty="0">
                <a:solidFill>
                  <a:schemeClr val="tx2"/>
                </a:solidFill>
              </a:rPr>
              <a:t>올리스트의 재구매 부진은 </a:t>
            </a:r>
            <a:r>
              <a:rPr kumimoji="1" lang="en-US" altLang="ko-KR" sz="2000" b="1" dirty="0">
                <a:solidFill>
                  <a:schemeClr val="tx2"/>
                </a:solidFill>
              </a:rPr>
              <a:t>‘</a:t>
            </a:r>
            <a:r>
              <a:rPr kumimoji="1" lang="ko-KR" altLang="en-US" sz="2000" b="1" dirty="0">
                <a:solidFill>
                  <a:schemeClr val="tx2"/>
                </a:solidFill>
              </a:rPr>
              <a:t>가격 요인</a:t>
            </a:r>
            <a:r>
              <a:rPr kumimoji="1" lang="en-US" altLang="ko-KR" sz="2000" b="1" dirty="0">
                <a:solidFill>
                  <a:schemeClr val="tx2"/>
                </a:solidFill>
              </a:rPr>
              <a:t>’</a:t>
            </a:r>
            <a:r>
              <a:rPr kumimoji="1" lang="ko-KR" altLang="en-US" sz="2000" b="1" dirty="0">
                <a:solidFill>
                  <a:schemeClr val="tx2"/>
                </a:solidFill>
              </a:rPr>
              <a:t>과 </a:t>
            </a:r>
            <a:r>
              <a:rPr kumimoji="1" lang="en-US" altLang="ko-KR" sz="2000" b="1" dirty="0">
                <a:solidFill>
                  <a:schemeClr val="tx2"/>
                </a:solidFill>
              </a:rPr>
              <a:t>‘</a:t>
            </a:r>
            <a:r>
              <a:rPr kumimoji="1" lang="ko-KR" altLang="en-US" sz="2000" b="1" dirty="0">
                <a:solidFill>
                  <a:schemeClr val="tx2"/>
                </a:solidFill>
              </a:rPr>
              <a:t>경험 품질</a:t>
            </a:r>
            <a:r>
              <a:rPr kumimoji="1" lang="en-US" altLang="ko-KR" sz="2000" b="1" dirty="0">
                <a:solidFill>
                  <a:schemeClr val="tx2"/>
                </a:solidFill>
              </a:rPr>
              <a:t>’</a:t>
            </a:r>
            <a:r>
              <a:rPr kumimoji="1" lang="ko-KR" altLang="en-US" sz="2000" b="1" dirty="0">
                <a:solidFill>
                  <a:schemeClr val="tx2"/>
                </a:solidFill>
              </a:rPr>
              <a:t>의 문제가 아니었다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C75C478-6B90-B48A-7D20-CAA533D81C47}"/>
              </a:ext>
            </a:extLst>
          </p:cNvPr>
          <p:cNvSpPr txBox="1"/>
          <p:nvPr/>
        </p:nvSpPr>
        <p:spPr>
          <a:xfrm>
            <a:off x="4724215" y="2030894"/>
            <a:ext cx="274357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1" dirty="0"/>
              <a:t>&lt;</a:t>
            </a:r>
            <a:r>
              <a:rPr lang="ko-KR" altLang="en-US" sz="1600" b="1" dirty="0"/>
              <a:t> 첫 구매 배송 소요기간 </a:t>
            </a:r>
            <a:r>
              <a:rPr lang="en-US" altLang="ko-KR" sz="1600" b="1" dirty="0"/>
              <a:t>&gt;</a:t>
            </a:r>
            <a:r>
              <a:rPr lang="ko-KR" altLang="en-US" sz="1600" b="1" dirty="0"/>
              <a:t> </a:t>
            </a:r>
            <a:endParaRPr lang="en-US" altLang="ko-KR" sz="16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24CCC83-3D5F-F97D-D38F-8CA1C74F718F}"/>
              </a:ext>
            </a:extLst>
          </p:cNvPr>
          <p:cNvSpPr txBox="1"/>
          <p:nvPr/>
        </p:nvSpPr>
        <p:spPr>
          <a:xfrm>
            <a:off x="8535140" y="2038704"/>
            <a:ext cx="23368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1" dirty="0"/>
              <a:t>&lt;</a:t>
            </a:r>
            <a:r>
              <a:rPr lang="ko-KR" altLang="en-US" sz="1600" b="1" dirty="0"/>
              <a:t> 첫 구매 리뷰 점수 </a:t>
            </a:r>
            <a:r>
              <a:rPr lang="en-US" altLang="ko-KR" sz="1600" b="1" dirty="0"/>
              <a:t>&gt;</a:t>
            </a:r>
            <a:r>
              <a:rPr lang="ko-KR" altLang="en-US" sz="1600" b="1" dirty="0"/>
              <a:t> </a:t>
            </a:r>
            <a:endParaRPr lang="en-US" altLang="ko-KR" sz="1600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85D9D81-9087-1A39-DDF8-51EE3AFD5A50}"/>
              </a:ext>
            </a:extLst>
          </p:cNvPr>
          <p:cNvSpPr txBox="1"/>
          <p:nvPr/>
        </p:nvSpPr>
        <p:spPr>
          <a:xfrm>
            <a:off x="7749105" y="5428988"/>
            <a:ext cx="3794906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dirty="0">
                <a:solidFill>
                  <a:srgbClr val="0070C0"/>
                </a:solidFill>
              </a:rPr>
              <a:t>※</a:t>
            </a:r>
            <a:r>
              <a:rPr lang="ko-KR" altLang="en-US" sz="1400" dirty="0">
                <a:solidFill>
                  <a:srgbClr val="0070C0"/>
                </a:solidFill>
              </a:rPr>
              <a:t> 첫 구매 주문 중 리뷰 존재 비율</a:t>
            </a:r>
            <a:r>
              <a:rPr lang="en-US" altLang="ko-KR" sz="1400" dirty="0">
                <a:solidFill>
                  <a:srgbClr val="0070C0"/>
                </a:solidFill>
              </a:rPr>
              <a:t>:</a:t>
            </a:r>
            <a:r>
              <a:rPr lang="ko-KR" altLang="en-US" sz="1400" dirty="0">
                <a:solidFill>
                  <a:srgbClr val="0070C0"/>
                </a:solidFill>
              </a:rPr>
              <a:t>  </a:t>
            </a:r>
            <a:r>
              <a:rPr lang="en-US" altLang="ko-KR" sz="1400" dirty="0">
                <a:solidFill>
                  <a:srgbClr val="0070C0"/>
                </a:solidFill>
              </a:rPr>
              <a:t>99.34%</a:t>
            </a:r>
          </a:p>
          <a:p>
            <a:pPr algn="ctr"/>
            <a:endParaRPr lang="ko-KR" altLang="en-US" sz="1600" dirty="0">
              <a:solidFill>
                <a:srgbClr val="0070C0"/>
              </a:solidFill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D7A1B45E-4582-0799-069C-CAECEA8BD7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954" y="2461673"/>
            <a:ext cx="3301543" cy="2882900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3CFF7230-64B9-8372-290F-8A4A93ECE4B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03270" y="2461673"/>
            <a:ext cx="3260273" cy="2882900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ED8CD8EE-9634-C200-DCA0-02EF61052B0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39316" y="2461673"/>
            <a:ext cx="3414484" cy="288290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4137A4D7-9986-8E07-FD5D-CCDC79EDE8C2}"/>
              </a:ext>
            </a:extLst>
          </p:cNvPr>
          <p:cNvSpPr txBox="1"/>
          <p:nvPr/>
        </p:nvSpPr>
        <p:spPr>
          <a:xfrm>
            <a:off x="1407144" y="2024190"/>
            <a:ext cx="274357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1" dirty="0"/>
              <a:t>&lt;</a:t>
            </a:r>
            <a:r>
              <a:rPr lang="ko-KR" altLang="en-US" sz="1600" b="1" dirty="0"/>
              <a:t> 첫 구매 결제 금액 </a:t>
            </a:r>
            <a:r>
              <a:rPr lang="en-US" altLang="ko-KR" sz="1600" b="1" dirty="0"/>
              <a:t>&gt;</a:t>
            </a:r>
            <a:r>
              <a:rPr lang="ko-KR" altLang="en-US" sz="1600" b="1" dirty="0"/>
              <a:t> </a:t>
            </a:r>
            <a:endParaRPr lang="en-US" altLang="ko-KR" sz="1600" b="1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747118E-8909-57DB-1CBF-D4C9A4DA1800}"/>
              </a:ext>
            </a:extLst>
          </p:cNvPr>
          <p:cNvSpPr txBox="1"/>
          <p:nvPr/>
        </p:nvSpPr>
        <p:spPr>
          <a:xfrm>
            <a:off x="908976" y="5896720"/>
            <a:ext cx="10248860" cy="8716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dirty="0">
                <a:solidFill>
                  <a:schemeClr val="tx2"/>
                </a:solidFill>
                <a:highlight>
                  <a:srgbClr val="FFFF00"/>
                </a:highlight>
                <a:latin typeface=".AppleSystemUIFont"/>
              </a:rPr>
              <a:t>✅  </a:t>
            </a:r>
            <a:r>
              <a:rPr lang="ko-KR" altLang="en-US" b="1" dirty="0">
                <a:solidFill>
                  <a:srgbClr val="C00000"/>
                </a:solidFill>
                <a:highlight>
                  <a:srgbClr val="FFFF00"/>
                </a:highlight>
              </a:rPr>
              <a:t>재구매 여부는 첫 구매 경험의 질적 요소의 차이로 설명되지 않음 </a:t>
            </a:r>
            <a:endParaRPr lang="en-US" altLang="ko-KR" b="1" dirty="0">
              <a:solidFill>
                <a:srgbClr val="C00000"/>
              </a:solidFill>
              <a:highlight>
                <a:srgbClr val="FFFF00"/>
              </a:highlight>
            </a:endParaRPr>
          </a:p>
          <a:p>
            <a:pPr algn="ctr">
              <a:lnSpc>
                <a:spcPct val="150000"/>
              </a:lnSpc>
            </a:pPr>
            <a:r>
              <a:rPr lang="en-US" altLang="ko-KR" b="1" dirty="0">
                <a:solidFill>
                  <a:srgbClr val="C00000"/>
                </a:solidFill>
                <a:sym typeface="Wingdings" pitchFamily="2" charset="2"/>
              </a:rPr>
              <a:t></a:t>
            </a:r>
            <a:r>
              <a:rPr lang="ko-KR" altLang="en-US" b="1" dirty="0">
                <a:solidFill>
                  <a:srgbClr val="C00000"/>
                </a:solidFill>
                <a:sym typeface="Wingdings" pitchFamily="2" charset="2"/>
              </a:rPr>
              <a:t> </a:t>
            </a:r>
            <a:r>
              <a:rPr lang="en-US" altLang="ko-KR" b="1" dirty="0">
                <a:solidFill>
                  <a:srgbClr val="C00000"/>
                </a:solidFill>
                <a:sym typeface="Wingdings" pitchFamily="2" charset="2"/>
              </a:rPr>
              <a:t>Why? </a:t>
            </a:r>
            <a:endParaRPr lang="en-US" altLang="ko-KR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884134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E28DBF-74F1-A907-CD2F-70C065C05F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37F4797-04AF-8672-4D75-3F4DE61642CB}"/>
              </a:ext>
            </a:extLst>
          </p:cNvPr>
          <p:cNvSpPr txBox="1"/>
          <p:nvPr/>
        </p:nvSpPr>
        <p:spPr>
          <a:xfrm>
            <a:off x="7323566" y="145601"/>
            <a:ext cx="475994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buNone/>
            </a:pPr>
            <a:r>
              <a:rPr lang="en" altLang="ko-KR" sz="1400" dirty="0">
                <a:solidFill>
                  <a:schemeClr val="tx2"/>
                </a:solidFill>
                <a:latin typeface="Noto Sans Syriac SemiBold" panose="020B0502040504020204" pitchFamily="34" charset="0"/>
                <a:cs typeface="Noto Sans Syriac SemiBold" panose="020B0502040504020204" pitchFamily="34" charset="0"/>
              </a:rPr>
              <a:t>PBL 2. </a:t>
            </a:r>
            <a:r>
              <a:rPr lang="ko-KR" altLang="en-US" sz="1400" dirty="0">
                <a:solidFill>
                  <a:schemeClr val="tx2"/>
                </a:solidFill>
                <a:latin typeface="Noto Sans Syriac SemiBold" panose="020B0502040504020204" pitchFamily="34" charset="0"/>
                <a:cs typeface="Noto Sans Syriac SemiBold" panose="020B0502040504020204" pitchFamily="34" charset="0"/>
              </a:rPr>
              <a:t>서비스 분석</a:t>
            </a:r>
            <a:r>
              <a:rPr lang="en-US" altLang="ko-KR" sz="1400" dirty="0">
                <a:solidFill>
                  <a:schemeClr val="tx2"/>
                </a:solidFill>
                <a:latin typeface="Noto Sans Syriac SemiBold" panose="020B0502040504020204" pitchFamily="34" charset="0"/>
                <a:cs typeface="Noto Sans Syriac SemiBold" panose="020B0502040504020204" pitchFamily="34" charset="0"/>
              </a:rPr>
              <a:t>_26.01.26</a:t>
            </a:r>
            <a:endParaRPr lang="ko-KR" altLang="en-US" sz="1400" dirty="0">
              <a:solidFill>
                <a:schemeClr val="tx2"/>
              </a:solidFill>
              <a:latin typeface="Noto Sans Syriac SemiBold" panose="020B0502040504020204" pitchFamily="34" charset="0"/>
              <a:cs typeface="Noto Sans Syriac SemiBold" panose="020B0502040504020204" pitchFamily="34" charset="0"/>
            </a:endParaRPr>
          </a:p>
        </p:txBody>
      </p:sp>
      <p:pic>
        <p:nvPicPr>
          <p:cNvPr id="5" name="그림 4" descr="텍스트, 그래픽, 로고, 그래픽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9171A81-C645-A356-0E26-4030C7AD75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75383"/>
            <a:ext cx="1707878" cy="1707878"/>
          </a:xfrm>
          <a:prstGeom prst="rect">
            <a:avLst/>
          </a:prstGeom>
        </p:spPr>
      </p:pic>
      <p:sp>
        <p:nvSpPr>
          <p:cNvPr id="6" name="제목 1">
            <a:extLst>
              <a:ext uri="{FF2B5EF4-FFF2-40B4-BE49-F238E27FC236}">
                <a16:creationId xmlns:a16="http://schemas.microsoft.com/office/drawing/2014/main" id="{2C3D312F-2E78-4965-3619-B05E533133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19673"/>
            <a:ext cx="10515600" cy="571015"/>
          </a:xfrm>
          <a:solidFill>
            <a:srgbClr val="FFCB3C"/>
          </a:solidFill>
        </p:spPr>
        <p:txBody>
          <a:bodyPr>
            <a:noAutofit/>
          </a:bodyPr>
          <a:lstStyle/>
          <a:p>
            <a:pPr algn="ctr"/>
            <a:r>
              <a:rPr kumimoji="1" lang="ko-KR" altLang="en-US" sz="2000" b="1" dirty="0">
                <a:solidFill>
                  <a:schemeClr val="tx2"/>
                </a:solidFill>
              </a:rPr>
              <a:t>재구매는 </a:t>
            </a:r>
            <a:r>
              <a:rPr kumimoji="1" lang="en-US" altLang="ko-KR" sz="2000" b="1" dirty="0">
                <a:solidFill>
                  <a:schemeClr val="tx2"/>
                </a:solidFill>
              </a:rPr>
              <a:t>‘</a:t>
            </a:r>
            <a:r>
              <a:rPr kumimoji="1" lang="ko-KR" altLang="en-US" sz="2000" b="1" dirty="0">
                <a:solidFill>
                  <a:schemeClr val="tx2"/>
                </a:solidFill>
              </a:rPr>
              <a:t>충성도</a:t>
            </a:r>
            <a:r>
              <a:rPr kumimoji="1" lang="en-US" altLang="ko-KR" sz="2000" b="1" dirty="0">
                <a:solidFill>
                  <a:schemeClr val="tx2"/>
                </a:solidFill>
              </a:rPr>
              <a:t>’</a:t>
            </a:r>
            <a:r>
              <a:rPr kumimoji="1" lang="ko-KR" altLang="en-US" sz="2000" b="1" dirty="0" err="1">
                <a:solidFill>
                  <a:schemeClr val="tx2"/>
                </a:solidFill>
              </a:rPr>
              <a:t>라기</a:t>
            </a:r>
            <a:r>
              <a:rPr kumimoji="1" lang="ko-KR" altLang="en-US" sz="2000" b="1" dirty="0">
                <a:solidFill>
                  <a:schemeClr val="tx2"/>
                </a:solidFill>
              </a:rPr>
              <a:t> 보다는 첫 구매에서 채우지 못한 수요의 보충 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C8A9979-2FE7-A821-DFFE-53555D094561}"/>
              </a:ext>
            </a:extLst>
          </p:cNvPr>
          <p:cNvSpPr txBox="1"/>
          <p:nvPr/>
        </p:nvSpPr>
        <p:spPr>
          <a:xfrm>
            <a:off x="6589486" y="2024190"/>
            <a:ext cx="484232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1" dirty="0"/>
              <a:t>&lt;</a:t>
            </a:r>
            <a:r>
              <a:rPr lang="ko-KR" altLang="en-US" sz="1600" b="1" dirty="0"/>
              <a:t> 동일 카테고리 재구매 고객의 카테고리 분포</a:t>
            </a:r>
            <a:r>
              <a:rPr lang="en-US" altLang="ko-KR" sz="1600" b="1" dirty="0"/>
              <a:t>&gt;</a:t>
            </a:r>
            <a:r>
              <a:rPr lang="ko-KR" altLang="en-US" sz="1600" b="1" dirty="0"/>
              <a:t> </a:t>
            </a:r>
            <a:endParaRPr lang="en-US" altLang="ko-KR" sz="1600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EDAE04D-D09B-977F-71FF-5112E0A4D63A}"/>
              </a:ext>
            </a:extLst>
          </p:cNvPr>
          <p:cNvSpPr txBox="1"/>
          <p:nvPr/>
        </p:nvSpPr>
        <p:spPr>
          <a:xfrm>
            <a:off x="460829" y="2024190"/>
            <a:ext cx="557711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1" dirty="0"/>
              <a:t>&lt;</a:t>
            </a:r>
            <a:r>
              <a:rPr lang="ko-KR" altLang="en-US" sz="1600" b="1" dirty="0"/>
              <a:t> </a:t>
            </a:r>
            <a:r>
              <a:rPr lang="en-US" altLang="ko-KR" sz="1600" b="1" dirty="0"/>
              <a:t>30</a:t>
            </a:r>
            <a:r>
              <a:rPr lang="ko-KR" altLang="en-US" sz="1600" b="1" dirty="0"/>
              <a:t>일 이내 재구매 고객의 동일 카테고리 재구매 비율 </a:t>
            </a:r>
            <a:r>
              <a:rPr lang="en-US" altLang="ko-KR" sz="1600" b="1" dirty="0"/>
              <a:t>&gt;</a:t>
            </a:r>
            <a:r>
              <a:rPr lang="ko-KR" altLang="en-US" sz="1600" b="1" dirty="0"/>
              <a:t> </a:t>
            </a:r>
            <a:endParaRPr lang="en-US" altLang="ko-KR" sz="1600" b="1" dirty="0"/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0396EEA8-6934-036C-188C-33AACB5135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8636" y="2573982"/>
            <a:ext cx="4381500" cy="3111500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19DDBE8B-F140-353D-C8A2-FECB4E0DEB0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5999" y="2566724"/>
            <a:ext cx="5348259" cy="3118757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6547A2C5-E8C7-D34C-D759-B6F71E049B60}"/>
              </a:ext>
            </a:extLst>
          </p:cNvPr>
          <p:cNvSpPr txBox="1"/>
          <p:nvPr/>
        </p:nvSpPr>
        <p:spPr>
          <a:xfrm>
            <a:off x="1004392" y="5896720"/>
            <a:ext cx="43815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ctr">
              <a:buFont typeface="Wingdings" pitchFamily="2" charset="2"/>
              <a:buChar char="ü"/>
            </a:pPr>
            <a:r>
              <a:rPr lang="ko-KR" altLang="en-US" sz="1600" b="1" dirty="0">
                <a:solidFill>
                  <a:srgbClr val="C00000"/>
                </a:solidFill>
                <a:highlight>
                  <a:srgbClr val="FFFF00"/>
                </a:highlight>
              </a:rPr>
              <a:t>재구매 고객의 </a:t>
            </a:r>
            <a:r>
              <a:rPr lang="en-US" altLang="ko-KR" sz="1600" b="1" dirty="0">
                <a:solidFill>
                  <a:srgbClr val="C00000"/>
                </a:solidFill>
                <a:highlight>
                  <a:srgbClr val="FFFF00"/>
                </a:highlight>
              </a:rPr>
              <a:t>60%</a:t>
            </a:r>
            <a:r>
              <a:rPr lang="ko-KR" altLang="en-US" sz="1600" b="1" dirty="0">
                <a:solidFill>
                  <a:srgbClr val="C00000"/>
                </a:solidFill>
                <a:highlight>
                  <a:srgbClr val="FFFF00"/>
                </a:highlight>
              </a:rPr>
              <a:t> 이상이 </a:t>
            </a:r>
            <a:endParaRPr lang="en-US" altLang="ko-KR" sz="1600" b="1" dirty="0">
              <a:solidFill>
                <a:srgbClr val="C00000"/>
              </a:solidFill>
              <a:highlight>
                <a:srgbClr val="FFFF00"/>
              </a:highlight>
            </a:endParaRPr>
          </a:p>
          <a:p>
            <a:pPr algn="ctr"/>
            <a:r>
              <a:rPr lang="ko-KR" altLang="en-US" sz="1600" b="1" dirty="0">
                <a:solidFill>
                  <a:srgbClr val="C00000"/>
                </a:solidFill>
                <a:highlight>
                  <a:srgbClr val="FFFF00"/>
                </a:highlight>
              </a:rPr>
              <a:t>첫 구매와 동일한 카테고리를 재구매</a:t>
            </a:r>
            <a:endParaRPr lang="ko-KR" altLang="en-US" sz="1600" dirty="0">
              <a:solidFill>
                <a:srgbClr val="C00000"/>
              </a:solidFill>
              <a:highlight>
                <a:srgbClr val="FFFF00"/>
              </a:highlight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64AB6D3-467C-36E7-6AAF-E376172E3307}"/>
              </a:ext>
            </a:extLst>
          </p:cNvPr>
          <p:cNvSpPr txBox="1"/>
          <p:nvPr/>
        </p:nvSpPr>
        <p:spPr>
          <a:xfrm>
            <a:off x="5668652" y="5897803"/>
            <a:ext cx="641486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ctr">
              <a:buFont typeface="Wingdings" pitchFamily="2" charset="2"/>
              <a:buChar char="ü"/>
            </a:pPr>
            <a:r>
              <a:rPr lang="ko-KR" altLang="en-US" sz="1600" b="1" dirty="0" err="1">
                <a:solidFill>
                  <a:srgbClr val="C00000"/>
                </a:solidFill>
                <a:highlight>
                  <a:srgbClr val="FFFF00"/>
                </a:highlight>
              </a:rPr>
              <a:t>침구・욕실</a:t>
            </a:r>
            <a:r>
              <a:rPr lang="en-US" altLang="ko-KR" sz="1600" b="1" dirty="0">
                <a:solidFill>
                  <a:srgbClr val="C00000"/>
                </a:solidFill>
                <a:highlight>
                  <a:srgbClr val="FFFF00"/>
                </a:highlight>
              </a:rPr>
              <a:t>,</a:t>
            </a:r>
            <a:r>
              <a:rPr lang="ko-KR" altLang="en-US" sz="1600" b="1" dirty="0">
                <a:solidFill>
                  <a:srgbClr val="C00000"/>
                </a:solidFill>
                <a:highlight>
                  <a:srgbClr val="FFFF00"/>
                </a:highlight>
              </a:rPr>
              <a:t> </a:t>
            </a:r>
            <a:r>
              <a:rPr lang="ko-KR" altLang="en-US" sz="1600" b="1" dirty="0" err="1">
                <a:solidFill>
                  <a:srgbClr val="C00000"/>
                </a:solidFill>
                <a:highlight>
                  <a:srgbClr val="FFFF00"/>
                </a:highlight>
              </a:rPr>
              <a:t>미용・건강</a:t>
            </a:r>
            <a:r>
              <a:rPr lang="en-US" altLang="ko-KR" sz="1600" b="1" dirty="0">
                <a:solidFill>
                  <a:srgbClr val="C00000"/>
                </a:solidFill>
                <a:highlight>
                  <a:srgbClr val="FFFF00"/>
                </a:highlight>
              </a:rPr>
              <a:t>,</a:t>
            </a:r>
            <a:r>
              <a:rPr lang="ko-KR" altLang="en-US" sz="1600" b="1" dirty="0">
                <a:solidFill>
                  <a:srgbClr val="C00000"/>
                </a:solidFill>
                <a:highlight>
                  <a:srgbClr val="FFFF00"/>
                </a:highlight>
              </a:rPr>
              <a:t> 생활용품 등 </a:t>
            </a:r>
            <a:endParaRPr lang="en-US" altLang="ko-KR" sz="1600" b="1" dirty="0">
              <a:solidFill>
                <a:srgbClr val="C00000"/>
              </a:solidFill>
              <a:highlight>
                <a:srgbClr val="FFFF00"/>
              </a:highlight>
            </a:endParaRPr>
          </a:p>
          <a:p>
            <a:pPr algn="ctr"/>
            <a:r>
              <a:rPr lang="ko-KR" altLang="en-US" sz="1600" b="1" dirty="0">
                <a:solidFill>
                  <a:srgbClr val="C00000"/>
                </a:solidFill>
                <a:highlight>
                  <a:srgbClr val="FFFF00"/>
                </a:highlight>
                <a:sym typeface="Wingdings" pitchFamily="2" charset="2"/>
              </a:rPr>
              <a:t>소모성</a:t>
            </a:r>
            <a:r>
              <a:rPr lang="en-US" altLang="ko-KR" sz="1600" b="1" dirty="0">
                <a:solidFill>
                  <a:srgbClr val="C00000"/>
                </a:solidFill>
                <a:highlight>
                  <a:srgbClr val="FFFF00"/>
                </a:highlight>
                <a:sym typeface="Wingdings" pitchFamily="2" charset="2"/>
              </a:rPr>
              <a:t>,</a:t>
            </a:r>
            <a:r>
              <a:rPr lang="ko-KR" altLang="en-US" sz="1600" b="1" dirty="0">
                <a:solidFill>
                  <a:srgbClr val="C00000"/>
                </a:solidFill>
                <a:highlight>
                  <a:srgbClr val="FFFF00"/>
                </a:highlight>
                <a:sym typeface="Wingdings" pitchFamily="2" charset="2"/>
              </a:rPr>
              <a:t> 생활 밀착형 카테고리가 재구매를 주도</a:t>
            </a:r>
            <a:endParaRPr lang="ko-KR" altLang="en-US" sz="1600" dirty="0">
              <a:solidFill>
                <a:srgbClr val="C00000"/>
              </a:solidFill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8155714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C6A4A53-051C-BE0A-80FC-DF381E10F31C}"/>
              </a:ext>
            </a:extLst>
          </p:cNvPr>
          <p:cNvSpPr txBox="1"/>
          <p:nvPr/>
        </p:nvSpPr>
        <p:spPr>
          <a:xfrm>
            <a:off x="7323566" y="145601"/>
            <a:ext cx="475994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buNone/>
            </a:pPr>
            <a:r>
              <a:rPr lang="en" altLang="ko-KR" sz="1400" dirty="0">
                <a:solidFill>
                  <a:schemeClr val="tx2"/>
                </a:solidFill>
                <a:latin typeface="Noto Sans Syriac SemiBold" panose="020B0502040504020204" pitchFamily="34" charset="0"/>
                <a:cs typeface="Noto Sans Syriac SemiBold" panose="020B0502040504020204" pitchFamily="34" charset="0"/>
              </a:rPr>
              <a:t>PBL 2. </a:t>
            </a:r>
            <a:r>
              <a:rPr lang="ko-KR" altLang="en-US" sz="1400" dirty="0">
                <a:solidFill>
                  <a:schemeClr val="tx2"/>
                </a:solidFill>
                <a:latin typeface="Noto Sans Syriac SemiBold" panose="020B0502040504020204" pitchFamily="34" charset="0"/>
                <a:cs typeface="Noto Sans Syriac SemiBold" panose="020B0502040504020204" pitchFamily="34" charset="0"/>
              </a:rPr>
              <a:t>서비스 분석</a:t>
            </a:r>
            <a:r>
              <a:rPr lang="en-US" altLang="ko-KR" sz="1400" dirty="0">
                <a:solidFill>
                  <a:schemeClr val="tx2"/>
                </a:solidFill>
                <a:latin typeface="Noto Sans Syriac SemiBold" panose="020B0502040504020204" pitchFamily="34" charset="0"/>
                <a:cs typeface="Noto Sans Syriac SemiBold" panose="020B0502040504020204" pitchFamily="34" charset="0"/>
              </a:rPr>
              <a:t>_26.01.26</a:t>
            </a:r>
            <a:endParaRPr lang="ko-KR" altLang="en-US" sz="1400" dirty="0">
              <a:solidFill>
                <a:schemeClr val="tx2"/>
              </a:solidFill>
              <a:latin typeface="Noto Sans Syriac SemiBold" panose="020B0502040504020204" pitchFamily="34" charset="0"/>
              <a:cs typeface="Noto Sans Syriac SemiBold" panose="020B0502040504020204" pitchFamily="34" charset="0"/>
            </a:endParaRPr>
          </a:p>
        </p:txBody>
      </p:sp>
      <p:pic>
        <p:nvPicPr>
          <p:cNvPr id="5" name="그림 4" descr="텍스트, 그래픽, 로고, 그래픽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F3129EC-23BF-0712-8FB1-7BD09F0B27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75383"/>
            <a:ext cx="1707878" cy="1707878"/>
          </a:xfrm>
          <a:prstGeom prst="rect">
            <a:avLst/>
          </a:prstGeom>
        </p:spPr>
      </p:pic>
      <p:sp>
        <p:nvSpPr>
          <p:cNvPr id="6" name="제목 1">
            <a:extLst>
              <a:ext uri="{FF2B5EF4-FFF2-40B4-BE49-F238E27FC236}">
                <a16:creationId xmlns:a16="http://schemas.microsoft.com/office/drawing/2014/main" id="{320E9709-D27E-59B2-BB95-CB21F43713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19673"/>
            <a:ext cx="10515600" cy="571015"/>
          </a:xfrm>
          <a:solidFill>
            <a:srgbClr val="FFCB3C"/>
          </a:solidFill>
        </p:spPr>
        <p:txBody>
          <a:bodyPr>
            <a:noAutofit/>
          </a:bodyPr>
          <a:lstStyle/>
          <a:p>
            <a:pPr algn="ctr"/>
            <a:r>
              <a:rPr kumimoji="1" lang="ko-KR" altLang="en-US" sz="2000" b="1" dirty="0">
                <a:solidFill>
                  <a:schemeClr val="tx2"/>
                </a:solidFill>
              </a:rPr>
              <a:t>재구매가 아닌데</a:t>
            </a:r>
            <a:r>
              <a:rPr kumimoji="1" lang="en-US" altLang="ko-KR" sz="2000" b="1" dirty="0">
                <a:solidFill>
                  <a:schemeClr val="tx2"/>
                </a:solidFill>
              </a:rPr>
              <a:t>,</a:t>
            </a:r>
            <a:r>
              <a:rPr kumimoji="1" lang="ko-KR" altLang="en-US" sz="2000" b="1" dirty="0">
                <a:solidFill>
                  <a:schemeClr val="tx2"/>
                </a:solidFill>
              </a:rPr>
              <a:t> 올리스트 매출은 왜 성장했을까</a:t>
            </a:r>
            <a:r>
              <a:rPr kumimoji="1" lang="en-US" altLang="ko-KR" sz="2000" b="1" dirty="0">
                <a:solidFill>
                  <a:schemeClr val="tx2"/>
                </a:solidFill>
              </a:rPr>
              <a:t>?</a:t>
            </a:r>
            <a:r>
              <a:rPr kumimoji="1" lang="ko-KR" altLang="en-US" sz="2000" b="1" dirty="0">
                <a:solidFill>
                  <a:schemeClr val="tx2"/>
                </a:solidFill>
              </a:rPr>
              <a:t> 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AD44437-7A12-7928-B6B4-EB45280EA20F}"/>
              </a:ext>
            </a:extLst>
          </p:cNvPr>
          <p:cNvSpPr txBox="1"/>
          <p:nvPr/>
        </p:nvSpPr>
        <p:spPr>
          <a:xfrm>
            <a:off x="751114" y="2198790"/>
            <a:ext cx="6070600" cy="4069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lnSpc>
                <a:spcPct val="200000"/>
              </a:lnSpc>
              <a:spcBef>
                <a:spcPts val="75"/>
              </a:spcBef>
              <a:spcAft>
                <a:spcPts val="75"/>
              </a:spcAft>
              <a:buFont typeface="Wingdings" pitchFamily="2" charset="2"/>
              <a:buChar char="u"/>
            </a:pPr>
            <a:r>
              <a:rPr lang="ko-KR" altLang="en-US" sz="2000" b="1" i="0" dirty="0">
                <a:solidFill>
                  <a:schemeClr val="tx2"/>
                </a:solidFill>
                <a:effectLst/>
                <a:latin typeface="ui-sans-serif"/>
              </a:rPr>
              <a:t>지금까지의 발견 요약</a:t>
            </a:r>
            <a:endParaRPr lang="en-US" altLang="ko-KR" sz="2000" b="1" i="0" dirty="0">
              <a:solidFill>
                <a:schemeClr val="tx2"/>
              </a:solidFill>
              <a:effectLst/>
              <a:latin typeface="ui-sans-serif"/>
            </a:endParaRPr>
          </a:p>
          <a:p>
            <a:pPr>
              <a:lnSpc>
                <a:spcPct val="200000"/>
              </a:lnSpc>
            </a:pPr>
            <a:r>
              <a:rPr lang="ko-KR" altLang="en-US" dirty="0">
                <a:solidFill>
                  <a:srgbClr val="4C6B03"/>
                </a:solidFill>
              </a:rPr>
              <a:t>✔ 재구매율은 전체 고객의 약 </a:t>
            </a:r>
            <a:r>
              <a:rPr lang="en-US" altLang="ko-KR" dirty="0">
                <a:solidFill>
                  <a:srgbClr val="4C6B03"/>
                </a:solidFill>
              </a:rPr>
              <a:t>3% </a:t>
            </a:r>
            <a:r>
              <a:rPr lang="ko-KR" altLang="en-US" dirty="0">
                <a:solidFill>
                  <a:srgbClr val="4C6B03"/>
                </a:solidFill>
              </a:rPr>
              <a:t>수준</a:t>
            </a:r>
          </a:p>
          <a:p>
            <a:pPr>
              <a:lnSpc>
                <a:spcPct val="200000"/>
              </a:lnSpc>
            </a:pPr>
            <a:r>
              <a:rPr lang="ko-KR" altLang="en-US" dirty="0">
                <a:solidFill>
                  <a:srgbClr val="4C6B03"/>
                </a:solidFill>
              </a:rPr>
              <a:t>✔ 재구매는 대부분 첫 구매 후 </a:t>
            </a:r>
            <a:r>
              <a:rPr lang="en-US" altLang="ko-KR" dirty="0">
                <a:solidFill>
                  <a:srgbClr val="4C6B03"/>
                </a:solidFill>
              </a:rPr>
              <a:t>30</a:t>
            </a:r>
            <a:r>
              <a:rPr lang="ko-KR" altLang="en-US" dirty="0">
                <a:solidFill>
                  <a:srgbClr val="4C6B03"/>
                </a:solidFill>
              </a:rPr>
              <a:t>일 이내 발생</a:t>
            </a:r>
          </a:p>
          <a:p>
            <a:pPr>
              <a:lnSpc>
                <a:spcPct val="200000"/>
              </a:lnSpc>
            </a:pPr>
            <a:r>
              <a:rPr lang="ko-KR" altLang="en-US" dirty="0">
                <a:solidFill>
                  <a:srgbClr val="4C6B03"/>
                </a:solidFill>
              </a:rPr>
              <a:t>✔ 재구매는 충성도보다 </a:t>
            </a:r>
            <a:r>
              <a:rPr lang="ko-KR" altLang="en-US" b="1" dirty="0">
                <a:solidFill>
                  <a:srgbClr val="4C6B03"/>
                </a:solidFill>
              </a:rPr>
              <a:t>첫 구매 수요 연장</a:t>
            </a:r>
            <a:r>
              <a:rPr lang="ko-KR" altLang="en-US" dirty="0">
                <a:solidFill>
                  <a:srgbClr val="4C6B03"/>
                </a:solidFill>
              </a:rPr>
              <a:t>에 가까움</a:t>
            </a:r>
            <a:endParaRPr lang="en-US" altLang="ko-KR" dirty="0">
              <a:solidFill>
                <a:srgbClr val="4C6B03"/>
              </a:solidFill>
            </a:endParaRPr>
          </a:p>
          <a:p>
            <a:pPr>
              <a:lnSpc>
                <a:spcPct val="200000"/>
              </a:lnSpc>
            </a:pPr>
            <a:endParaRPr lang="en-US" altLang="ko-KR" dirty="0"/>
          </a:p>
          <a:p>
            <a:pPr marL="342900" indent="-342900">
              <a:lnSpc>
                <a:spcPct val="200000"/>
              </a:lnSpc>
              <a:buFont typeface="Wingdings" pitchFamily="2" charset="2"/>
              <a:buChar char="è"/>
            </a:pPr>
            <a:r>
              <a:rPr lang="en-US" altLang="ko-KR" dirty="0">
                <a:solidFill>
                  <a:srgbClr val="C00000"/>
                </a:solidFill>
                <a:highlight>
                  <a:srgbClr val="FFFF00"/>
                </a:highlight>
                <a:sym typeface="Wingdings" pitchFamily="2" charset="2"/>
              </a:rPr>
              <a:t>Retention</a:t>
            </a:r>
            <a:r>
              <a:rPr lang="ko-KR" altLang="en-US" dirty="0">
                <a:solidFill>
                  <a:srgbClr val="C00000"/>
                </a:solidFill>
                <a:highlight>
                  <a:srgbClr val="FFFF00"/>
                </a:highlight>
                <a:sym typeface="Wingdings" pitchFamily="2" charset="2"/>
              </a:rPr>
              <a:t> 지표만으로는 </a:t>
            </a:r>
            <a:endParaRPr lang="en-US" altLang="ko-KR" dirty="0">
              <a:solidFill>
                <a:srgbClr val="C00000"/>
              </a:solidFill>
              <a:highlight>
                <a:srgbClr val="FFFF00"/>
              </a:highlight>
              <a:sym typeface="Wingdings" pitchFamily="2" charset="2"/>
            </a:endParaRPr>
          </a:p>
          <a:p>
            <a:pPr marL="317500">
              <a:lnSpc>
                <a:spcPct val="200000"/>
              </a:lnSpc>
            </a:pPr>
            <a:r>
              <a:rPr lang="ko-KR" altLang="en-US" dirty="0">
                <a:solidFill>
                  <a:srgbClr val="C00000"/>
                </a:solidFill>
                <a:highlight>
                  <a:srgbClr val="FFFF00"/>
                </a:highlight>
                <a:sym typeface="Wingdings" pitchFamily="2" charset="2"/>
              </a:rPr>
              <a:t>매출 성장의 원인을 설명하기 어려움</a:t>
            </a:r>
            <a:endParaRPr lang="ko-KR" altLang="en-US" dirty="0">
              <a:solidFill>
                <a:srgbClr val="C00000"/>
              </a:solidFill>
              <a:highlight>
                <a:srgbClr val="FFFF00"/>
              </a:highlight>
            </a:endParaRPr>
          </a:p>
        </p:txBody>
      </p:sp>
      <p:sp>
        <p:nvSpPr>
          <p:cNvPr id="9" name="모서리가 둥근 직사각형 8">
            <a:extLst>
              <a:ext uri="{FF2B5EF4-FFF2-40B4-BE49-F238E27FC236}">
                <a16:creationId xmlns:a16="http://schemas.microsoft.com/office/drawing/2014/main" id="{CAA8F7F5-2561-893C-5B56-F0E33160C44F}"/>
              </a:ext>
            </a:extLst>
          </p:cNvPr>
          <p:cNvSpPr/>
          <p:nvPr/>
        </p:nvSpPr>
        <p:spPr>
          <a:xfrm>
            <a:off x="6821714" y="2198790"/>
            <a:ext cx="4532086" cy="4231039"/>
          </a:xfrm>
          <a:prstGeom prst="roundRect">
            <a:avLst>
              <a:gd name="adj" fmla="val 7748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C029BCD-ED1B-2115-B13B-79422115EE8F}"/>
              </a:ext>
            </a:extLst>
          </p:cNvPr>
          <p:cNvSpPr txBox="1"/>
          <p:nvPr/>
        </p:nvSpPr>
        <p:spPr>
          <a:xfrm>
            <a:off x="7024914" y="2356248"/>
            <a:ext cx="455748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3200" dirty="0">
                <a:solidFill>
                  <a:schemeClr val="tx2"/>
                </a:solidFill>
              </a:rPr>
              <a:t>🧠 </a:t>
            </a:r>
            <a:r>
              <a:rPr lang="ko-KR" altLang="en-US" sz="3200" b="1" dirty="0">
                <a:solidFill>
                  <a:schemeClr val="tx2"/>
                </a:solidFill>
              </a:rPr>
              <a:t>질문을 바꿔보자 </a:t>
            </a:r>
            <a:r>
              <a:rPr lang="en-US" altLang="ko-KR" sz="3200" b="1" dirty="0">
                <a:solidFill>
                  <a:schemeClr val="tx2"/>
                </a:solidFill>
              </a:rPr>
              <a:t>!</a:t>
            </a:r>
            <a:endParaRPr lang="ko-KR" altLang="en-US" sz="3200" dirty="0">
              <a:solidFill>
                <a:schemeClr val="tx2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9BC5535-17CF-5AB3-5865-9BB34224D16A}"/>
              </a:ext>
            </a:extLst>
          </p:cNvPr>
          <p:cNvSpPr txBox="1"/>
          <p:nvPr/>
        </p:nvSpPr>
        <p:spPr>
          <a:xfrm>
            <a:off x="7373256" y="3016524"/>
            <a:ext cx="3526972" cy="11642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200000"/>
              </a:lnSpc>
              <a:buNone/>
            </a:pPr>
            <a:r>
              <a:rPr lang="ko-KR" altLang="en-US" dirty="0">
                <a:solidFill>
                  <a:schemeClr val="tx2"/>
                </a:solidFill>
                <a:effectLst/>
                <a:latin typeface=".AppleSystemUIFont"/>
              </a:rPr>
              <a:t>“누가 오래 남는가</a:t>
            </a:r>
            <a:r>
              <a:rPr lang="en-US" altLang="ko-KR" dirty="0">
                <a:solidFill>
                  <a:schemeClr val="tx2"/>
                </a:solidFill>
                <a:effectLst/>
                <a:latin typeface=".AppleSystemUIFont"/>
              </a:rPr>
              <a:t>?”</a:t>
            </a:r>
            <a:r>
              <a:rPr lang="ko-KR" altLang="en-US" dirty="0">
                <a:solidFill>
                  <a:schemeClr val="tx2"/>
                </a:solidFill>
                <a:effectLst/>
                <a:latin typeface=".AppleSystemUIFont"/>
              </a:rPr>
              <a:t>가 아니라</a:t>
            </a:r>
          </a:p>
          <a:p>
            <a:pPr algn="ctr">
              <a:lnSpc>
                <a:spcPct val="200000"/>
              </a:lnSpc>
              <a:buNone/>
            </a:pPr>
            <a:r>
              <a:rPr lang="ko-KR" altLang="en-US" sz="2000" b="1" dirty="0">
                <a:solidFill>
                  <a:srgbClr val="C00000"/>
                </a:solidFill>
                <a:effectLst/>
                <a:highlight>
                  <a:srgbClr val="FFFF00"/>
                </a:highlight>
                <a:latin typeface="Helvetica Neue" panose="02000503000000020004" pitchFamily="2" charset="0"/>
              </a:rPr>
              <a:t>“누가 매출을 만드는가</a:t>
            </a:r>
            <a:r>
              <a:rPr lang="en-US" altLang="ko-KR" sz="2000" b="1" dirty="0">
                <a:solidFill>
                  <a:srgbClr val="C00000"/>
                </a:solidFill>
                <a:effectLst/>
                <a:highlight>
                  <a:srgbClr val="FFFF00"/>
                </a:highlight>
                <a:latin typeface="Helvetica Neue" panose="02000503000000020004" pitchFamily="2" charset="0"/>
              </a:rPr>
              <a:t>?”</a:t>
            </a:r>
            <a:endParaRPr lang="ko-KR" altLang="en-US" sz="2000" dirty="0">
              <a:solidFill>
                <a:srgbClr val="C00000"/>
              </a:solidFill>
              <a:effectLst/>
              <a:highlight>
                <a:srgbClr val="FFFF00"/>
              </a:highlight>
              <a:latin typeface="Helvetica Neue" panose="02000503000000020004" pitchFamily="2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59D8F35-3CD5-3650-E353-1B9890B61523}"/>
              </a:ext>
            </a:extLst>
          </p:cNvPr>
          <p:cNvSpPr txBox="1"/>
          <p:nvPr/>
        </p:nvSpPr>
        <p:spPr>
          <a:xfrm>
            <a:off x="7024914" y="4452847"/>
            <a:ext cx="4415972" cy="1285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ko-KR" altLang="en-US" dirty="0">
                <a:solidFill>
                  <a:schemeClr val="tx2"/>
                </a:solidFill>
                <a:effectLst/>
                <a:latin typeface=".AppleSystemUIFont"/>
              </a:rPr>
              <a:t>평균 고객이 아닌</a:t>
            </a:r>
            <a:r>
              <a:rPr lang="en-US" altLang="ko-KR" dirty="0">
                <a:solidFill>
                  <a:schemeClr val="tx2"/>
                </a:solidFill>
                <a:effectLst/>
                <a:latin typeface=".AppleSystemUIFont"/>
              </a:rPr>
              <a:t>,</a:t>
            </a:r>
          </a:p>
          <a:p>
            <a:pPr>
              <a:lnSpc>
                <a:spcPct val="150000"/>
              </a:lnSpc>
              <a:buNone/>
            </a:pPr>
            <a:r>
              <a:rPr lang="ko-KR" altLang="en-US" b="1" dirty="0">
                <a:solidFill>
                  <a:schemeClr val="tx2"/>
                </a:solidFill>
                <a:effectLst/>
                <a:latin typeface="Helvetica Neue" panose="02000503000000020004" pitchFamily="2" charset="0"/>
              </a:rPr>
              <a:t>매출을 만들어내는 고객 구조</a:t>
            </a:r>
            <a:r>
              <a:rPr lang="ko-KR" altLang="en-US" dirty="0">
                <a:solidFill>
                  <a:schemeClr val="tx2"/>
                </a:solidFill>
                <a:effectLst/>
                <a:latin typeface="Helvetica Neue" panose="02000503000000020004" pitchFamily="2" charset="0"/>
              </a:rPr>
              <a:t>를 보기 위해</a:t>
            </a:r>
          </a:p>
          <a:p>
            <a:pPr>
              <a:lnSpc>
                <a:spcPct val="150000"/>
              </a:lnSpc>
              <a:buNone/>
            </a:pPr>
            <a:r>
              <a:rPr lang="ko-KR" altLang="en-US" dirty="0">
                <a:solidFill>
                  <a:schemeClr val="tx2"/>
                </a:solidFill>
                <a:effectLst/>
                <a:latin typeface="Helvetica Neue" panose="02000503000000020004" pitchFamily="2" charset="0"/>
              </a:rPr>
              <a:t>분석의 초점을 </a:t>
            </a:r>
            <a:r>
              <a:rPr lang="en" altLang="ko-KR" b="1" dirty="0">
                <a:solidFill>
                  <a:schemeClr val="tx2"/>
                </a:solidFill>
                <a:effectLst/>
                <a:latin typeface="Helvetica Neue" panose="02000503000000020004" pitchFamily="2" charset="0"/>
              </a:rPr>
              <a:t>Revenue </a:t>
            </a:r>
            <a:r>
              <a:rPr lang="ko-KR" altLang="en-US" b="1" dirty="0">
                <a:solidFill>
                  <a:schemeClr val="tx2"/>
                </a:solidFill>
                <a:effectLst/>
                <a:latin typeface="Helvetica Neue" panose="02000503000000020004" pitchFamily="2" charset="0"/>
              </a:rPr>
              <a:t>관점으로 전환</a:t>
            </a:r>
            <a:endParaRPr lang="ko-KR" altLang="en-US" dirty="0">
              <a:solidFill>
                <a:schemeClr val="tx2"/>
              </a:solidFill>
              <a:effectLst/>
              <a:latin typeface="Helvetica Neue" panose="02000503000000020004" pitchFamily="2" charset="0"/>
            </a:endParaRPr>
          </a:p>
        </p:txBody>
      </p:sp>
      <p:cxnSp>
        <p:nvCxnSpPr>
          <p:cNvPr id="17" name="직선 연결선[R] 16">
            <a:extLst>
              <a:ext uri="{FF2B5EF4-FFF2-40B4-BE49-F238E27FC236}">
                <a16:creationId xmlns:a16="http://schemas.microsoft.com/office/drawing/2014/main" id="{3861979A-5D84-7967-A23E-8D27C2C4BD0A}"/>
              </a:ext>
            </a:extLst>
          </p:cNvPr>
          <p:cNvCxnSpPr/>
          <p:nvPr/>
        </p:nvCxnSpPr>
        <p:spPr>
          <a:xfrm>
            <a:off x="7010399" y="4539092"/>
            <a:ext cx="0" cy="1199235"/>
          </a:xfrm>
          <a:prstGeom prst="line">
            <a:avLst/>
          </a:prstGeom>
          <a:ln w="57150">
            <a:solidFill>
              <a:srgbClr val="FFA8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175339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80646C69-9DDE-F222-82CD-F93217BDF4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201" y="2457450"/>
            <a:ext cx="6323365" cy="3910693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D13A2E46-830F-231D-C82B-4C0CEF00A0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19673"/>
            <a:ext cx="10515600" cy="571015"/>
          </a:xfrm>
          <a:solidFill>
            <a:srgbClr val="FFCB3C"/>
          </a:solidFill>
        </p:spPr>
        <p:txBody>
          <a:bodyPr>
            <a:noAutofit/>
          </a:bodyPr>
          <a:lstStyle/>
          <a:p>
            <a:pPr algn="ctr"/>
            <a:r>
              <a:rPr lang="en" altLang="ko-KR" sz="2000" b="1" dirty="0">
                <a:solidFill>
                  <a:schemeClr val="tx2"/>
                </a:solidFill>
              </a:rPr>
              <a:t>Olist </a:t>
            </a:r>
            <a:r>
              <a:rPr lang="ko-KR" altLang="en-US" sz="2000" b="1" dirty="0">
                <a:solidFill>
                  <a:schemeClr val="tx2"/>
                </a:solidFill>
              </a:rPr>
              <a:t>매출은 평균 고객이 아니라</a:t>
            </a:r>
            <a:r>
              <a:rPr lang="en-US" altLang="ko-KR" sz="2000" b="1" dirty="0">
                <a:solidFill>
                  <a:schemeClr val="tx2"/>
                </a:solidFill>
              </a:rPr>
              <a:t>, </a:t>
            </a:r>
            <a:r>
              <a:rPr lang="ko-KR" altLang="en-US" sz="2000" b="1" dirty="0">
                <a:solidFill>
                  <a:schemeClr val="tx2"/>
                </a:solidFill>
              </a:rPr>
              <a:t>소수 고객의 꼬리</a:t>
            </a:r>
            <a:r>
              <a:rPr lang="en-US" altLang="ko-KR" sz="2000" b="1" dirty="0">
                <a:solidFill>
                  <a:schemeClr val="tx2"/>
                </a:solidFill>
              </a:rPr>
              <a:t>(</a:t>
            </a:r>
            <a:r>
              <a:rPr lang="en" altLang="ko-KR" sz="2000" b="1" dirty="0">
                <a:solidFill>
                  <a:schemeClr val="tx2"/>
                </a:solidFill>
              </a:rPr>
              <a:t>tail)</a:t>
            </a:r>
            <a:r>
              <a:rPr lang="ko-KR" altLang="en-US" sz="2000" b="1" dirty="0" err="1">
                <a:solidFill>
                  <a:schemeClr val="tx2"/>
                </a:solidFill>
              </a:rPr>
              <a:t>에</a:t>
            </a:r>
            <a:r>
              <a:rPr lang="ko-KR" altLang="en-US" sz="2000" b="1" dirty="0">
                <a:solidFill>
                  <a:schemeClr val="tx2"/>
                </a:solidFill>
              </a:rPr>
              <a:t> 의해 만들어진다</a:t>
            </a:r>
            <a:endParaRPr kumimoji="1" lang="ko-KR" altLang="en-US" sz="2000" b="1" dirty="0">
              <a:solidFill>
                <a:schemeClr val="tx2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29B7D90-51E6-A391-3E99-6B4D097CC2FF}"/>
              </a:ext>
            </a:extLst>
          </p:cNvPr>
          <p:cNvSpPr txBox="1"/>
          <p:nvPr/>
        </p:nvSpPr>
        <p:spPr>
          <a:xfrm>
            <a:off x="7323566" y="145601"/>
            <a:ext cx="475994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buNone/>
            </a:pPr>
            <a:r>
              <a:rPr lang="en" altLang="ko-KR" sz="1400" dirty="0">
                <a:solidFill>
                  <a:schemeClr val="tx2"/>
                </a:solidFill>
                <a:latin typeface="Noto Sans Syriac SemiBold" panose="020B0502040504020204" pitchFamily="34" charset="0"/>
                <a:cs typeface="Noto Sans Syriac SemiBold" panose="020B0502040504020204" pitchFamily="34" charset="0"/>
              </a:rPr>
              <a:t>PBL 2. </a:t>
            </a:r>
            <a:r>
              <a:rPr lang="ko-KR" altLang="en-US" sz="1400" dirty="0">
                <a:solidFill>
                  <a:schemeClr val="tx2"/>
                </a:solidFill>
                <a:latin typeface="Noto Sans Syriac SemiBold" panose="020B0502040504020204" pitchFamily="34" charset="0"/>
                <a:cs typeface="Noto Sans Syriac SemiBold" panose="020B0502040504020204" pitchFamily="34" charset="0"/>
              </a:rPr>
              <a:t>서비스 분석</a:t>
            </a:r>
            <a:r>
              <a:rPr lang="en-US" altLang="ko-KR" sz="1400" dirty="0">
                <a:solidFill>
                  <a:schemeClr val="tx2"/>
                </a:solidFill>
                <a:latin typeface="Noto Sans Syriac SemiBold" panose="020B0502040504020204" pitchFamily="34" charset="0"/>
                <a:cs typeface="Noto Sans Syriac SemiBold" panose="020B0502040504020204" pitchFamily="34" charset="0"/>
              </a:rPr>
              <a:t>_26.01.26</a:t>
            </a:r>
            <a:endParaRPr lang="ko-KR" altLang="en-US" sz="1400" dirty="0">
              <a:solidFill>
                <a:schemeClr val="tx2"/>
              </a:solidFill>
              <a:latin typeface="Noto Sans Syriac SemiBold" panose="020B0502040504020204" pitchFamily="34" charset="0"/>
              <a:cs typeface="Noto Sans Syriac SemiBold" panose="020B0502040504020204" pitchFamily="34" charset="0"/>
            </a:endParaRPr>
          </a:p>
        </p:txBody>
      </p:sp>
      <p:pic>
        <p:nvPicPr>
          <p:cNvPr id="5" name="그림 4" descr="텍스트, 그래픽, 로고, 그래픽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33DC90D-A1C8-3524-8279-5254BE443B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-175383"/>
            <a:ext cx="1707878" cy="1707878"/>
          </a:xfrm>
          <a:prstGeom prst="rect">
            <a:avLst/>
          </a:prstGeom>
        </p:spPr>
      </p:pic>
      <p:sp>
        <p:nvSpPr>
          <p:cNvPr id="7" name="모서리가 둥근 직사각형 6">
            <a:extLst>
              <a:ext uri="{FF2B5EF4-FFF2-40B4-BE49-F238E27FC236}">
                <a16:creationId xmlns:a16="http://schemas.microsoft.com/office/drawing/2014/main" id="{ECE3069D-BBDC-2546-F415-9F758B8D9725}"/>
              </a:ext>
            </a:extLst>
          </p:cNvPr>
          <p:cNvSpPr/>
          <p:nvPr/>
        </p:nvSpPr>
        <p:spPr>
          <a:xfrm>
            <a:off x="1378131" y="4922640"/>
            <a:ext cx="5929106" cy="979703"/>
          </a:xfrm>
          <a:prstGeom prst="roundRect">
            <a:avLst/>
          </a:prstGeom>
          <a:noFill/>
          <a:ln w="31750">
            <a:solidFill>
              <a:schemeClr val="accent2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BA2E147-722B-CEFC-6E9C-04FA43FB3C7A}"/>
              </a:ext>
            </a:extLst>
          </p:cNvPr>
          <p:cNvSpPr txBox="1"/>
          <p:nvPr/>
        </p:nvSpPr>
        <p:spPr>
          <a:xfrm>
            <a:off x="3363759" y="4922640"/>
            <a:ext cx="24074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>
                <a:solidFill>
                  <a:schemeClr val="accent2"/>
                </a:solidFill>
              </a:rPr>
              <a:t>High</a:t>
            </a:r>
            <a:r>
              <a:rPr kumimoji="1" lang="ko-KR" altLang="en-US" dirty="0">
                <a:solidFill>
                  <a:schemeClr val="accent2"/>
                </a:solidFill>
              </a:rPr>
              <a:t> </a:t>
            </a:r>
            <a:r>
              <a:rPr kumimoji="1" lang="en-US" altLang="ko-KR" dirty="0">
                <a:solidFill>
                  <a:schemeClr val="accent2"/>
                </a:solidFill>
              </a:rPr>
              <a:t>Value</a:t>
            </a:r>
            <a:r>
              <a:rPr kumimoji="1" lang="ko-KR" altLang="en-US" dirty="0">
                <a:solidFill>
                  <a:schemeClr val="accent2"/>
                </a:solidFill>
              </a:rPr>
              <a:t> </a:t>
            </a:r>
            <a:r>
              <a:rPr kumimoji="1" lang="en-US" altLang="ko-KR" dirty="0">
                <a:solidFill>
                  <a:schemeClr val="accent2"/>
                </a:solidFill>
              </a:rPr>
              <a:t>Customer</a:t>
            </a:r>
            <a:endParaRPr kumimoji="1" lang="ko-KR" altLang="en-US" dirty="0">
              <a:solidFill>
                <a:schemeClr val="accent2"/>
              </a:solidFill>
            </a:endParaRPr>
          </a:p>
        </p:txBody>
      </p:sp>
      <p:sp>
        <p:nvSpPr>
          <p:cNvPr id="9" name="오른쪽 화살표[R] 8">
            <a:extLst>
              <a:ext uri="{FF2B5EF4-FFF2-40B4-BE49-F238E27FC236}">
                <a16:creationId xmlns:a16="http://schemas.microsoft.com/office/drawing/2014/main" id="{977CD6CF-2C91-6AF3-0B56-6C02A36E26FD}"/>
              </a:ext>
            </a:extLst>
          </p:cNvPr>
          <p:cNvSpPr/>
          <p:nvPr/>
        </p:nvSpPr>
        <p:spPr>
          <a:xfrm>
            <a:off x="2952550" y="5007305"/>
            <a:ext cx="411209" cy="217669"/>
          </a:xfrm>
          <a:prstGeom prst="right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2D5B80F-F1CD-7B33-544B-94EDD8F89436}"/>
              </a:ext>
            </a:extLst>
          </p:cNvPr>
          <p:cNvSpPr txBox="1"/>
          <p:nvPr/>
        </p:nvSpPr>
        <p:spPr>
          <a:xfrm>
            <a:off x="7490460" y="2457450"/>
            <a:ext cx="4593054" cy="3001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itchFamily="2" charset="2"/>
              <a:buChar char="u"/>
            </a:pPr>
            <a:r>
              <a:rPr lang="en" altLang="ko-KR" sz="2000" b="1" dirty="0">
                <a:solidFill>
                  <a:schemeClr val="tx2"/>
                </a:solidFill>
                <a:effectLst/>
                <a:latin typeface="Helvetica Neue" panose="02000503000000020004" pitchFamily="2" charset="0"/>
              </a:rPr>
              <a:t>High Value Customer </a:t>
            </a:r>
            <a:r>
              <a:rPr lang="ko-KR" altLang="en-US" sz="2000" b="1" dirty="0">
                <a:solidFill>
                  <a:schemeClr val="tx2"/>
                </a:solidFill>
                <a:effectLst/>
                <a:latin typeface="Helvetica Neue" panose="02000503000000020004" pitchFamily="2" charset="0"/>
              </a:rPr>
              <a:t>정의</a:t>
            </a:r>
            <a:endParaRPr lang="ko-KR" altLang="en-US" sz="2000" dirty="0">
              <a:solidFill>
                <a:schemeClr val="tx2"/>
              </a:solidFill>
              <a:effectLst/>
              <a:latin typeface="Helvetica Neue" panose="02000503000000020004" pitchFamily="2" charset="0"/>
            </a:endParaRPr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ü"/>
            </a:pPr>
            <a:r>
              <a:rPr lang="ko-KR" altLang="en-US" b="1" dirty="0">
                <a:solidFill>
                  <a:schemeClr val="tx2"/>
                </a:solidFill>
                <a:effectLst/>
                <a:latin typeface=".AppleSystemUIFont"/>
              </a:rPr>
              <a:t>기준 </a:t>
            </a:r>
            <a:r>
              <a:rPr lang="en-US" altLang="ko-KR" b="1" dirty="0">
                <a:solidFill>
                  <a:schemeClr val="tx2"/>
                </a:solidFill>
                <a:effectLst/>
                <a:latin typeface=".AppleSystemUIFont"/>
              </a:rPr>
              <a:t>: </a:t>
            </a:r>
            <a:r>
              <a:rPr lang="ko-KR" altLang="en-US" b="1" dirty="0">
                <a:solidFill>
                  <a:srgbClr val="4C6B03"/>
                </a:solidFill>
                <a:effectLst/>
                <a:latin typeface=".AppleSystemUIFont"/>
              </a:rPr>
              <a:t>고객별 </a:t>
            </a:r>
            <a:r>
              <a:rPr lang="en" altLang="ko-KR" b="1" dirty="0">
                <a:solidFill>
                  <a:srgbClr val="4C6B03"/>
                </a:solidFill>
                <a:effectLst/>
                <a:latin typeface=".AppleSystemUIFont"/>
              </a:rPr>
              <a:t>LTV </a:t>
            </a:r>
            <a:r>
              <a:rPr lang="ko-KR" altLang="en-US" b="1" dirty="0">
                <a:solidFill>
                  <a:srgbClr val="4C6B03"/>
                </a:solidFill>
                <a:effectLst/>
                <a:latin typeface=".AppleSystemUIFont"/>
              </a:rPr>
              <a:t>상위 </a:t>
            </a:r>
            <a:r>
              <a:rPr lang="en-US" altLang="ko-KR" b="1" dirty="0">
                <a:solidFill>
                  <a:srgbClr val="4C6B03"/>
                </a:solidFill>
                <a:effectLst/>
                <a:latin typeface=".AppleSystemUIFont"/>
              </a:rPr>
              <a:t>5%</a:t>
            </a:r>
            <a:endParaRPr lang="ko-KR" altLang="en-US" b="1" dirty="0">
              <a:solidFill>
                <a:srgbClr val="4C6B03"/>
              </a:solidFill>
              <a:effectLst/>
              <a:latin typeface=".AppleSystemUIFont"/>
            </a:endParaRPr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ü"/>
            </a:pPr>
            <a:r>
              <a:rPr lang="ko-KR" altLang="en-US" b="1" dirty="0">
                <a:solidFill>
                  <a:schemeClr val="tx2"/>
                </a:solidFill>
                <a:effectLst/>
                <a:latin typeface=".AppleSystemUIFont"/>
              </a:rPr>
              <a:t>근거 </a:t>
            </a:r>
            <a:r>
              <a:rPr lang="en-US" altLang="ko-KR" b="1" dirty="0">
                <a:solidFill>
                  <a:schemeClr val="tx2"/>
                </a:solidFill>
                <a:effectLst/>
                <a:latin typeface=".AppleSystemUIFont"/>
              </a:rPr>
              <a:t>: </a:t>
            </a:r>
            <a:r>
              <a:rPr lang="ko-KR" altLang="en-US" b="1" dirty="0">
                <a:solidFill>
                  <a:schemeClr val="tx2"/>
                </a:solidFill>
                <a:effectLst/>
                <a:latin typeface=".AppleSystemUIFont"/>
              </a:rPr>
              <a:t> </a:t>
            </a:r>
            <a:r>
              <a:rPr lang="ko-KR" altLang="en-US" b="1" dirty="0">
                <a:solidFill>
                  <a:srgbClr val="4C6B03"/>
                </a:solidFill>
                <a:effectLst/>
                <a:latin typeface=".AppleSystemUIFont"/>
              </a:rPr>
              <a:t>전체 고객의 </a:t>
            </a:r>
            <a:r>
              <a:rPr lang="en-US" altLang="ko-KR" b="1" dirty="0">
                <a:solidFill>
                  <a:srgbClr val="4C6B03"/>
                </a:solidFill>
                <a:effectLst/>
                <a:latin typeface=".AppleSystemUIFont"/>
              </a:rPr>
              <a:t>5%</a:t>
            </a:r>
            <a:r>
              <a:rPr lang="ko-KR" altLang="en-US" b="1" dirty="0">
                <a:solidFill>
                  <a:srgbClr val="4C6B03"/>
                </a:solidFill>
                <a:effectLst/>
                <a:latin typeface=".AppleSystemUIFont"/>
              </a:rPr>
              <a:t>가 </a:t>
            </a:r>
            <a:endParaRPr lang="en-US" altLang="ko-KR" b="1" dirty="0">
              <a:solidFill>
                <a:srgbClr val="4C6B03"/>
              </a:solidFill>
              <a:effectLst/>
              <a:latin typeface=".AppleSystemUIFont"/>
            </a:endParaRPr>
          </a:p>
          <a:p>
            <a:pPr>
              <a:lnSpc>
                <a:spcPct val="150000"/>
              </a:lnSpc>
            </a:pPr>
            <a:r>
              <a:rPr lang="ko-KR" altLang="en-US" b="1" dirty="0">
                <a:solidFill>
                  <a:schemeClr val="tx2"/>
                </a:solidFill>
                <a:latin typeface=".AppleSystemUIFont"/>
              </a:rPr>
              <a:t>                  </a:t>
            </a:r>
            <a:r>
              <a:rPr lang="ko-KR" altLang="en-US" b="1" dirty="0">
                <a:solidFill>
                  <a:srgbClr val="4C6B03"/>
                </a:solidFill>
                <a:effectLst/>
                <a:latin typeface=".AppleSystemUIFont"/>
              </a:rPr>
              <a:t>매출의 </a:t>
            </a:r>
            <a:r>
              <a:rPr lang="en-US" altLang="ko-KR" b="1" dirty="0">
                <a:solidFill>
                  <a:srgbClr val="4C6B03"/>
                </a:solidFill>
                <a:effectLst/>
                <a:latin typeface=".AppleSystemUIFont"/>
              </a:rPr>
              <a:t>26.8%</a:t>
            </a:r>
            <a:r>
              <a:rPr lang="ko-KR" altLang="en-US" b="1" dirty="0">
                <a:solidFill>
                  <a:srgbClr val="4C6B03"/>
                </a:solidFill>
                <a:effectLst/>
                <a:latin typeface=".AppleSystemUIFont"/>
              </a:rPr>
              <a:t> 차지</a:t>
            </a:r>
            <a:endParaRPr lang="en-US" altLang="ko-KR" sz="1600" b="1" dirty="0">
              <a:solidFill>
                <a:srgbClr val="4C6B03"/>
              </a:solidFill>
              <a:latin typeface=".AppleSystemUIFont"/>
            </a:endParaRPr>
          </a:p>
          <a:p>
            <a:pPr>
              <a:lnSpc>
                <a:spcPct val="150000"/>
              </a:lnSpc>
            </a:pPr>
            <a:endParaRPr lang="ko-KR" altLang="en-US" sz="1600" b="1" dirty="0">
              <a:solidFill>
                <a:srgbClr val="0E0E0E"/>
              </a:solidFill>
              <a:effectLst/>
              <a:latin typeface=".AppleSystemUIFont"/>
            </a:endParaRPr>
          </a:p>
          <a:p>
            <a:pPr marL="403225" indent="-388938">
              <a:lnSpc>
                <a:spcPct val="150000"/>
              </a:lnSpc>
            </a:pPr>
            <a:r>
              <a:rPr lang="en-US" altLang="ko-KR" sz="2000" dirty="0">
                <a:solidFill>
                  <a:srgbClr val="C00000"/>
                </a:solidFill>
                <a:latin typeface=".AppleSystemUIFont"/>
                <a:sym typeface="Wingdings" pitchFamily="2" charset="2"/>
              </a:rPr>
              <a:t></a:t>
            </a:r>
            <a:r>
              <a:rPr lang="ko-KR" altLang="en-US" sz="2000" dirty="0">
                <a:solidFill>
                  <a:srgbClr val="C00000"/>
                </a:solidFill>
                <a:latin typeface=".AppleSystemUIFont"/>
                <a:sym typeface="Wingdings" pitchFamily="2" charset="2"/>
              </a:rPr>
              <a:t> </a:t>
            </a:r>
            <a:r>
              <a:rPr lang="ko-KR" altLang="en-US" sz="2000" dirty="0">
                <a:solidFill>
                  <a:srgbClr val="0E0E0E"/>
                </a:solidFill>
                <a:effectLst/>
                <a:latin typeface=".AppleSystemUIFont"/>
              </a:rPr>
              <a:t> </a:t>
            </a:r>
            <a:r>
              <a:rPr lang="en-US" altLang="ko-KR" sz="2000" dirty="0">
                <a:solidFill>
                  <a:srgbClr val="C00000"/>
                </a:solidFill>
                <a:highlight>
                  <a:srgbClr val="FFFF00"/>
                </a:highlight>
                <a:latin typeface=".AppleSystemUIFont"/>
              </a:rPr>
              <a:t>High Value Customer</a:t>
            </a:r>
            <a:r>
              <a:rPr lang="ko-KR" altLang="en-US" sz="2000" dirty="0">
                <a:solidFill>
                  <a:srgbClr val="C00000"/>
                </a:solidFill>
                <a:highlight>
                  <a:srgbClr val="FFFF00"/>
                </a:highlight>
                <a:latin typeface=".AppleSystemUIFont"/>
              </a:rPr>
              <a:t> </a:t>
            </a:r>
            <a:r>
              <a:rPr lang="en-US" altLang="ko-KR" dirty="0">
                <a:solidFill>
                  <a:srgbClr val="C00000"/>
                </a:solidFill>
                <a:highlight>
                  <a:srgbClr val="FFFF00"/>
                </a:highlight>
                <a:latin typeface=".AppleSystemUIFont"/>
              </a:rPr>
              <a:t>(=</a:t>
            </a:r>
            <a:r>
              <a:rPr lang="ko-KR" altLang="en-US" dirty="0" err="1">
                <a:solidFill>
                  <a:srgbClr val="C00000"/>
                </a:solidFill>
                <a:highlight>
                  <a:srgbClr val="FFFF00"/>
                </a:highlight>
                <a:latin typeface=".AppleSystemUIFont"/>
              </a:rPr>
              <a:t>고가치</a:t>
            </a:r>
            <a:r>
              <a:rPr lang="ko-KR" altLang="en-US" dirty="0">
                <a:solidFill>
                  <a:srgbClr val="C00000"/>
                </a:solidFill>
                <a:highlight>
                  <a:srgbClr val="FFFF00"/>
                </a:highlight>
                <a:latin typeface=".AppleSystemUIFont"/>
              </a:rPr>
              <a:t> </a:t>
            </a:r>
            <a:r>
              <a:rPr lang="ko-KR" altLang="en-US" dirty="0" err="1">
                <a:solidFill>
                  <a:srgbClr val="C00000"/>
                </a:solidFill>
                <a:effectLst/>
                <a:highlight>
                  <a:srgbClr val="FFFF00"/>
                </a:highlight>
                <a:latin typeface=".AppleSystemUIFont"/>
              </a:rPr>
              <a:t>고객군</a:t>
            </a:r>
            <a:r>
              <a:rPr lang="en-US" altLang="ko-KR" dirty="0">
                <a:solidFill>
                  <a:srgbClr val="C00000"/>
                </a:solidFill>
                <a:effectLst/>
                <a:highlight>
                  <a:srgbClr val="FFFF00"/>
                </a:highlight>
                <a:latin typeface=".AppleSystemUIFont"/>
              </a:rPr>
              <a:t>)</a:t>
            </a:r>
            <a:r>
              <a:rPr lang="ko-KR" altLang="en-US" dirty="0">
                <a:solidFill>
                  <a:srgbClr val="C00000"/>
                </a:solidFill>
                <a:effectLst/>
                <a:highlight>
                  <a:srgbClr val="FFFF00"/>
                </a:highlight>
                <a:latin typeface=".AppleSystemUIFont"/>
              </a:rPr>
              <a:t> 중심으로 이후 분석 진행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8E8FF15-E7DC-C478-2D9E-B989BB293ACD}"/>
              </a:ext>
            </a:extLst>
          </p:cNvPr>
          <p:cNvSpPr txBox="1"/>
          <p:nvPr/>
        </p:nvSpPr>
        <p:spPr>
          <a:xfrm>
            <a:off x="1394460" y="1924981"/>
            <a:ext cx="547079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1" dirty="0">
                <a:solidFill>
                  <a:schemeClr val="tx2"/>
                </a:solidFill>
              </a:rPr>
              <a:t>&lt;</a:t>
            </a:r>
            <a:r>
              <a:rPr lang="ko-KR" altLang="en-US" sz="1600" b="1" dirty="0">
                <a:solidFill>
                  <a:schemeClr val="tx2"/>
                </a:solidFill>
              </a:rPr>
              <a:t> 누적 고객 비율 대비 누적 매출 비율 </a:t>
            </a:r>
            <a:r>
              <a:rPr lang="en-US" altLang="ko-KR" sz="1600" b="1" dirty="0">
                <a:solidFill>
                  <a:schemeClr val="tx2"/>
                </a:solidFill>
              </a:rPr>
              <a:t>(</a:t>
            </a:r>
            <a:r>
              <a:rPr lang="en" altLang="ko-KR" sz="1600" b="1" dirty="0">
                <a:solidFill>
                  <a:schemeClr val="tx2"/>
                </a:solidFill>
              </a:rPr>
              <a:t>Pareto Curve)</a:t>
            </a:r>
            <a:r>
              <a:rPr lang="en-US" altLang="ko-KR" sz="1600" b="1" dirty="0">
                <a:solidFill>
                  <a:schemeClr val="tx2"/>
                </a:solidFill>
              </a:rPr>
              <a:t>&gt;</a:t>
            </a:r>
            <a:r>
              <a:rPr lang="ko-KR" altLang="en-US" sz="1600" b="1" dirty="0">
                <a:solidFill>
                  <a:schemeClr val="tx2"/>
                </a:solidFill>
              </a:rPr>
              <a:t> </a:t>
            </a:r>
            <a:endParaRPr lang="en-US" altLang="ko-KR" sz="1600" b="1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368917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1294E95-2F78-7EE2-607B-E206210A59DE}"/>
              </a:ext>
            </a:extLst>
          </p:cNvPr>
          <p:cNvSpPr txBox="1"/>
          <p:nvPr/>
        </p:nvSpPr>
        <p:spPr>
          <a:xfrm>
            <a:off x="7323566" y="145601"/>
            <a:ext cx="475994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buNone/>
            </a:pPr>
            <a:r>
              <a:rPr lang="en" altLang="ko-KR" sz="1400" dirty="0">
                <a:solidFill>
                  <a:schemeClr val="tx2"/>
                </a:solidFill>
                <a:latin typeface="Noto Sans Syriac SemiBold" panose="020B0502040504020204" pitchFamily="34" charset="0"/>
                <a:cs typeface="Noto Sans Syriac SemiBold" panose="020B0502040504020204" pitchFamily="34" charset="0"/>
              </a:rPr>
              <a:t>PBL 2. </a:t>
            </a:r>
            <a:r>
              <a:rPr lang="ko-KR" altLang="en-US" sz="1400" dirty="0">
                <a:solidFill>
                  <a:schemeClr val="tx2"/>
                </a:solidFill>
                <a:latin typeface="Noto Sans Syriac SemiBold" panose="020B0502040504020204" pitchFamily="34" charset="0"/>
                <a:cs typeface="Noto Sans Syriac SemiBold" panose="020B0502040504020204" pitchFamily="34" charset="0"/>
              </a:rPr>
              <a:t>서비스 분석</a:t>
            </a:r>
            <a:r>
              <a:rPr lang="en-US" altLang="ko-KR" sz="1400" dirty="0">
                <a:solidFill>
                  <a:schemeClr val="tx2"/>
                </a:solidFill>
                <a:latin typeface="Noto Sans Syriac SemiBold" panose="020B0502040504020204" pitchFamily="34" charset="0"/>
                <a:cs typeface="Noto Sans Syriac SemiBold" panose="020B0502040504020204" pitchFamily="34" charset="0"/>
              </a:rPr>
              <a:t>_26.01.26</a:t>
            </a:r>
            <a:endParaRPr lang="ko-KR" altLang="en-US" sz="1400" dirty="0">
              <a:solidFill>
                <a:schemeClr val="tx2"/>
              </a:solidFill>
              <a:latin typeface="Noto Sans Syriac SemiBold" panose="020B0502040504020204" pitchFamily="34" charset="0"/>
              <a:cs typeface="Noto Sans Syriac SemiBold" panose="020B0502040504020204" pitchFamily="34" charset="0"/>
            </a:endParaRPr>
          </a:p>
        </p:txBody>
      </p:sp>
      <p:pic>
        <p:nvPicPr>
          <p:cNvPr id="5" name="그림 4" descr="텍스트, 그래픽, 로고, 그래픽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62D8B25-E8F1-D00C-F0B1-D21688BAF4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75383"/>
            <a:ext cx="1707878" cy="1707878"/>
          </a:xfrm>
          <a:prstGeom prst="rect">
            <a:avLst/>
          </a:prstGeom>
        </p:spPr>
      </p:pic>
      <p:sp>
        <p:nvSpPr>
          <p:cNvPr id="6" name="제목 1">
            <a:extLst>
              <a:ext uri="{FF2B5EF4-FFF2-40B4-BE49-F238E27FC236}">
                <a16:creationId xmlns:a16="http://schemas.microsoft.com/office/drawing/2014/main" id="{8F82E0CA-CE1E-E791-18F1-A591FBAD9D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19673"/>
            <a:ext cx="10515600" cy="571015"/>
          </a:xfrm>
          <a:solidFill>
            <a:srgbClr val="FFCB3C"/>
          </a:solidFill>
        </p:spPr>
        <p:txBody>
          <a:bodyPr>
            <a:noAutofit/>
          </a:bodyPr>
          <a:lstStyle/>
          <a:p>
            <a:pPr algn="ctr"/>
            <a:r>
              <a:rPr lang="ko-KR" altLang="en-US" sz="2000" b="1" dirty="0">
                <a:solidFill>
                  <a:schemeClr val="tx2"/>
                </a:solidFill>
              </a:rPr>
              <a:t>어떤 고객 </a:t>
            </a:r>
            <a:r>
              <a:rPr lang="en-US" altLang="ko-KR" sz="2000" b="1" dirty="0">
                <a:solidFill>
                  <a:schemeClr val="tx2"/>
                </a:solidFill>
              </a:rPr>
              <a:t>1%</a:t>
            </a:r>
            <a:r>
              <a:rPr lang="ko-KR" altLang="en-US" sz="2000" b="1" dirty="0" err="1">
                <a:solidFill>
                  <a:schemeClr val="tx2"/>
                </a:solidFill>
              </a:rPr>
              <a:t>를</a:t>
            </a:r>
            <a:r>
              <a:rPr lang="ko-KR" altLang="en-US" sz="2000" b="1" dirty="0">
                <a:solidFill>
                  <a:schemeClr val="tx2"/>
                </a:solidFill>
              </a:rPr>
              <a:t> 늘리느냐가 매출효율을 </a:t>
            </a:r>
            <a:r>
              <a:rPr lang="en-US" altLang="ko-KR" sz="2000" b="1" dirty="0">
                <a:solidFill>
                  <a:schemeClr val="tx2"/>
                </a:solidFill>
              </a:rPr>
              <a:t>5</a:t>
            </a:r>
            <a:r>
              <a:rPr lang="ko-KR" altLang="en-US" sz="2000" b="1" dirty="0">
                <a:solidFill>
                  <a:schemeClr val="tx2"/>
                </a:solidFill>
              </a:rPr>
              <a:t>배 이상 바꾼다 </a:t>
            </a:r>
            <a:endParaRPr kumimoji="1" lang="ko-KR" altLang="en-US" sz="2000" dirty="0">
              <a:solidFill>
                <a:schemeClr val="tx2"/>
              </a:solidFill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44EB0868-ADBF-D133-7AD9-29983310B9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7260" y="2356985"/>
            <a:ext cx="6027386" cy="355806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56A53BC-2747-0779-609C-83DD3E5232BB}"/>
              </a:ext>
            </a:extLst>
          </p:cNvPr>
          <p:cNvSpPr txBox="1"/>
          <p:nvPr/>
        </p:nvSpPr>
        <p:spPr>
          <a:xfrm>
            <a:off x="4143051" y="2574799"/>
            <a:ext cx="279114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7200" dirty="0">
                <a:solidFill>
                  <a:schemeClr val="accent2"/>
                </a:solidFill>
              </a:rPr>
              <a:t>5.35</a:t>
            </a:r>
            <a:r>
              <a:rPr kumimoji="1" lang="ko-KR" altLang="en-US" sz="7200" dirty="0">
                <a:solidFill>
                  <a:schemeClr val="accent2"/>
                </a:solidFill>
              </a:rPr>
              <a:t> </a:t>
            </a:r>
            <a:r>
              <a:rPr kumimoji="1" lang="en-US" altLang="ko-KR" sz="7200" dirty="0">
                <a:solidFill>
                  <a:schemeClr val="accent2"/>
                </a:solidFill>
              </a:rPr>
              <a:t>X</a:t>
            </a:r>
            <a:endParaRPr kumimoji="1" lang="ko-KR" altLang="en-US" sz="7200" dirty="0">
              <a:solidFill>
                <a:schemeClr val="accent2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71EAC69-3C7D-6F9C-97C8-1ED4E7AC45CA}"/>
              </a:ext>
            </a:extLst>
          </p:cNvPr>
          <p:cNvSpPr txBox="1"/>
          <p:nvPr/>
        </p:nvSpPr>
        <p:spPr>
          <a:xfrm>
            <a:off x="7481132" y="2356983"/>
            <a:ext cx="4444816" cy="14181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ko-KR" altLang="en-US" sz="2000" b="1" dirty="0">
                <a:solidFill>
                  <a:schemeClr val="tx2"/>
                </a:solidFill>
                <a:effectLst/>
                <a:latin typeface="Helvetica Neue" panose="02000503000000020004" pitchFamily="2" charset="0"/>
              </a:rPr>
              <a:t>고가치 고객 </a:t>
            </a:r>
            <a:r>
              <a:rPr lang="en-US" altLang="ko-KR" sz="2000" b="1" dirty="0">
                <a:solidFill>
                  <a:schemeClr val="tx2"/>
                </a:solidFill>
                <a:effectLst/>
                <a:latin typeface="Helvetica Neue" panose="02000503000000020004" pitchFamily="2" charset="0"/>
              </a:rPr>
              <a:t>1%</a:t>
            </a:r>
            <a:r>
              <a:rPr lang="ko-KR" altLang="en-US" sz="2000" b="1" dirty="0">
                <a:solidFill>
                  <a:schemeClr val="tx2"/>
                </a:solidFill>
                <a:effectLst/>
                <a:latin typeface="Helvetica Neue" panose="02000503000000020004" pitchFamily="2" charset="0"/>
              </a:rPr>
              <a:t>는</a:t>
            </a:r>
            <a:endParaRPr lang="en-US" altLang="ko-KR" sz="2000" dirty="0">
              <a:solidFill>
                <a:schemeClr val="tx2"/>
              </a:solidFill>
              <a:latin typeface="Helvetica Neue" panose="02000503000000020004" pitchFamily="2" charset="0"/>
            </a:endParaRPr>
          </a:p>
          <a:p>
            <a:pPr>
              <a:lnSpc>
                <a:spcPct val="150000"/>
              </a:lnSpc>
              <a:buNone/>
            </a:pPr>
            <a:r>
              <a:rPr lang="ko-KR" altLang="en-US" sz="2000" b="1" dirty="0">
                <a:solidFill>
                  <a:schemeClr val="tx2"/>
                </a:solidFill>
                <a:latin typeface="Helvetica Neue" panose="02000503000000020004" pitchFamily="2" charset="0"/>
              </a:rPr>
              <a:t>전체 고객 평균 대비 </a:t>
            </a:r>
            <a:endParaRPr lang="en-US" altLang="ko-KR" sz="2000" b="1" dirty="0">
              <a:solidFill>
                <a:schemeClr val="tx2"/>
              </a:solidFill>
              <a:latin typeface="Helvetica Neue" panose="02000503000000020004" pitchFamily="2" charset="0"/>
            </a:endParaRPr>
          </a:p>
          <a:p>
            <a:pPr>
              <a:lnSpc>
                <a:spcPct val="150000"/>
              </a:lnSpc>
              <a:buNone/>
            </a:pPr>
            <a:r>
              <a:rPr lang="ko-KR" altLang="en-US" sz="2000" b="1" dirty="0">
                <a:solidFill>
                  <a:schemeClr val="tx2"/>
                </a:solidFill>
                <a:effectLst/>
                <a:latin typeface="Helvetica Neue" panose="02000503000000020004" pitchFamily="2" charset="0"/>
              </a:rPr>
              <a:t>약 </a:t>
            </a:r>
            <a:r>
              <a:rPr lang="en-US" altLang="ko-KR" sz="2000" b="1" dirty="0">
                <a:solidFill>
                  <a:schemeClr val="tx2"/>
                </a:solidFill>
                <a:effectLst/>
                <a:latin typeface="Helvetica Neue" panose="02000503000000020004" pitchFamily="2" charset="0"/>
              </a:rPr>
              <a:t>5.35</a:t>
            </a:r>
            <a:r>
              <a:rPr lang="ko-KR" altLang="en-US" sz="2000" b="1" dirty="0">
                <a:solidFill>
                  <a:schemeClr val="tx2"/>
                </a:solidFill>
                <a:effectLst/>
                <a:latin typeface="Helvetica Neue" panose="02000503000000020004" pitchFamily="2" charset="0"/>
              </a:rPr>
              <a:t>배 높은 매출 기여도를 보임</a:t>
            </a:r>
            <a:endParaRPr lang="ko-KR" altLang="en-US" sz="2000" dirty="0">
              <a:solidFill>
                <a:schemeClr val="tx2"/>
              </a:solidFill>
              <a:effectLst/>
              <a:latin typeface="Helvetica Neue" panose="02000503000000020004" pitchFamily="2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0E8D16B-05D7-DAB9-9131-7B4E9AFF5EA9}"/>
              </a:ext>
            </a:extLst>
          </p:cNvPr>
          <p:cNvSpPr txBox="1"/>
          <p:nvPr/>
        </p:nvSpPr>
        <p:spPr>
          <a:xfrm>
            <a:off x="1095051" y="5904755"/>
            <a:ext cx="6096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ko-KR" altLang="en-US" sz="1200" dirty="0">
              <a:solidFill>
                <a:srgbClr val="4C6B03"/>
              </a:solidFill>
            </a:endParaRPr>
          </a:p>
          <a:p>
            <a:r>
              <a:rPr lang="ko-KR" altLang="en-US" sz="1400" dirty="0">
                <a:solidFill>
                  <a:srgbClr val="4C6B03"/>
                </a:solidFill>
              </a:rPr>
              <a:t>전체 고객 </a:t>
            </a:r>
            <a:r>
              <a:rPr lang="en-US" altLang="ko-KR" sz="1400" dirty="0">
                <a:solidFill>
                  <a:srgbClr val="4C6B03"/>
                </a:solidFill>
              </a:rPr>
              <a:t>= </a:t>
            </a:r>
            <a:r>
              <a:rPr lang="ko-KR" altLang="en-US" sz="1400" dirty="0" err="1">
                <a:solidFill>
                  <a:srgbClr val="4C6B03"/>
                </a:solidFill>
              </a:rPr>
              <a:t>기준값</a:t>
            </a:r>
            <a:r>
              <a:rPr lang="ko-KR" altLang="en-US" sz="1400" dirty="0">
                <a:solidFill>
                  <a:srgbClr val="4C6B03"/>
                </a:solidFill>
              </a:rPr>
              <a:t> </a:t>
            </a:r>
            <a:r>
              <a:rPr lang="en-US" altLang="ko-KR" sz="1400" dirty="0">
                <a:solidFill>
                  <a:srgbClr val="4C6B03"/>
                </a:solidFill>
              </a:rPr>
              <a:t>1.0</a:t>
            </a:r>
          </a:p>
          <a:p>
            <a:r>
              <a:rPr lang="en" altLang="ko-KR" sz="1400" dirty="0">
                <a:solidFill>
                  <a:srgbClr val="4C6B03"/>
                </a:solidFill>
              </a:rPr>
              <a:t>Top 5% </a:t>
            </a:r>
            <a:r>
              <a:rPr lang="ko-KR" altLang="en-US" sz="1400" dirty="0">
                <a:solidFill>
                  <a:srgbClr val="4C6B03"/>
                </a:solidFill>
              </a:rPr>
              <a:t>고객 매출 비중</a:t>
            </a:r>
            <a:r>
              <a:rPr lang="en-US" altLang="ko-KR" sz="1400" dirty="0">
                <a:solidFill>
                  <a:srgbClr val="4C6B03"/>
                </a:solidFill>
              </a:rPr>
              <a:t>(26.73%) ÷ </a:t>
            </a:r>
            <a:r>
              <a:rPr lang="ko-KR" altLang="en-US" sz="1400" dirty="0">
                <a:solidFill>
                  <a:srgbClr val="4C6B03"/>
                </a:solidFill>
              </a:rPr>
              <a:t>고객 비중</a:t>
            </a:r>
            <a:r>
              <a:rPr lang="en-US" altLang="ko-KR" sz="1400" dirty="0">
                <a:solidFill>
                  <a:srgbClr val="4C6B03"/>
                </a:solidFill>
              </a:rPr>
              <a:t>(5%)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D3E3989-C0E2-F3BF-1E03-74B5EA4370EB}"/>
              </a:ext>
            </a:extLst>
          </p:cNvPr>
          <p:cNvSpPr txBox="1"/>
          <p:nvPr/>
        </p:nvSpPr>
        <p:spPr>
          <a:xfrm>
            <a:off x="7402349" y="4115765"/>
            <a:ext cx="4602381" cy="13314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solidFill>
                  <a:schemeClr val="tx2"/>
                </a:solidFill>
                <a:latin typeface=".AppleSystemUIFont"/>
              </a:rPr>
              <a:t>✅  </a:t>
            </a:r>
            <a:r>
              <a:rPr lang="ko-KR" altLang="en-US" sz="2000" b="1" dirty="0">
                <a:solidFill>
                  <a:schemeClr val="tx2"/>
                </a:solidFill>
              </a:rPr>
              <a:t>핵심 질문 도출</a:t>
            </a:r>
            <a:endParaRPr lang="ko-KR" altLang="en-US" sz="2000" dirty="0">
              <a:solidFill>
                <a:schemeClr val="tx2"/>
              </a:solidFill>
            </a:endParaRP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à"/>
            </a:pPr>
            <a:r>
              <a:rPr lang="ko-KR" altLang="en-US" dirty="0">
                <a:solidFill>
                  <a:srgbClr val="C00000"/>
                </a:solidFill>
                <a:highlight>
                  <a:srgbClr val="FFFF00"/>
                </a:highlight>
              </a:rPr>
              <a:t>우리가 늘려야 할  </a:t>
            </a:r>
            <a:r>
              <a:rPr lang="en-US" altLang="ko-KR" dirty="0">
                <a:solidFill>
                  <a:srgbClr val="C00000"/>
                </a:solidFill>
                <a:highlight>
                  <a:srgbClr val="FFFF00"/>
                </a:highlight>
              </a:rPr>
              <a:t>1%</a:t>
            </a:r>
            <a:r>
              <a:rPr lang="ko-KR" altLang="en-US" dirty="0">
                <a:solidFill>
                  <a:srgbClr val="C00000"/>
                </a:solidFill>
                <a:highlight>
                  <a:srgbClr val="FFFF00"/>
                </a:highlight>
              </a:rPr>
              <a:t>의 </a:t>
            </a:r>
            <a:r>
              <a:rPr lang="ko-KR" altLang="en-US" dirty="0" err="1">
                <a:solidFill>
                  <a:srgbClr val="C00000"/>
                </a:solidFill>
                <a:highlight>
                  <a:srgbClr val="FFFF00"/>
                </a:highlight>
              </a:rPr>
              <a:t>고가치</a:t>
            </a:r>
            <a:r>
              <a:rPr lang="ko-KR" altLang="en-US" dirty="0">
                <a:solidFill>
                  <a:srgbClr val="C00000"/>
                </a:solidFill>
                <a:highlight>
                  <a:srgbClr val="FFFF00"/>
                </a:highlight>
              </a:rPr>
              <a:t> 고객은 과연 어떤 사람들인가</a:t>
            </a:r>
            <a:r>
              <a:rPr lang="en-US" altLang="ko-KR" dirty="0">
                <a:solidFill>
                  <a:srgbClr val="C00000"/>
                </a:solidFill>
                <a:highlight>
                  <a:srgbClr val="FFFF00"/>
                </a:highlight>
              </a:rPr>
              <a:t>?</a:t>
            </a:r>
            <a:r>
              <a:rPr lang="ko-KR" altLang="en-US" dirty="0">
                <a:solidFill>
                  <a:srgbClr val="C00000"/>
                </a:solidFill>
                <a:highlight>
                  <a:srgbClr val="FFFF00"/>
                </a:highlight>
              </a:rPr>
              <a:t>   </a:t>
            </a:r>
          </a:p>
        </p:txBody>
      </p:sp>
      <p:cxnSp>
        <p:nvCxnSpPr>
          <p:cNvPr id="17" name="직선 연결선[R] 16">
            <a:extLst>
              <a:ext uri="{FF2B5EF4-FFF2-40B4-BE49-F238E27FC236}">
                <a16:creationId xmlns:a16="http://schemas.microsoft.com/office/drawing/2014/main" id="{FB70D351-DD8B-C0E8-391B-DC0D576FF693}"/>
              </a:ext>
            </a:extLst>
          </p:cNvPr>
          <p:cNvCxnSpPr>
            <a:cxnSpLocks/>
          </p:cNvCxnSpPr>
          <p:nvPr/>
        </p:nvCxnSpPr>
        <p:spPr>
          <a:xfrm>
            <a:off x="968827" y="6045200"/>
            <a:ext cx="0" cy="567441"/>
          </a:xfrm>
          <a:prstGeom prst="line">
            <a:avLst/>
          </a:prstGeom>
          <a:ln w="38100">
            <a:solidFill>
              <a:srgbClr val="4C6B0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75636BE9-5DC2-3CE4-14F5-750A4250274B}"/>
              </a:ext>
            </a:extLst>
          </p:cNvPr>
          <p:cNvSpPr txBox="1"/>
          <p:nvPr/>
        </p:nvSpPr>
        <p:spPr>
          <a:xfrm>
            <a:off x="858747" y="1861332"/>
            <a:ext cx="642540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1" dirty="0">
                <a:solidFill>
                  <a:schemeClr val="tx2"/>
                </a:solidFill>
              </a:rPr>
              <a:t>&lt;</a:t>
            </a:r>
            <a:r>
              <a:rPr lang="ko-KR" altLang="en-US" sz="1600" b="1" dirty="0">
                <a:solidFill>
                  <a:schemeClr val="tx2"/>
                </a:solidFill>
              </a:rPr>
              <a:t> 고객 </a:t>
            </a:r>
            <a:r>
              <a:rPr lang="en-US" altLang="ko-KR" sz="1600" b="1" dirty="0">
                <a:solidFill>
                  <a:schemeClr val="tx2"/>
                </a:solidFill>
              </a:rPr>
              <a:t>1%</a:t>
            </a:r>
            <a:r>
              <a:rPr lang="ko-KR" altLang="en-US" sz="1600" b="1" dirty="0">
                <a:solidFill>
                  <a:schemeClr val="tx2"/>
                </a:solidFill>
              </a:rPr>
              <a:t> 증가 시 매출 기여도 비교 </a:t>
            </a:r>
            <a:r>
              <a:rPr lang="en-US" altLang="ko-KR" sz="1600" b="1" dirty="0">
                <a:solidFill>
                  <a:schemeClr val="tx2"/>
                </a:solidFill>
              </a:rPr>
              <a:t>(Top 5% </a:t>
            </a:r>
            <a:r>
              <a:rPr lang="ko-KR" altLang="en-US" sz="1600" b="1" dirty="0">
                <a:solidFill>
                  <a:schemeClr val="tx2"/>
                </a:solidFill>
              </a:rPr>
              <a:t>고객 </a:t>
            </a:r>
            <a:r>
              <a:rPr lang="en-US" altLang="ko-KR" sz="1600" b="1" dirty="0">
                <a:solidFill>
                  <a:schemeClr val="tx2"/>
                </a:solidFill>
              </a:rPr>
              <a:t>vs. </a:t>
            </a:r>
            <a:r>
              <a:rPr lang="ko-KR" altLang="en-US" sz="1600" b="1" dirty="0">
                <a:solidFill>
                  <a:schemeClr val="tx2"/>
                </a:solidFill>
              </a:rPr>
              <a:t>전체 고객</a:t>
            </a:r>
            <a:r>
              <a:rPr lang="en-US" altLang="ko-KR" sz="1600" b="1" dirty="0">
                <a:solidFill>
                  <a:schemeClr val="tx2"/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2551598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7DF886-4DA7-CC24-273A-7A1F09542E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9B68241-6E02-E7BA-D43D-C32B0188D366}"/>
              </a:ext>
            </a:extLst>
          </p:cNvPr>
          <p:cNvSpPr txBox="1"/>
          <p:nvPr/>
        </p:nvSpPr>
        <p:spPr>
          <a:xfrm>
            <a:off x="7323566" y="145601"/>
            <a:ext cx="475994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buNone/>
            </a:pPr>
            <a:r>
              <a:rPr lang="en" altLang="ko-KR" sz="1400" dirty="0">
                <a:solidFill>
                  <a:schemeClr val="tx2"/>
                </a:solidFill>
                <a:latin typeface="Noto Sans Syriac SemiBold" panose="020B0502040504020204" pitchFamily="34" charset="0"/>
                <a:cs typeface="Noto Sans Syriac SemiBold" panose="020B0502040504020204" pitchFamily="34" charset="0"/>
              </a:rPr>
              <a:t>PBL 2. </a:t>
            </a:r>
            <a:r>
              <a:rPr lang="ko-KR" altLang="en-US" sz="1400" dirty="0">
                <a:solidFill>
                  <a:schemeClr val="tx2"/>
                </a:solidFill>
                <a:latin typeface="Noto Sans Syriac SemiBold" panose="020B0502040504020204" pitchFamily="34" charset="0"/>
                <a:cs typeface="Noto Sans Syriac SemiBold" panose="020B0502040504020204" pitchFamily="34" charset="0"/>
              </a:rPr>
              <a:t>서비스 분석</a:t>
            </a:r>
            <a:r>
              <a:rPr lang="en-US" altLang="ko-KR" sz="1400" dirty="0">
                <a:solidFill>
                  <a:schemeClr val="tx2"/>
                </a:solidFill>
                <a:latin typeface="Noto Sans Syriac SemiBold" panose="020B0502040504020204" pitchFamily="34" charset="0"/>
                <a:cs typeface="Noto Sans Syriac SemiBold" panose="020B0502040504020204" pitchFamily="34" charset="0"/>
              </a:rPr>
              <a:t>_26.01.26</a:t>
            </a:r>
            <a:endParaRPr lang="ko-KR" altLang="en-US" sz="1400" dirty="0">
              <a:solidFill>
                <a:schemeClr val="tx2"/>
              </a:solidFill>
              <a:latin typeface="Noto Sans Syriac SemiBold" panose="020B0502040504020204" pitchFamily="34" charset="0"/>
              <a:cs typeface="Noto Sans Syriac SemiBold" panose="020B0502040504020204" pitchFamily="34" charset="0"/>
            </a:endParaRPr>
          </a:p>
        </p:txBody>
      </p:sp>
      <p:pic>
        <p:nvPicPr>
          <p:cNvPr id="5" name="그림 4" descr="텍스트, 그래픽, 로고, 그래픽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3BA500C-FBF3-7C36-0764-DFCFD05FF3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75383"/>
            <a:ext cx="1707878" cy="1707878"/>
          </a:xfrm>
          <a:prstGeom prst="rect">
            <a:avLst/>
          </a:prstGeom>
        </p:spPr>
      </p:pic>
      <p:sp>
        <p:nvSpPr>
          <p:cNvPr id="6" name="제목 1">
            <a:extLst>
              <a:ext uri="{FF2B5EF4-FFF2-40B4-BE49-F238E27FC236}">
                <a16:creationId xmlns:a16="http://schemas.microsoft.com/office/drawing/2014/main" id="{9F15DA0E-3E77-3814-4BAE-2425C29C3C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19673"/>
            <a:ext cx="10515600" cy="571015"/>
          </a:xfrm>
          <a:solidFill>
            <a:srgbClr val="FFCB3C"/>
          </a:solidFill>
        </p:spPr>
        <p:txBody>
          <a:bodyPr>
            <a:noAutofit/>
          </a:bodyPr>
          <a:lstStyle/>
          <a:p>
            <a:pPr algn="ctr"/>
            <a:r>
              <a:rPr lang="ko-KR" altLang="en-US" sz="2000" b="1" dirty="0">
                <a:solidFill>
                  <a:schemeClr val="tx2"/>
                </a:solidFill>
              </a:rPr>
              <a:t>고가치 고객은 첫 구매부터 </a:t>
            </a:r>
            <a:r>
              <a:rPr lang="en-US" altLang="ko-KR" sz="2000" b="1" dirty="0">
                <a:solidFill>
                  <a:schemeClr val="tx2"/>
                </a:solidFill>
              </a:rPr>
              <a:t>‘</a:t>
            </a:r>
            <a:r>
              <a:rPr lang="ko-KR" altLang="en-US" sz="2000" b="1" dirty="0">
                <a:solidFill>
                  <a:schemeClr val="tx2"/>
                </a:solidFill>
              </a:rPr>
              <a:t>가치소비 성향</a:t>
            </a:r>
            <a:r>
              <a:rPr lang="en-US" altLang="ko-KR" sz="2000" b="1" dirty="0">
                <a:solidFill>
                  <a:schemeClr val="tx2"/>
                </a:solidFill>
              </a:rPr>
              <a:t>’</a:t>
            </a:r>
            <a:r>
              <a:rPr lang="ko-KR" altLang="en-US" sz="2000" b="1" dirty="0">
                <a:solidFill>
                  <a:schemeClr val="tx2"/>
                </a:solidFill>
              </a:rPr>
              <a:t>이 다르다</a:t>
            </a:r>
            <a:endParaRPr kumimoji="1" lang="ko-KR" altLang="en-US" sz="2000" dirty="0">
              <a:solidFill>
                <a:schemeClr val="tx2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DA68A5D-E391-2127-35E7-210F9F456BF5}"/>
              </a:ext>
            </a:extLst>
          </p:cNvPr>
          <p:cNvSpPr txBox="1"/>
          <p:nvPr/>
        </p:nvSpPr>
        <p:spPr>
          <a:xfrm>
            <a:off x="694282" y="1690688"/>
            <a:ext cx="60960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ko-KR" altLang="en-US" sz="1400" b="1" dirty="0">
              <a:solidFill>
                <a:schemeClr val="tx2"/>
              </a:solidFill>
            </a:endParaRPr>
          </a:p>
          <a:p>
            <a:r>
              <a:rPr lang="en-US" altLang="ko-KR" sz="1600" b="1" dirty="0">
                <a:solidFill>
                  <a:schemeClr val="tx2"/>
                </a:solidFill>
              </a:rPr>
              <a:t>&lt;</a:t>
            </a:r>
            <a:r>
              <a:rPr lang="ko-KR" altLang="en-US" sz="1600" b="1" dirty="0">
                <a:solidFill>
                  <a:schemeClr val="tx2"/>
                </a:solidFill>
              </a:rPr>
              <a:t> 고가치 고객의 첫 구매 카테고리 비교 </a:t>
            </a:r>
            <a:r>
              <a:rPr lang="en-US" altLang="ko-KR" sz="1600" b="1" dirty="0">
                <a:solidFill>
                  <a:schemeClr val="tx2"/>
                </a:solidFill>
              </a:rPr>
              <a:t>(</a:t>
            </a:r>
            <a:r>
              <a:rPr lang="ko-KR" altLang="en-US" sz="1600" b="1" dirty="0">
                <a:solidFill>
                  <a:schemeClr val="tx2"/>
                </a:solidFill>
              </a:rPr>
              <a:t> </a:t>
            </a:r>
            <a:r>
              <a:rPr lang="en-US" altLang="ko-KR" sz="1600" b="1" dirty="0">
                <a:solidFill>
                  <a:schemeClr val="tx2"/>
                </a:solidFill>
              </a:rPr>
              <a:t>vs. </a:t>
            </a:r>
            <a:r>
              <a:rPr lang="ko-KR" altLang="en-US" sz="1600" b="1" dirty="0">
                <a:solidFill>
                  <a:schemeClr val="tx2"/>
                </a:solidFill>
              </a:rPr>
              <a:t>하위 </a:t>
            </a:r>
            <a:r>
              <a:rPr lang="en-US" altLang="ko-KR" sz="1600" b="1" dirty="0">
                <a:solidFill>
                  <a:schemeClr val="tx2"/>
                </a:solidFill>
              </a:rPr>
              <a:t>95%)</a:t>
            </a:r>
            <a:r>
              <a:rPr lang="ko-KR" altLang="en-US" sz="1600" b="1" dirty="0">
                <a:solidFill>
                  <a:schemeClr val="tx2"/>
                </a:solidFill>
              </a:rPr>
              <a:t> </a:t>
            </a:r>
            <a:r>
              <a:rPr lang="en-US" altLang="ko-KR" sz="1600" b="1" dirty="0">
                <a:solidFill>
                  <a:schemeClr val="tx2"/>
                </a:solidFill>
              </a:rPr>
              <a:t>&gt;</a:t>
            </a:r>
            <a:r>
              <a:rPr lang="ko-KR" altLang="en-US" sz="1600" b="1" dirty="0">
                <a:solidFill>
                  <a:schemeClr val="tx2"/>
                </a:solidFill>
              </a:rPr>
              <a:t> </a:t>
            </a:r>
            <a:endParaRPr lang="en-US" altLang="ko-KR" sz="1600" b="1" dirty="0">
              <a:solidFill>
                <a:schemeClr val="tx2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9E3F3E7-AD41-1A92-F927-BFA2C5150915}"/>
              </a:ext>
            </a:extLst>
          </p:cNvPr>
          <p:cNvSpPr txBox="1"/>
          <p:nvPr/>
        </p:nvSpPr>
        <p:spPr>
          <a:xfrm>
            <a:off x="6253508" y="5635653"/>
            <a:ext cx="5778788" cy="7850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dirty="0">
                <a:solidFill>
                  <a:schemeClr val="tx2"/>
                </a:solidFill>
                <a:latin typeface=".AppleSystemUIFont"/>
              </a:rPr>
              <a:t>✅  </a:t>
            </a:r>
            <a:r>
              <a:rPr lang="ko-KR" altLang="en-US" sz="1600" b="1" dirty="0">
                <a:solidFill>
                  <a:schemeClr val="tx2"/>
                </a:solidFill>
              </a:rPr>
              <a:t> </a:t>
            </a:r>
            <a:r>
              <a:rPr lang="ko-KR" altLang="en-US" sz="1600" b="1" dirty="0" err="1">
                <a:solidFill>
                  <a:schemeClr val="tx2"/>
                </a:solidFill>
              </a:rPr>
              <a:t>선물성</a:t>
            </a:r>
            <a:r>
              <a:rPr lang="ko-KR" altLang="en-US" sz="1600" b="1" dirty="0">
                <a:solidFill>
                  <a:schemeClr val="tx2"/>
                </a:solidFill>
              </a:rPr>
              <a:t> </a:t>
            </a:r>
            <a:r>
              <a:rPr lang="en-US" altLang="ko-KR" sz="1600" b="1" dirty="0">
                <a:solidFill>
                  <a:schemeClr val="tx2"/>
                </a:solidFill>
              </a:rPr>
              <a:t>•</a:t>
            </a:r>
            <a:r>
              <a:rPr lang="ko-KR" altLang="en-US" sz="1600" b="1" dirty="0">
                <a:solidFill>
                  <a:schemeClr val="tx2"/>
                </a:solidFill>
              </a:rPr>
              <a:t> 뷰티</a:t>
            </a:r>
            <a:r>
              <a:rPr lang="en-US" altLang="ko-KR" sz="1600" b="1" dirty="0">
                <a:solidFill>
                  <a:schemeClr val="tx2"/>
                </a:solidFill>
              </a:rPr>
              <a:t> •</a:t>
            </a:r>
            <a:r>
              <a:rPr lang="ko-KR" altLang="en-US" sz="1600" b="1" dirty="0">
                <a:solidFill>
                  <a:schemeClr val="tx2"/>
                </a:solidFill>
              </a:rPr>
              <a:t> 감성 카테고리에서 유입 비중이 높음</a:t>
            </a:r>
            <a:endParaRPr lang="en-US" altLang="ko-KR" sz="1600" b="1" dirty="0">
              <a:solidFill>
                <a:schemeClr val="tx2"/>
              </a:solidFill>
            </a:endParaRPr>
          </a:p>
          <a:p>
            <a:pPr algn="ctr">
              <a:lnSpc>
                <a:spcPct val="150000"/>
              </a:lnSpc>
            </a:pPr>
            <a:r>
              <a:rPr lang="en-US" altLang="ko-KR" sz="1600" b="1" dirty="0">
                <a:solidFill>
                  <a:srgbClr val="C00000"/>
                </a:solidFill>
                <a:highlight>
                  <a:srgbClr val="FFFF00"/>
                </a:highlight>
                <a:sym typeface="Wingdings" pitchFamily="2" charset="2"/>
              </a:rPr>
              <a:t></a:t>
            </a:r>
            <a:r>
              <a:rPr lang="ko-KR" altLang="en-US" sz="1600" b="1" dirty="0">
                <a:solidFill>
                  <a:srgbClr val="C00000"/>
                </a:solidFill>
                <a:highlight>
                  <a:srgbClr val="FFFF00"/>
                </a:highlight>
                <a:sym typeface="Wingdings" pitchFamily="2" charset="2"/>
              </a:rPr>
              <a:t> 고가치 고객 그룹의 차별화된 가치소비 성향을 시사</a:t>
            </a:r>
            <a:endParaRPr lang="ko-KR" altLang="en-US" sz="1600" dirty="0">
              <a:solidFill>
                <a:srgbClr val="C00000"/>
              </a:solidFill>
              <a:highlight>
                <a:srgbClr val="FFFF00"/>
              </a:highlight>
            </a:endParaRP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65E781F0-FA88-7A41-3A23-663D76FBF1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3885857"/>
              </p:ext>
            </p:extLst>
          </p:nvPr>
        </p:nvGraphicFramePr>
        <p:xfrm>
          <a:off x="6335236" y="2440181"/>
          <a:ext cx="5160333" cy="296164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351175">
                  <a:extLst>
                    <a:ext uri="{9D8B030D-6E8A-4147-A177-3AD203B41FA5}">
                      <a16:colId xmlns:a16="http://schemas.microsoft.com/office/drawing/2014/main" val="3753855556"/>
                    </a:ext>
                  </a:extLst>
                </a:gridCol>
                <a:gridCol w="2268903">
                  <a:extLst>
                    <a:ext uri="{9D8B030D-6E8A-4147-A177-3AD203B41FA5}">
                      <a16:colId xmlns:a16="http://schemas.microsoft.com/office/drawing/2014/main" val="4253230068"/>
                    </a:ext>
                  </a:extLst>
                </a:gridCol>
                <a:gridCol w="2540255">
                  <a:extLst>
                    <a:ext uri="{9D8B030D-6E8A-4147-A177-3AD203B41FA5}">
                      <a16:colId xmlns:a16="http://schemas.microsoft.com/office/drawing/2014/main" val="251651659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카테고리명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 대표 상품 예시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23548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1" dirty="0">
                          <a:solidFill>
                            <a:schemeClr val="tx2"/>
                          </a:solidFill>
                        </a:rPr>
                        <a:t>1</a:t>
                      </a:r>
                      <a:endParaRPr lang="ko-KR" altLang="en-US" sz="1400" b="1" dirty="0">
                        <a:solidFill>
                          <a:schemeClr val="tx2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ko-KR" sz="1400" b="0" dirty="0" err="1">
                          <a:solidFill>
                            <a:schemeClr val="tx2"/>
                          </a:solidFill>
                          <a:highlight>
                            <a:srgbClr val="FFFF00"/>
                          </a:highlight>
                        </a:rPr>
                        <a:t>relogios_presentes</a:t>
                      </a:r>
                      <a:endParaRPr lang="en" altLang="ko-KR" sz="1400" b="0" dirty="0">
                        <a:solidFill>
                          <a:schemeClr val="tx2"/>
                        </a:solidFill>
                        <a:highlight>
                          <a:srgbClr val="FFFF00"/>
                        </a:highlight>
                      </a:endParaRPr>
                    </a:p>
                    <a:p>
                      <a:pPr algn="l" latinLnBrk="1"/>
                      <a:r>
                        <a:rPr lang="en-US" altLang="ko-KR" sz="1400" b="1" dirty="0">
                          <a:solidFill>
                            <a:schemeClr val="tx2"/>
                          </a:solidFill>
                          <a:highlight>
                            <a:srgbClr val="FFFF00"/>
                          </a:highlight>
                        </a:rPr>
                        <a:t>(</a:t>
                      </a:r>
                      <a:r>
                        <a:rPr lang="ko-KR" altLang="en-US" sz="1400" b="1" dirty="0">
                          <a:solidFill>
                            <a:schemeClr val="tx2"/>
                          </a:solidFill>
                          <a:highlight>
                            <a:srgbClr val="FFFF00"/>
                          </a:highlight>
                        </a:rPr>
                        <a:t> 시계</a:t>
                      </a:r>
                      <a:r>
                        <a:rPr lang="en-US" altLang="ko-KR" sz="1400" b="1" dirty="0">
                          <a:solidFill>
                            <a:schemeClr val="tx2"/>
                          </a:solidFill>
                          <a:highlight>
                            <a:srgbClr val="FFFF00"/>
                          </a:highlight>
                        </a:rPr>
                        <a:t>·</a:t>
                      </a:r>
                      <a:r>
                        <a:rPr lang="ko-KR" altLang="en-US" sz="1400" b="1" dirty="0">
                          <a:solidFill>
                            <a:schemeClr val="tx2"/>
                          </a:solidFill>
                          <a:highlight>
                            <a:srgbClr val="FFFF00"/>
                          </a:highlight>
                        </a:rPr>
                        <a:t>선물용 </a:t>
                      </a:r>
                      <a:r>
                        <a:rPr lang="en-US" altLang="ko-KR" sz="1400" b="1" dirty="0">
                          <a:solidFill>
                            <a:schemeClr val="tx2"/>
                          </a:solidFill>
                          <a:highlight>
                            <a:srgbClr val="FFFF00"/>
                          </a:highlight>
                        </a:rPr>
                        <a:t>)</a:t>
                      </a:r>
                      <a:endParaRPr lang="ko-KR" altLang="en-US" sz="1400" b="1" dirty="0">
                        <a:solidFill>
                          <a:schemeClr val="tx2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="0" dirty="0">
                          <a:solidFill>
                            <a:srgbClr val="4C6B03"/>
                          </a:solidFill>
                        </a:rPr>
                        <a:t>손목시계</a:t>
                      </a:r>
                      <a:r>
                        <a:rPr lang="en-US" altLang="ko-KR" sz="1400" b="0" dirty="0">
                          <a:solidFill>
                            <a:srgbClr val="4C6B03"/>
                          </a:solidFill>
                        </a:rPr>
                        <a:t>,</a:t>
                      </a:r>
                      <a:r>
                        <a:rPr lang="ko-KR" altLang="en-US" sz="1400" b="0" dirty="0">
                          <a:solidFill>
                            <a:srgbClr val="4C6B03"/>
                          </a:solidFill>
                        </a:rPr>
                        <a:t> 선물용 액세서리 등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399260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1" dirty="0">
                          <a:solidFill>
                            <a:schemeClr val="tx2"/>
                          </a:solidFill>
                        </a:rPr>
                        <a:t>2</a:t>
                      </a:r>
                      <a:endParaRPr lang="ko-KR" altLang="en-US" sz="1400" b="1" dirty="0">
                        <a:solidFill>
                          <a:schemeClr val="tx2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ko-KR" sz="1400" b="0" dirty="0" err="1">
                          <a:solidFill>
                            <a:schemeClr val="tx2"/>
                          </a:solidFill>
                          <a:highlight>
                            <a:srgbClr val="FFFF00"/>
                          </a:highlight>
                        </a:rPr>
                        <a:t>beleza_saude</a:t>
                      </a:r>
                      <a:endParaRPr lang="en" altLang="ko-KR" sz="1400" b="0" dirty="0">
                        <a:solidFill>
                          <a:schemeClr val="tx2"/>
                        </a:solidFill>
                        <a:highlight>
                          <a:srgbClr val="FFFF00"/>
                        </a:highlight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1" dirty="0">
                          <a:solidFill>
                            <a:schemeClr val="tx2"/>
                          </a:solidFill>
                          <a:highlight>
                            <a:srgbClr val="FFFF00"/>
                          </a:highlight>
                        </a:rPr>
                        <a:t>(</a:t>
                      </a:r>
                      <a:r>
                        <a:rPr lang="ko-KR" altLang="en-US" sz="1400" b="1" dirty="0">
                          <a:solidFill>
                            <a:schemeClr val="tx2"/>
                          </a:solidFill>
                          <a:highlight>
                            <a:srgbClr val="FFFF00"/>
                          </a:highlight>
                        </a:rPr>
                        <a:t> 미용</a:t>
                      </a:r>
                      <a:r>
                        <a:rPr lang="en-US" altLang="ko-KR" sz="1400" b="1" dirty="0">
                          <a:solidFill>
                            <a:schemeClr val="tx2"/>
                          </a:solidFill>
                          <a:highlight>
                            <a:srgbClr val="FFFF00"/>
                          </a:highlight>
                        </a:rPr>
                        <a:t>·</a:t>
                      </a:r>
                      <a:r>
                        <a:rPr lang="ko-KR" altLang="en-US" sz="1400" b="1" dirty="0">
                          <a:solidFill>
                            <a:schemeClr val="tx2"/>
                          </a:solidFill>
                          <a:highlight>
                            <a:srgbClr val="FFFF00"/>
                          </a:highlight>
                        </a:rPr>
                        <a:t>건강 </a:t>
                      </a:r>
                      <a:r>
                        <a:rPr lang="en-US" altLang="ko-KR" sz="1400" b="1" dirty="0">
                          <a:solidFill>
                            <a:schemeClr val="tx2"/>
                          </a:solidFill>
                          <a:highlight>
                            <a:srgbClr val="FFFF00"/>
                          </a:highlight>
                        </a:rPr>
                        <a:t>)</a:t>
                      </a:r>
                      <a:endParaRPr lang="en" altLang="ko-KR" sz="1400" b="1" dirty="0">
                        <a:solidFill>
                          <a:schemeClr val="tx2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="0" dirty="0">
                          <a:solidFill>
                            <a:srgbClr val="4C6B03"/>
                          </a:solidFill>
                        </a:rPr>
                        <a:t>화장품</a:t>
                      </a:r>
                      <a:r>
                        <a:rPr lang="en-US" altLang="ko-KR" sz="1400" b="0" dirty="0">
                          <a:solidFill>
                            <a:srgbClr val="4C6B03"/>
                          </a:solidFill>
                        </a:rPr>
                        <a:t>,</a:t>
                      </a:r>
                      <a:r>
                        <a:rPr lang="ko-KR" altLang="en-US" sz="1400" b="0" dirty="0">
                          <a:solidFill>
                            <a:srgbClr val="4C6B03"/>
                          </a:solidFill>
                        </a:rPr>
                        <a:t> 향수</a:t>
                      </a:r>
                      <a:r>
                        <a:rPr lang="en-US" altLang="ko-KR" sz="1400" b="0" dirty="0">
                          <a:solidFill>
                            <a:srgbClr val="4C6B03"/>
                          </a:solidFill>
                        </a:rPr>
                        <a:t>,</a:t>
                      </a:r>
                      <a:r>
                        <a:rPr lang="ko-KR" altLang="en-US" sz="1400" b="0" dirty="0">
                          <a:solidFill>
                            <a:srgbClr val="4C6B03"/>
                          </a:solidFill>
                        </a:rPr>
                        <a:t> 미용기기 등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121578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1" dirty="0">
                          <a:solidFill>
                            <a:schemeClr val="tx2"/>
                          </a:solidFill>
                        </a:rPr>
                        <a:t>3</a:t>
                      </a:r>
                      <a:endParaRPr lang="ko-KR" altLang="en-US" sz="1400" b="1" dirty="0">
                        <a:solidFill>
                          <a:schemeClr val="tx2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ko-KR" sz="1400" b="0" dirty="0" err="1">
                          <a:solidFill>
                            <a:schemeClr val="tx2"/>
                          </a:solidFill>
                        </a:rPr>
                        <a:t>informatica_acessorios</a:t>
                      </a:r>
                      <a:endParaRPr lang="en" altLang="ko-KR" sz="1400" b="0" dirty="0">
                        <a:solidFill>
                          <a:schemeClr val="tx2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1" dirty="0">
                          <a:solidFill>
                            <a:schemeClr val="tx2"/>
                          </a:solidFill>
                        </a:rPr>
                        <a:t>(</a:t>
                      </a:r>
                      <a:r>
                        <a:rPr lang="ko-KR" altLang="en-US" sz="1400" b="1" dirty="0">
                          <a:solidFill>
                            <a:schemeClr val="tx2"/>
                          </a:solidFill>
                        </a:rPr>
                        <a:t>컴퓨터</a:t>
                      </a:r>
                      <a:r>
                        <a:rPr lang="en-US" altLang="ko-KR" sz="1400" b="1" dirty="0">
                          <a:solidFill>
                            <a:schemeClr val="tx2"/>
                          </a:solidFill>
                        </a:rPr>
                        <a:t>·</a:t>
                      </a:r>
                      <a:r>
                        <a:rPr lang="en" altLang="ko-KR" sz="1400" b="1" dirty="0">
                          <a:solidFill>
                            <a:schemeClr val="tx2"/>
                          </a:solidFill>
                        </a:rPr>
                        <a:t>IT </a:t>
                      </a:r>
                      <a:r>
                        <a:rPr lang="ko-KR" altLang="en-US" sz="1400" b="1" dirty="0">
                          <a:solidFill>
                            <a:schemeClr val="tx2"/>
                          </a:solidFill>
                        </a:rPr>
                        <a:t>주변기기</a:t>
                      </a:r>
                      <a:r>
                        <a:rPr lang="en-US" altLang="ko-KR" sz="1400" b="1" dirty="0">
                          <a:solidFill>
                            <a:schemeClr val="tx2"/>
                          </a:solidFill>
                        </a:rPr>
                        <a:t>)</a:t>
                      </a:r>
                      <a:endParaRPr lang="ko-KR" altLang="en-US" sz="1400" b="1" dirty="0">
                        <a:solidFill>
                          <a:schemeClr val="tx2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="0" dirty="0">
                          <a:solidFill>
                            <a:srgbClr val="4C6B03"/>
                          </a:solidFill>
                        </a:rPr>
                        <a:t>키보드</a:t>
                      </a:r>
                      <a:r>
                        <a:rPr lang="en-US" altLang="ko-KR" sz="1400" b="0" dirty="0">
                          <a:solidFill>
                            <a:srgbClr val="4C6B03"/>
                          </a:solidFill>
                        </a:rPr>
                        <a:t>,</a:t>
                      </a:r>
                      <a:r>
                        <a:rPr lang="ko-KR" altLang="en-US" sz="1400" b="0" dirty="0">
                          <a:solidFill>
                            <a:srgbClr val="4C6B03"/>
                          </a:solidFill>
                        </a:rPr>
                        <a:t> 마우스</a:t>
                      </a:r>
                      <a:r>
                        <a:rPr lang="en-US" altLang="ko-KR" sz="1400" b="0" dirty="0">
                          <a:solidFill>
                            <a:srgbClr val="4C6B03"/>
                          </a:solidFill>
                        </a:rPr>
                        <a:t>,</a:t>
                      </a:r>
                      <a:r>
                        <a:rPr lang="ko-KR" altLang="en-US" sz="1400" b="0" dirty="0">
                          <a:solidFill>
                            <a:srgbClr val="4C6B03"/>
                          </a:solidFill>
                        </a:rPr>
                        <a:t> 이어폰 등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755913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1" dirty="0">
                          <a:solidFill>
                            <a:schemeClr val="tx2"/>
                          </a:solidFill>
                        </a:rPr>
                        <a:t>4</a:t>
                      </a:r>
                      <a:endParaRPr lang="ko-KR" altLang="en-US" sz="1400" b="1" dirty="0">
                        <a:solidFill>
                          <a:schemeClr val="tx2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ko-KR" sz="1400" b="0" dirty="0" err="1">
                          <a:solidFill>
                            <a:schemeClr val="tx2"/>
                          </a:solidFill>
                          <a:highlight>
                            <a:srgbClr val="FFFF00"/>
                          </a:highlight>
                        </a:rPr>
                        <a:t>cool_stuff</a:t>
                      </a:r>
                      <a:endParaRPr lang="en" altLang="ko-KR" sz="1400" b="0" dirty="0">
                        <a:solidFill>
                          <a:schemeClr val="tx2"/>
                        </a:solidFill>
                        <a:highlight>
                          <a:srgbClr val="FFFF00"/>
                        </a:highlight>
                      </a:endParaRPr>
                    </a:p>
                    <a:p>
                      <a:pPr algn="l" latinLnBrk="1"/>
                      <a:r>
                        <a:rPr lang="en-US" altLang="ko-KR" sz="1400" b="1" dirty="0">
                          <a:solidFill>
                            <a:schemeClr val="tx2"/>
                          </a:solidFill>
                          <a:highlight>
                            <a:srgbClr val="FFFF00"/>
                          </a:highlight>
                        </a:rPr>
                        <a:t>(</a:t>
                      </a:r>
                      <a:r>
                        <a:rPr lang="ko-KR" altLang="en-US" sz="1400" b="1" dirty="0">
                          <a:solidFill>
                            <a:schemeClr val="tx2"/>
                          </a:solidFill>
                          <a:highlight>
                            <a:srgbClr val="FFFF00"/>
                          </a:highlight>
                        </a:rPr>
                        <a:t>라이프스타일</a:t>
                      </a:r>
                      <a:r>
                        <a:rPr lang="en-US" altLang="ko-KR" sz="1400" b="1" dirty="0">
                          <a:solidFill>
                            <a:schemeClr val="tx2"/>
                          </a:solidFill>
                          <a:highlight>
                            <a:srgbClr val="FFFF00"/>
                          </a:highlight>
                        </a:rPr>
                        <a:t>/</a:t>
                      </a:r>
                      <a:r>
                        <a:rPr lang="ko-KR" altLang="en-US" sz="1400" b="1" dirty="0">
                          <a:solidFill>
                            <a:schemeClr val="tx2"/>
                          </a:solidFill>
                          <a:highlight>
                            <a:srgbClr val="FFFF00"/>
                          </a:highlight>
                        </a:rPr>
                        <a:t>감성</a:t>
                      </a:r>
                      <a:r>
                        <a:rPr lang="en-US" altLang="ko-KR" sz="1400" b="1" dirty="0">
                          <a:solidFill>
                            <a:schemeClr val="tx2"/>
                          </a:solidFill>
                          <a:highlight>
                            <a:srgbClr val="FFFF00"/>
                          </a:highlight>
                        </a:rPr>
                        <a:t>/</a:t>
                      </a:r>
                      <a:r>
                        <a:rPr lang="ko-KR" altLang="en-US" sz="1400" b="1" dirty="0">
                          <a:solidFill>
                            <a:schemeClr val="tx2"/>
                          </a:solidFill>
                          <a:highlight>
                            <a:srgbClr val="FFFF00"/>
                          </a:highlight>
                        </a:rPr>
                        <a:t>취미</a:t>
                      </a:r>
                      <a:r>
                        <a:rPr lang="en-US" altLang="ko-KR" sz="1400" b="1" dirty="0">
                          <a:solidFill>
                            <a:schemeClr val="tx2"/>
                          </a:solidFill>
                          <a:highlight>
                            <a:srgbClr val="FFFF00"/>
                          </a:highlight>
                        </a:rPr>
                        <a:t>)</a:t>
                      </a:r>
                      <a:r>
                        <a:rPr lang="ko-KR" altLang="en-US" sz="1400" b="1" dirty="0">
                          <a:solidFill>
                            <a:schemeClr val="tx2"/>
                          </a:solidFill>
                          <a:highlight>
                            <a:srgbClr val="FFFF00"/>
                          </a:highlight>
                        </a:rPr>
                        <a:t>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="0" dirty="0" err="1">
                          <a:solidFill>
                            <a:srgbClr val="4C6B03"/>
                          </a:solidFill>
                        </a:rPr>
                        <a:t>굿즈</a:t>
                      </a:r>
                      <a:r>
                        <a:rPr lang="en-US" altLang="ko-KR" sz="1400" b="0" dirty="0">
                          <a:solidFill>
                            <a:srgbClr val="4C6B03"/>
                          </a:solidFill>
                        </a:rPr>
                        <a:t>,</a:t>
                      </a:r>
                      <a:r>
                        <a:rPr lang="ko-KR" altLang="en-US" sz="1400" b="0" dirty="0">
                          <a:solidFill>
                            <a:srgbClr val="4C6B03"/>
                          </a:solidFill>
                        </a:rPr>
                        <a:t> 인테리어 아이템 등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824296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1" dirty="0">
                          <a:solidFill>
                            <a:schemeClr val="tx2"/>
                          </a:solidFill>
                        </a:rPr>
                        <a:t>5</a:t>
                      </a:r>
                      <a:endParaRPr lang="ko-KR" altLang="en-US" sz="1400" b="1" dirty="0">
                        <a:solidFill>
                          <a:schemeClr val="tx2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1" dirty="0" err="1">
                          <a:solidFill>
                            <a:schemeClr val="tx2"/>
                          </a:solidFill>
                        </a:rPr>
                        <a:t>esporte_lazer</a:t>
                      </a:r>
                      <a:endParaRPr lang="en-US" altLang="ko-KR" sz="1400" b="1" dirty="0">
                        <a:solidFill>
                          <a:schemeClr val="tx2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1" dirty="0">
                          <a:solidFill>
                            <a:schemeClr val="tx2"/>
                          </a:solidFill>
                        </a:rPr>
                        <a:t>(</a:t>
                      </a:r>
                      <a:r>
                        <a:rPr lang="ko-KR" altLang="en-US" sz="1400" b="1" dirty="0">
                          <a:solidFill>
                            <a:schemeClr val="tx2"/>
                          </a:solidFill>
                        </a:rPr>
                        <a:t>스포츠</a:t>
                      </a:r>
                      <a:r>
                        <a:rPr lang="en-US" altLang="ko-KR" sz="1400" b="1" dirty="0">
                          <a:solidFill>
                            <a:schemeClr val="tx2"/>
                          </a:solidFill>
                        </a:rPr>
                        <a:t>·</a:t>
                      </a:r>
                      <a:r>
                        <a:rPr lang="ko-KR" altLang="en-US" sz="1400" b="1" dirty="0">
                          <a:solidFill>
                            <a:schemeClr val="tx2"/>
                          </a:solidFill>
                        </a:rPr>
                        <a:t>레저</a:t>
                      </a:r>
                      <a:r>
                        <a:rPr lang="en-US" altLang="ko-KR" sz="1400" b="1" dirty="0">
                          <a:solidFill>
                            <a:schemeClr val="tx2"/>
                          </a:solidFill>
                        </a:rPr>
                        <a:t>)</a:t>
                      </a:r>
                      <a:endParaRPr lang="ko-KR" altLang="en-US" sz="1400" b="1" dirty="0">
                        <a:solidFill>
                          <a:schemeClr val="tx2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="0" dirty="0">
                          <a:solidFill>
                            <a:srgbClr val="4C6B03"/>
                          </a:solidFill>
                        </a:rPr>
                        <a:t>운동용품</a:t>
                      </a:r>
                      <a:r>
                        <a:rPr lang="en-US" altLang="ko-KR" sz="1400" b="0" dirty="0">
                          <a:solidFill>
                            <a:srgbClr val="4C6B03"/>
                          </a:solidFill>
                        </a:rPr>
                        <a:t>,</a:t>
                      </a:r>
                      <a:r>
                        <a:rPr lang="ko-KR" altLang="en-US" sz="1400" b="0" dirty="0">
                          <a:solidFill>
                            <a:srgbClr val="4C6B03"/>
                          </a:solidFill>
                        </a:rPr>
                        <a:t> 레저</a:t>
                      </a:r>
                      <a:r>
                        <a:rPr lang="en-US" altLang="ko-KR" sz="1400" b="0" dirty="0">
                          <a:solidFill>
                            <a:srgbClr val="4C6B03"/>
                          </a:solidFill>
                        </a:rPr>
                        <a:t>/</a:t>
                      </a:r>
                      <a:r>
                        <a:rPr lang="ko-KR" altLang="en-US" sz="1400" b="0" dirty="0">
                          <a:solidFill>
                            <a:srgbClr val="4C6B03"/>
                          </a:solidFill>
                        </a:rPr>
                        <a:t>캠핑용품 등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51551996"/>
                  </a:ext>
                </a:extLst>
              </a:tr>
            </a:tbl>
          </a:graphicData>
        </a:graphic>
      </p:graphicFrame>
      <p:pic>
        <p:nvPicPr>
          <p:cNvPr id="7" name="그림 6">
            <a:extLst>
              <a:ext uri="{FF2B5EF4-FFF2-40B4-BE49-F238E27FC236}">
                <a16:creationId xmlns:a16="http://schemas.microsoft.com/office/drawing/2014/main" id="{7EF6AC0D-3D4E-D359-8656-BF30D7D38C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2402879"/>
            <a:ext cx="5257800" cy="3910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57839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0B36D6-3458-9F28-304C-B63C725608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DFE62EBD-6170-1422-168C-B4CEBD5301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0001" y="2405419"/>
            <a:ext cx="5857107" cy="415939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593F343-9F29-3F96-C61B-FAEB98269727}"/>
              </a:ext>
            </a:extLst>
          </p:cNvPr>
          <p:cNvSpPr txBox="1"/>
          <p:nvPr/>
        </p:nvSpPr>
        <p:spPr>
          <a:xfrm>
            <a:off x="7323566" y="145601"/>
            <a:ext cx="475994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buNone/>
            </a:pPr>
            <a:r>
              <a:rPr lang="en" altLang="ko-KR" sz="1400" dirty="0">
                <a:solidFill>
                  <a:schemeClr val="tx2"/>
                </a:solidFill>
                <a:latin typeface="Noto Sans Syriac SemiBold" panose="020B0502040504020204" pitchFamily="34" charset="0"/>
                <a:cs typeface="Noto Sans Syriac SemiBold" panose="020B0502040504020204" pitchFamily="34" charset="0"/>
              </a:rPr>
              <a:t>PBL 2. </a:t>
            </a:r>
            <a:r>
              <a:rPr lang="ko-KR" altLang="en-US" sz="1400" dirty="0">
                <a:solidFill>
                  <a:schemeClr val="tx2"/>
                </a:solidFill>
                <a:latin typeface="Noto Sans Syriac SemiBold" panose="020B0502040504020204" pitchFamily="34" charset="0"/>
                <a:cs typeface="Noto Sans Syriac SemiBold" panose="020B0502040504020204" pitchFamily="34" charset="0"/>
              </a:rPr>
              <a:t>서비스 분석</a:t>
            </a:r>
            <a:r>
              <a:rPr lang="en-US" altLang="ko-KR" sz="1400" dirty="0">
                <a:solidFill>
                  <a:schemeClr val="tx2"/>
                </a:solidFill>
                <a:latin typeface="Noto Sans Syriac SemiBold" panose="020B0502040504020204" pitchFamily="34" charset="0"/>
                <a:cs typeface="Noto Sans Syriac SemiBold" panose="020B0502040504020204" pitchFamily="34" charset="0"/>
              </a:rPr>
              <a:t>_26.01.26</a:t>
            </a:r>
            <a:endParaRPr lang="ko-KR" altLang="en-US" sz="1400" dirty="0">
              <a:solidFill>
                <a:schemeClr val="tx2"/>
              </a:solidFill>
              <a:latin typeface="Noto Sans Syriac SemiBold" panose="020B0502040504020204" pitchFamily="34" charset="0"/>
              <a:cs typeface="Noto Sans Syriac SemiBold" panose="020B0502040504020204" pitchFamily="34" charset="0"/>
            </a:endParaRPr>
          </a:p>
        </p:txBody>
      </p:sp>
      <p:pic>
        <p:nvPicPr>
          <p:cNvPr id="5" name="그림 4" descr="텍스트, 그래픽, 로고, 그래픽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C7C1AE9-8808-F604-6D5B-F488E295D2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-175383"/>
            <a:ext cx="1707878" cy="1707878"/>
          </a:xfrm>
          <a:prstGeom prst="rect">
            <a:avLst/>
          </a:prstGeom>
        </p:spPr>
      </p:pic>
      <p:sp>
        <p:nvSpPr>
          <p:cNvPr id="6" name="제목 1">
            <a:extLst>
              <a:ext uri="{FF2B5EF4-FFF2-40B4-BE49-F238E27FC236}">
                <a16:creationId xmlns:a16="http://schemas.microsoft.com/office/drawing/2014/main" id="{94011F56-F639-BB72-B0E3-4E5F2231ED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19673"/>
            <a:ext cx="10515600" cy="571015"/>
          </a:xfrm>
          <a:solidFill>
            <a:srgbClr val="FFCB3C"/>
          </a:solidFill>
        </p:spPr>
        <p:txBody>
          <a:bodyPr>
            <a:noAutofit/>
          </a:bodyPr>
          <a:lstStyle/>
          <a:p>
            <a:pPr algn="ctr"/>
            <a:r>
              <a:rPr kumimoji="1" lang="ko-KR" altLang="en-US" sz="2000" b="1" dirty="0">
                <a:solidFill>
                  <a:schemeClr val="tx2"/>
                </a:solidFill>
              </a:rPr>
              <a:t>고가치 고객은 첫 구매부터 가격 허용도가 다르다</a:t>
            </a:r>
            <a:r>
              <a:rPr kumimoji="1" lang="en-US" altLang="ko-KR" sz="2000" b="1" dirty="0">
                <a:solidFill>
                  <a:schemeClr val="tx2"/>
                </a:solidFill>
              </a:rPr>
              <a:t>.</a:t>
            </a:r>
            <a:r>
              <a:rPr kumimoji="1" lang="ko-KR" altLang="en-US" sz="2000" b="1" dirty="0">
                <a:solidFill>
                  <a:schemeClr val="tx2"/>
                </a:solidFill>
              </a:rPr>
              <a:t> </a:t>
            </a:r>
            <a:endParaRPr kumimoji="1" lang="ko-KR" altLang="en-US" sz="2000" dirty="0">
              <a:solidFill>
                <a:schemeClr val="tx2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D7CB6AA-5B7F-4401-5D73-C179572F03AE}"/>
              </a:ext>
            </a:extLst>
          </p:cNvPr>
          <p:cNvSpPr txBox="1"/>
          <p:nvPr/>
        </p:nvSpPr>
        <p:spPr>
          <a:xfrm>
            <a:off x="612083" y="2034331"/>
            <a:ext cx="7600949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1600" b="1" dirty="0">
                <a:solidFill>
                  <a:schemeClr val="tx2"/>
                </a:solidFill>
              </a:rPr>
              <a:t>&lt;</a:t>
            </a:r>
            <a:r>
              <a:rPr lang="ko-KR" altLang="en-US" sz="1600" b="1" dirty="0">
                <a:solidFill>
                  <a:schemeClr val="tx2"/>
                </a:solidFill>
              </a:rPr>
              <a:t> 첫 구매 주문에 포함된 개별 상품 단가 분포 비교 </a:t>
            </a:r>
            <a:r>
              <a:rPr lang="ko-KR" altLang="en-US" sz="1600" dirty="0">
                <a:solidFill>
                  <a:schemeClr val="tx2"/>
                </a:solidFill>
              </a:rPr>
              <a:t> </a:t>
            </a:r>
            <a:r>
              <a:rPr lang="en-US" altLang="ko-KR" sz="1600" b="1" dirty="0">
                <a:solidFill>
                  <a:schemeClr val="tx2"/>
                </a:solidFill>
              </a:rPr>
              <a:t>&gt;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E1A7F97-7F4C-5D79-29A3-B1746954F698}"/>
              </a:ext>
            </a:extLst>
          </p:cNvPr>
          <p:cNvSpPr txBox="1"/>
          <p:nvPr/>
        </p:nvSpPr>
        <p:spPr>
          <a:xfrm>
            <a:off x="7830207" y="3032915"/>
            <a:ext cx="4253307" cy="23754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Wingdings" pitchFamily="2" charset="2"/>
              <a:buChar char="u"/>
            </a:pPr>
            <a:r>
              <a:rPr lang="ko-KR" altLang="en-US" b="1" dirty="0">
                <a:solidFill>
                  <a:schemeClr val="tx2"/>
                </a:solidFill>
              </a:rPr>
              <a:t>첫 구매 상품 단가 중앙값</a:t>
            </a:r>
            <a:r>
              <a:rPr lang="en-US" altLang="ko-KR" b="1" dirty="0">
                <a:solidFill>
                  <a:schemeClr val="tx2"/>
                </a:solidFill>
              </a:rPr>
              <a:t> (Median)</a:t>
            </a:r>
            <a:endParaRPr lang="ko-KR" altLang="en-US" b="1" dirty="0">
              <a:solidFill>
                <a:schemeClr val="tx2"/>
              </a:solidFill>
            </a:endParaRPr>
          </a:p>
          <a:p>
            <a:pPr marL="285750" indent="-285750">
              <a:lnSpc>
                <a:spcPct val="200000"/>
              </a:lnSpc>
              <a:buFont typeface="Wingdings" pitchFamily="2" charset="2"/>
              <a:buChar char="§"/>
            </a:pPr>
            <a:r>
              <a:rPr lang="en" altLang="ko-KR" b="1" dirty="0">
                <a:solidFill>
                  <a:srgbClr val="4C6B03"/>
                </a:solidFill>
              </a:rPr>
              <a:t>High Value </a:t>
            </a:r>
            <a:r>
              <a:rPr lang="ko-KR" altLang="en-US" b="1" dirty="0">
                <a:solidFill>
                  <a:srgbClr val="4C6B03"/>
                </a:solidFill>
              </a:rPr>
              <a:t>고객 </a:t>
            </a:r>
            <a:r>
              <a:rPr lang="en-US" altLang="ko-KR" b="1" dirty="0">
                <a:solidFill>
                  <a:srgbClr val="4C6B03"/>
                </a:solidFill>
              </a:rPr>
              <a:t>: 467.0</a:t>
            </a:r>
          </a:p>
          <a:p>
            <a:pPr marL="285750" indent="-285750">
              <a:lnSpc>
                <a:spcPct val="200000"/>
              </a:lnSpc>
              <a:buFont typeface="Wingdings" pitchFamily="2" charset="2"/>
              <a:buChar char="§"/>
            </a:pPr>
            <a:r>
              <a:rPr lang="en" altLang="ko-KR" b="1" dirty="0">
                <a:solidFill>
                  <a:srgbClr val="4C6B03"/>
                </a:solidFill>
              </a:rPr>
              <a:t>Normal </a:t>
            </a:r>
            <a:r>
              <a:rPr lang="ko-KR" altLang="en-US" b="1" dirty="0">
                <a:solidFill>
                  <a:srgbClr val="4C6B03"/>
                </a:solidFill>
              </a:rPr>
              <a:t>고객     </a:t>
            </a:r>
            <a:r>
              <a:rPr lang="en-US" altLang="ko-KR" b="1" dirty="0">
                <a:solidFill>
                  <a:srgbClr val="4C6B03"/>
                </a:solidFill>
              </a:rPr>
              <a:t>: 69.9</a:t>
            </a:r>
          </a:p>
          <a:p>
            <a:pPr>
              <a:lnSpc>
                <a:spcPct val="200000"/>
              </a:lnSpc>
              <a:buNone/>
            </a:pPr>
            <a:r>
              <a:rPr lang="en-US" altLang="ko-KR" sz="2400" b="1" dirty="0">
                <a:solidFill>
                  <a:srgbClr val="C00000"/>
                </a:solidFill>
                <a:highlight>
                  <a:srgbClr val="FFFF00"/>
                </a:highlight>
              </a:rPr>
              <a:t>→ </a:t>
            </a:r>
            <a:r>
              <a:rPr lang="ko-KR" altLang="en-US" sz="2400" b="1" dirty="0">
                <a:solidFill>
                  <a:srgbClr val="C00000"/>
                </a:solidFill>
                <a:highlight>
                  <a:srgbClr val="FFFF00"/>
                </a:highlight>
              </a:rPr>
              <a:t>약 </a:t>
            </a:r>
            <a:r>
              <a:rPr lang="en-US" altLang="ko-KR" sz="2400" b="1" dirty="0">
                <a:solidFill>
                  <a:srgbClr val="C00000"/>
                </a:solidFill>
                <a:highlight>
                  <a:srgbClr val="FFFF00"/>
                </a:highlight>
              </a:rPr>
              <a:t>6.7</a:t>
            </a:r>
            <a:r>
              <a:rPr lang="ko-KR" altLang="en-US" sz="2400" b="1" dirty="0">
                <a:solidFill>
                  <a:srgbClr val="C00000"/>
                </a:solidFill>
                <a:highlight>
                  <a:srgbClr val="FFFF00"/>
                </a:highlight>
              </a:rPr>
              <a:t>배 차이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4580BD8-14D8-86FD-C320-C784CB18D414}"/>
              </a:ext>
            </a:extLst>
          </p:cNvPr>
          <p:cNvSpPr txBox="1"/>
          <p:nvPr/>
        </p:nvSpPr>
        <p:spPr>
          <a:xfrm>
            <a:off x="4438554" y="2906323"/>
            <a:ext cx="2708023" cy="567463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100" b="1" dirty="0"/>
              <a:t> </a:t>
            </a:r>
            <a:r>
              <a:rPr lang="en" altLang="ko-KR" sz="1100" b="1" dirty="0">
                <a:solidFill>
                  <a:srgbClr val="4C6B03"/>
                </a:solidFill>
              </a:rPr>
              <a:t>High Value</a:t>
            </a:r>
            <a:r>
              <a:rPr lang="en-US" altLang="ko-KR" sz="1100" dirty="0">
                <a:solidFill>
                  <a:srgbClr val="4C6B03"/>
                </a:solidFill>
              </a:rPr>
              <a:t>: </a:t>
            </a:r>
            <a:r>
              <a:rPr lang="en" altLang="ko-KR" sz="1100" b="1" dirty="0">
                <a:solidFill>
                  <a:srgbClr val="0070C0"/>
                </a:solidFill>
              </a:rPr>
              <a:t>LTV </a:t>
            </a:r>
            <a:r>
              <a:rPr lang="ko-KR" altLang="en-US" sz="1100" b="1" dirty="0">
                <a:solidFill>
                  <a:srgbClr val="0070C0"/>
                </a:solidFill>
              </a:rPr>
              <a:t>기준 상위 </a:t>
            </a:r>
            <a:r>
              <a:rPr lang="en-US" altLang="ko-KR" sz="1100" b="1" dirty="0">
                <a:solidFill>
                  <a:srgbClr val="0070C0"/>
                </a:solidFill>
              </a:rPr>
              <a:t>5%</a:t>
            </a:r>
            <a:r>
              <a:rPr lang="ko-KR" altLang="en-US" sz="1100" b="1" dirty="0">
                <a:solidFill>
                  <a:srgbClr val="0070C0"/>
                </a:solidFill>
              </a:rPr>
              <a:t> 고객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100" b="1" dirty="0">
                <a:solidFill>
                  <a:srgbClr val="4C6B03"/>
                </a:solidFill>
              </a:rPr>
              <a:t> </a:t>
            </a:r>
            <a:r>
              <a:rPr lang="en" altLang="ko-KR" sz="1100" b="1" dirty="0">
                <a:solidFill>
                  <a:srgbClr val="4C6B03"/>
                </a:solidFill>
              </a:rPr>
              <a:t>Normal</a:t>
            </a:r>
            <a:r>
              <a:rPr lang="en-US" altLang="ko-KR" sz="1100" dirty="0">
                <a:solidFill>
                  <a:srgbClr val="4C6B03"/>
                </a:solidFill>
              </a:rPr>
              <a:t>: </a:t>
            </a:r>
            <a:r>
              <a:rPr lang="en" altLang="ko-KR" sz="1100" b="1" dirty="0">
                <a:solidFill>
                  <a:srgbClr val="0070C0"/>
                </a:solidFill>
              </a:rPr>
              <a:t>LTV </a:t>
            </a:r>
            <a:r>
              <a:rPr lang="ko-KR" altLang="en-US" sz="1100" b="1" dirty="0">
                <a:solidFill>
                  <a:srgbClr val="0070C0"/>
                </a:solidFill>
              </a:rPr>
              <a:t>기준 하위 </a:t>
            </a:r>
            <a:r>
              <a:rPr lang="en-US" altLang="ko-KR" sz="1100" b="1" dirty="0">
                <a:solidFill>
                  <a:srgbClr val="0070C0"/>
                </a:solidFill>
              </a:rPr>
              <a:t>95%</a:t>
            </a:r>
            <a:r>
              <a:rPr lang="ko-KR" altLang="en-US" sz="1100" b="1" dirty="0">
                <a:solidFill>
                  <a:srgbClr val="0070C0"/>
                </a:solidFill>
              </a:rPr>
              <a:t> 고객</a:t>
            </a:r>
          </a:p>
        </p:txBody>
      </p:sp>
    </p:spTree>
    <p:extLst>
      <p:ext uri="{BB962C8B-B14F-4D97-AF65-F5344CB8AC3E}">
        <p14:creationId xmlns:p14="http://schemas.microsoft.com/office/powerpoint/2010/main" val="32466635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1E80B0CA-C2E8-8CC7-6193-0667EDE4D8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486" y="2508355"/>
            <a:ext cx="5696715" cy="386333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4E609AF-F4CF-6114-37A7-BF01CF23303A}"/>
              </a:ext>
            </a:extLst>
          </p:cNvPr>
          <p:cNvSpPr txBox="1"/>
          <p:nvPr/>
        </p:nvSpPr>
        <p:spPr>
          <a:xfrm>
            <a:off x="7323566" y="145601"/>
            <a:ext cx="475994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buNone/>
            </a:pPr>
            <a:r>
              <a:rPr lang="en" altLang="ko-KR" sz="1400" dirty="0">
                <a:solidFill>
                  <a:schemeClr val="tx2"/>
                </a:solidFill>
                <a:latin typeface="Noto Sans Syriac SemiBold" panose="020B0502040504020204" pitchFamily="34" charset="0"/>
                <a:cs typeface="Noto Sans Syriac SemiBold" panose="020B0502040504020204" pitchFamily="34" charset="0"/>
              </a:rPr>
              <a:t>PBL 2. </a:t>
            </a:r>
            <a:r>
              <a:rPr lang="ko-KR" altLang="en-US" sz="1400" dirty="0">
                <a:solidFill>
                  <a:schemeClr val="tx2"/>
                </a:solidFill>
                <a:latin typeface="Noto Sans Syriac SemiBold" panose="020B0502040504020204" pitchFamily="34" charset="0"/>
                <a:cs typeface="Noto Sans Syriac SemiBold" panose="020B0502040504020204" pitchFamily="34" charset="0"/>
              </a:rPr>
              <a:t>서비스 분석</a:t>
            </a:r>
            <a:r>
              <a:rPr lang="en-US" altLang="ko-KR" sz="1400" dirty="0">
                <a:solidFill>
                  <a:schemeClr val="tx2"/>
                </a:solidFill>
                <a:latin typeface="Noto Sans Syriac SemiBold" panose="020B0502040504020204" pitchFamily="34" charset="0"/>
                <a:cs typeface="Noto Sans Syriac SemiBold" panose="020B0502040504020204" pitchFamily="34" charset="0"/>
              </a:rPr>
              <a:t>_26.01.26</a:t>
            </a:r>
            <a:endParaRPr lang="ko-KR" altLang="en-US" sz="1400" dirty="0">
              <a:solidFill>
                <a:schemeClr val="tx2"/>
              </a:solidFill>
              <a:latin typeface="Noto Sans Syriac SemiBold" panose="020B0502040504020204" pitchFamily="34" charset="0"/>
              <a:cs typeface="Noto Sans Syriac SemiBold" panose="020B0502040504020204" pitchFamily="34" charset="0"/>
            </a:endParaRPr>
          </a:p>
        </p:txBody>
      </p:sp>
      <p:pic>
        <p:nvPicPr>
          <p:cNvPr id="5" name="그림 4" descr="텍스트, 그래픽, 로고, 그래픽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161A6D3-B730-0C81-34B0-707E153186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-175383"/>
            <a:ext cx="1707878" cy="1707878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5C2E9628-0085-F498-FF3F-E623F6A1C9B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4711" t="6953" r="23011" b="3276"/>
          <a:stretch>
            <a:fillRect/>
          </a:stretch>
        </p:blipFill>
        <p:spPr>
          <a:xfrm>
            <a:off x="6470554" y="2508354"/>
            <a:ext cx="4719415" cy="3863340"/>
          </a:xfrm>
          <a:prstGeom prst="rect">
            <a:avLst/>
          </a:prstGeom>
        </p:spPr>
      </p:pic>
      <p:sp>
        <p:nvSpPr>
          <p:cNvPr id="8" name="제목 1">
            <a:extLst>
              <a:ext uri="{FF2B5EF4-FFF2-40B4-BE49-F238E27FC236}">
                <a16:creationId xmlns:a16="http://schemas.microsoft.com/office/drawing/2014/main" id="{E5042541-30F3-D759-C238-3B7F8B3680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19673"/>
            <a:ext cx="10515600" cy="571015"/>
          </a:xfrm>
          <a:solidFill>
            <a:srgbClr val="FFCB3C"/>
          </a:solidFill>
        </p:spPr>
        <p:txBody>
          <a:bodyPr>
            <a:noAutofit/>
          </a:bodyPr>
          <a:lstStyle/>
          <a:p>
            <a:pPr algn="ctr"/>
            <a:r>
              <a:rPr kumimoji="1" lang="ko-KR" altLang="en-US" sz="2000" b="1" dirty="0">
                <a:solidFill>
                  <a:schemeClr val="tx2"/>
                </a:solidFill>
              </a:rPr>
              <a:t>대도시</a:t>
            </a:r>
            <a:r>
              <a:rPr kumimoji="1" lang="en-US" altLang="ko-KR" sz="2000" b="1" dirty="0">
                <a:solidFill>
                  <a:schemeClr val="tx2"/>
                </a:solidFill>
              </a:rPr>
              <a:t>•</a:t>
            </a:r>
            <a:r>
              <a:rPr kumimoji="1" lang="ko-KR" altLang="en-US" sz="2000" b="1" dirty="0">
                <a:solidFill>
                  <a:schemeClr val="tx2"/>
                </a:solidFill>
              </a:rPr>
              <a:t>경제 중심 지역 중심으로 고가치 고객의 수가 집중된다</a:t>
            </a:r>
            <a:endParaRPr kumimoji="1" lang="ko-KR" altLang="en-US" sz="2000" dirty="0">
              <a:solidFill>
                <a:schemeClr val="tx2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10C0847-2D5E-B317-BE9F-10FF3AD5BBAB}"/>
              </a:ext>
            </a:extLst>
          </p:cNvPr>
          <p:cNvSpPr txBox="1"/>
          <p:nvPr/>
        </p:nvSpPr>
        <p:spPr>
          <a:xfrm>
            <a:off x="1455958" y="1948829"/>
            <a:ext cx="389020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600" b="1" dirty="0"/>
              <a:t>&lt;</a:t>
            </a:r>
            <a:r>
              <a:rPr lang="ko-KR" altLang="en-US" sz="1600" b="1" dirty="0"/>
              <a:t> 고가치 고객의 지역적</a:t>
            </a:r>
            <a:r>
              <a:rPr lang="en-US" altLang="ko-KR" sz="1600" b="1" dirty="0"/>
              <a:t>(state)</a:t>
            </a:r>
            <a:r>
              <a:rPr lang="ko-KR" altLang="en-US" sz="1600" b="1" dirty="0"/>
              <a:t> 분포 </a:t>
            </a:r>
            <a:r>
              <a:rPr lang="ko-KR" altLang="en-US" sz="1600" dirty="0"/>
              <a:t> </a:t>
            </a:r>
            <a:r>
              <a:rPr lang="en-US" altLang="ko-KR" sz="1600" b="1" dirty="0"/>
              <a:t>&gt;</a:t>
            </a:r>
          </a:p>
        </p:txBody>
      </p:sp>
      <p:sp>
        <p:nvSpPr>
          <p:cNvPr id="10" name="모서리가 둥근 직사각형 9">
            <a:extLst>
              <a:ext uri="{FF2B5EF4-FFF2-40B4-BE49-F238E27FC236}">
                <a16:creationId xmlns:a16="http://schemas.microsoft.com/office/drawing/2014/main" id="{7A7FC6F2-01EF-9341-C44E-1096D0C60992}"/>
              </a:ext>
            </a:extLst>
          </p:cNvPr>
          <p:cNvSpPr/>
          <p:nvPr/>
        </p:nvSpPr>
        <p:spPr>
          <a:xfrm>
            <a:off x="1170257" y="2729577"/>
            <a:ext cx="2177100" cy="3444631"/>
          </a:xfrm>
          <a:prstGeom prst="roundRect">
            <a:avLst>
              <a:gd name="adj" fmla="val 7667"/>
            </a:avLst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1" name="오른쪽 화살표[R] 10">
            <a:extLst>
              <a:ext uri="{FF2B5EF4-FFF2-40B4-BE49-F238E27FC236}">
                <a16:creationId xmlns:a16="http://schemas.microsoft.com/office/drawing/2014/main" id="{4EEFAA0B-A743-A62E-65F5-B02356252967}"/>
              </a:ext>
            </a:extLst>
          </p:cNvPr>
          <p:cNvSpPr/>
          <p:nvPr/>
        </p:nvSpPr>
        <p:spPr>
          <a:xfrm>
            <a:off x="3632835" y="4834890"/>
            <a:ext cx="4926330" cy="502920"/>
          </a:xfrm>
          <a:prstGeom prst="righ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2" name="모서리가 둥근 직사각형 11">
            <a:extLst>
              <a:ext uri="{FF2B5EF4-FFF2-40B4-BE49-F238E27FC236}">
                <a16:creationId xmlns:a16="http://schemas.microsoft.com/office/drawing/2014/main" id="{77FC50B0-EDC2-8412-4C26-D79928D71881}"/>
              </a:ext>
            </a:extLst>
          </p:cNvPr>
          <p:cNvSpPr/>
          <p:nvPr/>
        </p:nvSpPr>
        <p:spPr>
          <a:xfrm>
            <a:off x="9269730" y="4366260"/>
            <a:ext cx="1257300" cy="1097280"/>
          </a:xfrm>
          <a:prstGeom prst="roundRect">
            <a:avLst/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CD34040-5D81-B957-7E93-2C79A2DB21A7}"/>
              </a:ext>
            </a:extLst>
          </p:cNvPr>
          <p:cNvSpPr txBox="1"/>
          <p:nvPr/>
        </p:nvSpPr>
        <p:spPr>
          <a:xfrm>
            <a:off x="4407282" y="2889106"/>
            <a:ext cx="1789272" cy="8876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ko-KR" sz="1200" b="1" dirty="0">
                <a:solidFill>
                  <a:srgbClr val="4C6B03"/>
                </a:solidFill>
              </a:rPr>
              <a:t>SP: </a:t>
            </a:r>
            <a:r>
              <a:rPr kumimoji="1" lang="ko-KR" altLang="en-US" sz="1200" dirty="0">
                <a:solidFill>
                  <a:srgbClr val="0070C0"/>
                </a:solidFill>
              </a:rPr>
              <a:t>상파울루</a:t>
            </a:r>
            <a:r>
              <a:rPr kumimoji="1" lang="ko-KR" altLang="en-US" sz="1200" dirty="0">
                <a:solidFill>
                  <a:schemeClr val="tx2"/>
                </a:solidFill>
              </a:rPr>
              <a:t> </a:t>
            </a:r>
            <a:r>
              <a:rPr kumimoji="1" lang="en-US" altLang="ko-KR" sz="1200" dirty="0">
                <a:solidFill>
                  <a:schemeClr val="tx2"/>
                </a:solidFill>
              </a:rPr>
              <a:t> 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ko-KR" sz="1200" b="1" dirty="0">
                <a:solidFill>
                  <a:srgbClr val="4C6B03"/>
                </a:solidFill>
              </a:rPr>
              <a:t>RJ:</a:t>
            </a:r>
            <a:r>
              <a:rPr kumimoji="1" lang="ko-KR" altLang="en-US" sz="1200" b="1" dirty="0">
                <a:solidFill>
                  <a:srgbClr val="4C6B03"/>
                </a:solidFill>
              </a:rPr>
              <a:t> </a:t>
            </a:r>
            <a:r>
              <a:rPr kumimoji="1" lang="ko-KR" altLang="en-US" sz="1200" dirty="0">
                <a:solidFill>
                  <a:srgbClr val="0070C0"/>
                </a:solidFill>
              </a:rPr>
              <a:t>리우데자네이루</a:t>
            </a:r>
            <a:endParaRPr kumimoji="1" lang="en-US" altLang="ko-KR" sz="1200" dirty="0">
              <a:solidFill>
                <a:srgbClr val="0070C0"/>
              </a:solidFill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ko-KR" sz="1200" b="1" dirty="0">
                <a:solidFill>
                  <a:srgbClr val="4C6B03"/>
                </a:solidFill>
              </a:rPr>
              <a:t>MG:</a:t>
            </a:r>
            <a:r>
              <a:rPr kumimoji="1" lang="ko-KR" altLang="en-US" sz="1200" b="1" dirty="0">
                <a:solidFill>
                  <a:srgbClr val="4C6B03"/>
                </a:solidFill>
              </a:rPr>
              <a:t> </a:t>
            </a:r>
            <a:r>
              <a:rPr kumimoji="1" lang="ko-KR" altLang="en-US" sz="1200" dirty="0" err="1">
                <a:solidFill>
                  <a:srgbClr val="0070C0"/>
                </a:solidFill>
              </a:rPr>
              <a:t>미나스제라이스</a:t>
            </a:r>
            <a:endParaRPr kumimoji="1" lang="ko-KR" altLang="en-US" sz="1200" dirty="0">
              <a:solidFill>
                <a:srgbClr val="0070C0"/>
              </a:solidFill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A1DA69C8-17AC-4E45-6A8A-F5623009B14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84740" y="5878703"/>
            <a:ext cx="1084580" cy="492991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24BD52C7-B559-71F3-D718-181AB96ED0EC}"/>
              </a:ext>
            </a:extLst>
          </p:cNvPr>
          <p:cNvSpPr txBox="1"/>
          <p:nvPr/>
        </p:nvSpPr>
        <p:spPr>
          <a:xfrm>
            <a:off x="9683084" y="3644467"/>
            <a:ext cx="2350832" cy="10284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1400" b="1" dirty="0">
                <a:solidFill>
                  <a:srgbClr val="0E0E0E"/>
                </a:solidFill>
                <a:highlight>
                  <a:srgbClr val="FFFF00"/>
                </a:highlight>
                <a:latin typeface=".AppleSystemUIFont"/>
              </a:rPr>
              <a:t>브라질  </a:t>
            </a:r>
            <a:r>
              <a:rPr lang="ko-KR" altLang="en-US" sz="1400" b="1" dirty="0" err="1">
                <a:solidFill>
                  <a:srgbClr val="0E0E0E"/>
                </a:solidFill>
                <a:highlight>
                  <a:srgbClr val="FFFF00"/>
                </a:highlight>
                <a:latin typeface=".AppleSystemUIFont"/>
              </a:rPr>
              <a:t>경제∙소비의</a:t>
            </a:r>
            <a:r>
              <a:rPr lang="ko-KR" altLang="en-US" sz="1400" b="1" dirty="0">
                <a:solidFill>
                  <a:srgbClr val="0E0E0E"/>
                </a:solidFill>
                <a:highlight>
                  <a:srgbClr val="FFFF00"/>
                </a:highlight>
                <a:latin typeface=".AppleSystemUIFont"/>
              </a:rPr>
              <a:t> 중심지 </a:t>
            </a:r>
            <a:endParaRPr lang="en-US" altLang="ko-KR" sz="1400" b="1" dirty="0">
              <a:solidFill>
                <a:srgbClr val="0E0E0E"/>
              </a:solidFill>
              <a:highlight>
                <a:srgbClr val="FFFF00"/>
              </a:highlight>
              <a:latin typeface=".AppleSystemUIFont"/>
            </a:endParaRPr>
          </a:p>
          <a:p>
            <a:pPr algn="ctr">
              <a:lnSpc>
                <a:spcPct val="150000"/>
              </a:lnSpc>
            </a:pPr>
            <a:r>
              <a:rPr lang="ko-KR" altLang="en-US" sz="1400" b="1" dirty="0">
                <a:solidFill>
                  <a:srgbClr val="0E0E0E"/>
                </a:solidFill>
                <a:highlight>
                  <a:srgbClr val="FFFF00"/>
                </a:highlight>
                <a:latin typeface=".AppleSystemUIFont"/>
              </a:rPr>
              <a:t>남동부 대도시권</a:t>
            </a:r>
            <a:endParaRPr lang="en-US" altLang="ko-KR" sz="1400" b="1" dirty="0">
              <a:solidFill>
                <a:srgbClr val="C00000"/>
              </a:solidFill>
              <a:highlight>
                <a:srgbClr val="FFFF00"/>
              </a:highlight>
              <a:latin typeface=".AppleSystemUIFont"/>
            </a:endParaRPr>
          </a:p>
          <a:p>
            <a:pPr algn="ctr">
              <a:lnSpc>
                <a:spcPct val="150000"/>
              </a:lnSpc>
            </a:pPr>
            <a:endParaRPr lang="en-US" altLang="ko-KR" sz="1400" b="1" dirty="0">
              <a:solidFill>
                <a:srgbClr val="0E0E0E"/>
              </a:solidFill>
              <a:highlight>
                <a:srgbClr val="FFFF00"/>
              </a:highlight>
              <a:latin typeface=".AppleSystemUIFont"/>
            </a:endParaRPr>
          </a:p>
        </p:txBody>
      </p:sp>
    </p:spTree>
    <p:extLst>
      <p:ext uri="{BB962C8B-B14F-4D97-AF65-F5344CB8AC3E}">
        <p14:creationId xmlns:p14="http://schemas.microsoft.com/office/powerpoint/2010/main" val="20010572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00F480-5CDE-727E-3633-8FB807F60A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직사각형 22">
            <a:extLst>
              <a:ext uri="{FF2B5EF4-FFF2-40B4-BE49-F238E27FC236}">
                <a16:creationId xmlns:a16="http://schemas.microsoft.com/office/drawing/2014/main" id="{537A60CF-6C7B-7672-CE44-851B79331461}"/>
              </a:ext>
            </a:extLst>
          </p:cNvPr>
          <p:cNvSpPr/>
          <p:nvPr/>
        </p:nvSpPr>
        <p:spPr>
          <a:xfrm>
            <a:off x="4367598" y="2356982"/>
            <a:ext cx="3452609" cy="4226697"/>
          </a:xfrm>
          <a:prstGeom prst="rect">
            <a:avLst/>
          </a:prstGeom>
          <a:noFill/>
          <a:ln w="5715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A388DCD-506C-20FC-41D0-A9F71C8A0AA7}"/>
              </a:ext>
            </a:extLst>
          </p:cNvPr>
          <p:cNvSpPr txBox="1"/>
          <p:nvPr/>
        </p:nvSpPr>
        <p:spPr>
          <a:xfrm>
            <a:off x="7323566" y="145601"/>
            <a:ext cx="475994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buNone/>
            </a:pPr>
            <a:r>
              <a:rPr lang="en" altLang="ko-KR" sz="1400" dirty="0">
                <a:solidFill>
                  <a:schemeClr val="tx2"/>
                </a:solidFill>
                <a:latin typeface="Noto Sans Syriac SemiBold" panose="020B0502040504020204" pitchFamily="34" charset="0"/>
                <a:cs typeface="Noto Sans Syriac SemiBold" panose="020B0502040504020204" pitchFamily="34" charset="0"/>
              </a:rPr>
              <a:t>PBL 2. </a:t>
            </a:r>
            <a:r>
              <a:rPr lang="ko-KR" altLang="en-US" sz="1400" dirty="0">
                <a:solidFill>
                  <a:schemeClr val="tx2"/>
                </a:solidFill>
                <a:latin typeface="Noto Sans Syriac SemiBold" panose="020B0502040504020204" pitchFamily="34" charset="0"/>
                <a:cs typeface="Noto Sans Syriac SemiBold" panose="020B0502040504020204" pitchFamily="34" charset="0"/>
              </a:rPr>
              <a:t>서비스 분석</a:t>
            </a:r>
            <a:r>
              <a:rPr lang="en-US" altLang="ko-KR" sz="1400" dirty="0">
                <a:solidFill>
                  <a:schemeClr val="tx2"/>
                </a:solidFill>
                <a:latin typeface="Noto Sans Syriac SemiBold" panose="020B0502040504020204" pitchFamily="34" charset="0"/>
                <a:cs typeface="Noto Sans Syriac SemiBold" panose="020B0502040504020204" pitchFamily="34" charset="0"/>
              </a:rPr>
              <a:t>_26.01.26</a:t>
            </a:r>
            <a:endParaRPr lang="ko-KR" altLang="en-US" sz="1400" dirty="0">
              <a:solidFill>
                <a:schemeClr val="tx2"/>
              </a:solidFill>
              <a:latin typeface="Noto Sans Syriac SemiBold" panose="020B0502040504020204" pitchFamily="34" charset="0"/>
              <a:cs typeface="Noto Sans Syriac SemiBold" panose="020B0502040504020204" pitchFamily="34" charset="0"/>
            </a:endParaRPr>
          </a:p>
        </p:txBody>
      </p:sp>
      <p:pic>
        <p:nvPicPr>
          <p:cNvPr id="5" name="그림 4" descr="텍스트, 그래픽, 로고, 그래픽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EDB42DA-29DE-EAC6-3743-A92BC26614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75383"/>
            <a:ext cx="1707878" cy="1707878"/>
          </a:xfrm>
          <a:prstGeom prst="rect">
            <a:avLst/>
          </a:prstGeom>
        </p:spPr>
      </p:pic>
      <p:sp>
        <p:nvSpPr>
          <p:cNvPr id="8" name="제목 1">
            <a:extLst>
              <a:ext uri="{FF2B5EF4-FFF2-40B4-BE49-F238E27FC236}">
                <a16:creationId xmlns:a16="http://schemas.microsoft.com/office/drawing/2014/main" id="{854F0BEC-BAAC-8F5A-8E2A-60585E2EA6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19673"/>
            <a:ext cx="10515600" cy="571015"/>
          </a:xfrm>
          <a:solidFill>
            <a:srgbClr val="FFCB3C"/>
          </a:solidFill>
        </p:spPr>
        <p:txBody>
          <a:bodyPr>
            <a:noAutofit/>
          </a:bodyPr>
          <a:lstStyle/>
          <a:p>
            <a:pPr algn="ctr"/>
            <a:r>
              <a:rPr kumimoji="1" lang="ko-KR" altLang="en-US" sz="2000" b="1" dirty="0">
                <a:solidFill>
                  <a:schemeClr val="tx2"/>
                </a:solidFill>
              </a:rPr>
              <a:t>고가치 고객 세그먼트에 집중한 </a:t>
            </a:r>
            <a:r>
              <a:rPr kumimoji="1" lang="en-US" altLang="ko-KR" sz="2000" b="1" dirty="0">
                <a:solidFill>
                  <a:schemeClr val="tx2"/>
                </a:solidFill>
              </a:rPr>
              <a:t>AARRR </a:t>
            </a:r>
            <a:r>
              <a:rPr kumimoji="1" lang="ko-KR" altLang="en-US" sz="2000" b="1" dirty="0">
                <a:solidFill>
                  <a:schemeClr val="tx2"/>
                </a:solidFill>
              </a:rPr>
              <a:t>재설계 전략</a:t>
            </a:r>
            <a:endParaRPr kumimoji="1" lang="ko-KR" altLang="en-US" sz="2000" dirty="0">
              <a:solidFill>
                <a:schemeClr val="tx2"/>
              </a:solidFill>
            </a:endParaRPr>
          </a:p>
        </p:txBody>
      </p:sp>
      <p:sp>
        <p:nvSpPr>
          <p:cNvPr id="20" name="모서리가 둥근 직사각형 19">
            <a:extLst>
              <a:ext uri="{FF2B5EF4-FFF2-40B4-BE49-F238E27FC236}">
                <a16:creationId xmlns:a16="http://schemas.microsoft.com/office/drawing/2014/main" id="{AA483DD0-0E83-946E-0DAB-C1372C64666B}"/>
              </a:ext>
            </a:extLst>
          </p:cNvPr>
          <p:cNvSpPr/>
          <p:nvPr/>
        </p:nvSpPr>
        <p:spPr>
          <a:xfrm>
            <a:off x="4563755" y="1865687"/>
            <a:ext cx="3085744" cy="666206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b="1" dirty="0">
                <a:solidFill>
                  <a:schemeClr val="bg1"/>
                </a:solidFill>
              </a:rPr>
              <a:t>Activation</a:t>
            </a:r>
          </a:p>
          <a:p>
            <a:pPr algn="ctr"/>
            <a:r>
              <a:rPr kumimoji="1" lang="ko-KR" altLang="en-US" sz="1200" dirty="0" err="1">
                <a:solidFill>
                  <a:schemeClr val="bg1"/>
                </a:solidFill>
              </a:rPr>
              <a:t>고가치</a:t>
            </a:r>
            <a:r>
              <a:rPr kumimoji="1" lang="ko-KR" altLang="en-US" sz="1200" dirty="0">
                <a:solidFill>
                  <a:schemeClr val="bg1"/>
                </a:solidFill>
              </a:rPr>
              <a:t> 고객 분포 높은 지역 집중</a:t>
            </a:r>
            <a:r>
              <a:rPr kumimoji="1" lang="en-US" altLang="ko-KR" sz="1200" dirty="0">
                <a:solidFill>
                  <a:schemeClr val="bg1"/>
                </a:solidFill>
              </a:rPr>
              <a:t> </a:t>
            </a:r>
            <a:endParaRPr kumimoji="1" lang="ko-KR" altLang="en-US" sz="1200" dirty="0">
              <a:solidFill>
                <a:schemeClr val="bg1"/>
              </a:solidFill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BEE3B2C1-624D-80FD-3E44-E1268C02DE88}"/>
              </a:ext>
            </a:extLst>
          </p:cNvPr>
          <p:cNvSpPr/>
          <p:nvPr/>
        </p:nvSpPr>
        <p:spPr>
          <a:xfrm>
            <a:off x="821342" y="2356983"/>
            <a:ext cx="3351950" cy="4226697"/>
          </a:xfrm>
          <a:prstGeom prst="rect">
            <a:avLst/>
          </a:prstGeom>
          <a:noFill/>
          <a:ln w="5715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" name="모서리가 둥근 직사각형 1">
            <a:extLst>
              <a:ext uri="{FF2B5EF4-FFF2-40B4-BE49-F238E27FC236}">
                <a16:creationId xmlns:a16="http://schemas.microsoft.com/office/drawing/2014/main" id="{944E5E22-29F1-0395-56B1-A847A8FE74AE}"/>
              </a:ext>
            </a:extLst>
          </p:cNvPr>
          <p:cNvSpPr/>
          <p:nvPr/>
        </p:nvSpPr>
        <p:spPr>
          <a:xfrm>
            <a:off x="991547" y="1865687"/>
            <a:ext cx="3070272" cy="666206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b="1" dirty="0">
                <a:solidFill>
                  <a:schemeClr val="bg1"/>
                </a:solidFill>
              </a:rPr>
              <a:t> </a:t>
            </a:r>
            <a:r>
              <a:rPr kumimoji="1" lang="en-US" altLang="ko-KR" b="1" dirty="0">
                <a:solidFill>
                  <a:schemeClr val="bg1"/>
                </a:solidFill>
              </a:rPr>
              <a:t>Acquisition</a:t>
            </a:r>
          </a:p>
          <a:p>
            <a:pPr algn="ctr"/>
            <a:r>
              <a:rPr kumimoji="1" lang="ko-KR" altLang="en-US" sz="1400" dirty="0">
                <a:solidFill>
                  <a:schemeClr val="bg1"/>
                </a:solidFill>
              </a:rPr>
              <a:t>카테고리 기반 </a:t>
            </a:r>
            <a:r>
              <a:rPr kumimoji="1" lang="ko-KR" altLang="en-US" sz="1400" dirty="0" err="1">
                <a:solidFill>
                  <a:schemeClr val="bg1"/>
                </a:solidFill>
              </a:rPr>
              <a:t>고가치</a:t>
            </a:r>
            <a:r>
              <a:rPr kumimoji="1" lang="ko-KR" altLang="en-US" sz="1400" dirty="0">
                <a:solidFill>
                  <a:schemeClr val="bg1"/>
                </a:solidFill>
              </a:rPr>
              <a:t> 고객 유입</a:t>
            </a:r>
            <a:r>
              <a:rPr kumimoji="1" lang="en-US" altLang="ko-KR" sz="1400" dirty="0">
                <a:solidFill>
                  <a:schemeClr val="bg1"/>
                </a:solidFill>
              </a:rPr>
              <a:t> </a:t>
            </a:r>
            <a:endParaRPr kumimoji="1" lang="ko-KR" altLang="en-US" sz="1400" dirty="0">
              <a:solidFill>
                <a:schemeClr val="bg1"/>
              </a:solidFill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1CAAB196-D77F-08F2-795D-711D2BDFF958}"/>
              </a:ext>
            </a:extLst>
          </p:cNvPr>
          <p:cNvSpPr/>
          <p:nvPr/>
        </p:nvSpPr>
        <p:spPr>
          <a:xfrm>
            <a:off x="8001850" y="2356981"/>
            <a:ext cx="3351950" cy="4226697"/>
          </a:xfrm>
          <a:prstGeom prst="rect">
            <a:avLst/>
          </a:prstGeom>
          <a:noFill/>
          <a:ln w="5715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AC6FFD1-5BFE-363A-2EB0-476E850FAB37}"/>
              </a:ext>
            </a:extLst>
          </p:cNvPr>
          <p:cNvSpPr txBox="1"/>
          <p:nvPr/>
        </p:nvSpPr>
        <p:spPr>
          <a:xfrm>
            <a:off x="898434" y="2692378"/>
            <a:ext cx="3271476" cy="16158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b="1" dirty="0">
                <a:solidFill>
                  <a:srgbClr val="4C6B03"/>
                </a:solidFill>
              </a:rPr>
              <a:t>Why?</a:t>
            </a:r>
          </a:p>
          <a:p>
            <a:pPr marL="142875" indent="-142875">
              <a:lnSpc>
                <a:spcPct val="150000"/>
              </a:lnSpc>
            </a:pPr>
            <a:r>
              <a:rPr kumimoji="1" lang="en-US" altLang="ko-KR" sz="1400" dirty="0">
                <a:solidFill>
                  <a:srgbClr val="002060"/>
                </a:solidFill>
              </a:rPr>
              <a:t>-</a:t>
            </a:r>
            <a:r>
              <a:rPr kumimoji="1" lang="ko-KR" altLang="en-US" sz="1400" dirty="0">
                <a:solidFill>
                  <a:srgbClr val="002060"/>
                </a:solidFill>
              </a:rPr>
              <a:t> 특정 카테고리에서 </a:t>
            </a:r>
            <a:r>
              <a:rPr kumimoji="1" lang="ko-KR" altLang="en-US" sz="1400" dirty="0" err="1">
                <a:solidFill>
                  <a:srgbClr val="002060"/>
                </a:solidFill>
              </a:rPr>
              <a:t>고가치</a:t>
            </a:r>
            <a:r>
              <a:rPr kumimoji="1" lang="ko-KR" altLang="en-US" sz="1400" dirty="0">
                <a:solidFill>
                  <a:srgbClr val="002060"/>
                </a:solidFill>
              </a:rPr>
              <a:t> 고객 발생   가능성 높음</a:t>
            </a:r>
            <a:endParaRPr kumimoji="1" lang="en-US" altLang="ko-KR" sz="1400" dirty="0">
              <a:solidFill>
                <a:srgbClr val="002060"/>
              </a:solidFill>
            </a:endParaRPr>
          </a:p>
          <a:p>
            <a:pPr>
              <a:lnSpc>
                <a:spcPct val="150000"/>
              </a:lnSpc>
            </a:pPr>
            <a:r>
              <a:rPr kumimoji="1" lang="en-US" altLang="ko-KR" sz="1400" dirty="0">
                <a:solidFill>
                  <a:srgbClr val="002060"/>
                </a:solidFill>
              </a:rPr>
              <a:t>-</a:t>
            </a:r>
            <a:r>
              <a:rPr kumimoji="1" lang="ko-KR" altLang="en-US" sz="1400" dirty="0">
                <a:solidFill>
                  <a:srgbClr val="002060"/>
                </a:solidFill>
              </a:rPr>
              <a:t> 질 높은 유입이 매출에 중요</a:t>
            </a:r>
            <a:endParaRPr kumimoji="1" lang="en-US" altLang="ko-KR" sz="1400" dirty="0">
              <a:solidFill>
                <a:srgbClr val="002060"/>
              </a:solidFill>
            </a:endParaRPr>
          </a:p>
          <a:p>
            <a:endParaRPr kumimoji="1" lang="ko-KR" altLang="en-US" b="1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1620D00-9DB1-14D6-86B4-F7DC73988F00}"/>
              </a:ext>
            </a:extLst>
          </p:cNvPr>
          <p:cNvSpPr txBox="1"/>
          <p:nvPr/>
        </p:nvSpPr>
        <p:spPr>
          <a:xfrm>
            <a:off x="903948" y="5383806"/>
            <a:ext cx="2110514" cy="11124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ko-KR" b="1" dirty="0">
                <a:solidFill>
                  <a:srgbClr val="4C6B03"/>
                </a:solidFill>
              </a:rPr>
              <a:t>Acquisition</a:t>
            </a:r>
            <a:r>
              <a:rPr kumimoji="1" lang="ko-KR" altLang="en-US" b="1" dirty="0">
                <a:solidFill>
                  <a:srgbClr val="4C6B03"/>
                </a:solidFill>
              </a:rPr>
              <a:t> </a:t>
            </a:r>
            <a:r>
              <a:rPr kumimoji="1" lang="en-US" altLang="ko-KR" b="1" dirty="0">
                <a:solidFill>
                  <a:srgbClr val="4C6B03"/>
                </a:solidFill>
              </a:rPr>
              <a:t>KPI</a:t>
            </a:r>
            <a:r>
              <a:rPr kumimoji="1" lang="ko-KR" altLang="en-US" b="1" dirty="0">
                <a:solidFill>
                  <a:srgbClr val="4C6B03"/>
                </a:solidFill>
              </a:rPr>
              <a:t> </a:t>
            </a:r>
            <a:r>
              <a:rPr kumimoji="1" lang="en-US" altLang="ko-KR" b="1" dirty="0">
                <a:solidFill>
                  <a:srgbClr val="4C6B03"/>
                </a:solidFill>
              </a:rPr>
              <a:t>:</a:t>
            </a:r>
            <a:r>
              <a:rPr kumimoji="1" lang="ko-KR" altLang="en-US" b="1" dirty="0">
                <a:solidFill>
                  <a:srgbClr val="4C6B03"/>
                </a:solidFill>
              </a:rPr>
              <a:t> </a:t>
            </a:r>
            <a:endParaRPr kumimoji="1" lang="en-US" altLang="ko-KR" b="1" dirty="0">
              <a:solidFill>
                <a:srgbClr val="4C6B03"/>
              </a:solidFill>
            </a:endParaRPr>
          </a:p>
          <a:p>
            <a:pPr>
              <a:lnSpc>
                <a:spcPct val="150000"/>
              </a:lnSpc>
            </a:pPr>
            <a:r>
              <a:rPr kumimoji="1" lang="en-US" altLang="ko-KR" sz="1400" dirty="0">
                <a:solidFill>
                  <a:srgbClr val="002060"/>
                </a:solidFill>
              </a:rPr>
              <a:t>-</a:t>
            </a:r>
            <a:r>
              <a:rPr kumimoji="1" lang="ko-KR" altLang="en-US" sz="1400" dirty="0">
                <a:solidFill>
                  <a:srgbClr val="002060"/>
                </a:solidFill>
              </a:rPr>
              <a:t> </a:t>
            </a:r>
            <a:r>
              <a:rPr kumimoji="1" lang="ko-KR" altLang="en-US" sz="1400" dirty="0" err="1">
                <a:solidFill>
                  <a:srgbClr val="002060"/>
                </a:solidFill>
              </a:rPr>
              <a:t>고가치</a:t>
            </a:r>
            <a:r>
              <a:rPr kumimoji="1" lang="ko-KR" altLang="en-US" sz="1400" dirty="0">
                <a:solidFill>
                  <a:srgbClr val="002060"/>
                </a:solidFill>
              </a:rPr>
              <a:t> 고객 비중</a:t>
            </a:r>
            <a:endParaRPr kumimoji="1" lang="en-US" altLang="ko-KR" sz="1400" dirty="0">
              <a:solidFill>
                <a:srgbClr val="002060"/>
              </a:solidFill>
            </a:endParaRPr>
          </a:p>
          <a:p>
            <a:pPr>
              <a:lnSpc>
                <a:spcPct val="150000"/>
              </a:lnSpc>
            </a:pPr>
            <a:r>
              <a:rPr kumimoji="1" lang="en-US" altLang="ko-KR" sz="1400" dirty="0">
                <a:solidFill>
                  <a:srgbClr val="002060"/>
                </a:solidFill>
              </a:rPr>
              <a:t>-</a:t>
            </a:r>
            <a:r>
              <a:rPr kumimoji="1" lang="ko-KR" altLang="en-US" sz="1400" dirty="0">
                <a:solidFill>
                  <a:srgbClr val="002060"/>
                </a:solidFill>
              </a:rPr>
              <a:t> 첫 구매 </a:t>
            </a:r>
            <a:r>
              <a:rPr kumimoji="1" lang="ko-KR" altLang="en-US" sz="1400" dirty="0" err="1">
                <a:solidFill>
                  <a:srgbClr val="002060"/>
                </a:solidFill>
              </a:rPr>
              <a:t>객단가</a:t>
            </a:r>
            <a:r>
              <a:rPr kumimoji="1" lang="ko-KR" altLang="en-US" sz="1400" dirty="0">
                <a:solidFill>
                  <a:srgbClr val="002060"/>
                </a:solidFill>
              </a:rPr>
              <a:t> </a:t>
            </a:r>
            <a:r>
              <a:rPr kumimoji="1" lang="en-US" altLang="ko-KR" sz="1400" dirty="0">
                <a:solidFill>
                  <a:srgbClr val="002060"/>
                </a:solidFill>
              </a:rPr>
              <a:t>(AOV)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4CA67CA-97AE-B6D8-3D34-505295FC264B}"/>
              </a:ext>
            </a:extLst>
          </p:cNvPr>
          <p:cNvSpPr txBox="1"/>
          <p:nvPr/>
        </p:nvSpPr>
        <p:spPr>
          <a:xfrm>
            <a:off x="913953" y="4042590"/>
            <a:ext cx="2797561" cy="161582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b="1" dirty="0">
                <a:solidFill>
                  <a:srgbClr val="4C6B03"/>
                </a:solidFill>
              </a:rPr>
              <a:t>How?</a:t>
            </a:r>
          </a:p>
          <a:p>
            <a:pPr>
              <a:lnSpc>
                <a:spcPct val="150000"/>
              </a:lnSpc>
            </a:pPr>
            <a:r>
              <a:rPr kumimoji="1" lang="ko-KR" altLang="en-US" sz="1400" dirty="0">
                <a:solidFill>
                  <a:srgbClr val="002060"/>
                </a:solidFill>
              </a:rPr>
              <a:t>홈</a:t>
            </a:r>
            <a:r>
              <a:rPr kumimoji="1" lang="en-US" altLang="ko-KR" sz="1400" dirty="0">
                <a:solidFill>
                  <a:srgbClr val="002060"/>
                </a:solidFill>
              </a:rPr>
              <a:t>/</a:t>
            </a:r>
            <a:r>
              <a:rPr kumimoji="1" lang="ko-KR" altLang="en-US" sz="1400" dirty="0">
                <a:solidFill>
                  <a:srgbClr val="002060"/>
                </a:solidFill>
              </a:rPr>
              <a:t>검색</a:t>
            </a:r>
            <a:r>
              <a:rPr kumimoji="1" lang="en-US" altLang="ko-KR" sz="1400" dirty="0">
                <a:solidFill>
                  <a:srgbClr val="002060"/>
                </a:solidFill>
              </a:rPr>
              <a:t>/</a:t>
            </a:r>
            <a:r>
              <a:rPr kumimoji="1" lang="ko-KR" altLang="en-US" sz="1400" dirty="0">
                <a:solidFill>
                  <a:srgbClr val="002060"/>
                </a:solidFill>
              </a:rPr>
              <a:t>광고 진입점에서</a:t>
            </a:r>
            <a:endParaRPr kumimoji="1" lang="en-US" altLang="ko-KR" sz="1400" dirty="0">
              <a:solidFill>
                <a:srgbClr val="002060"/>
              </a:solidFill>
            </a:endParaRPr>
          </a:p>
          <a:p>
            <a:pPr>
              <a:lnSpc>
                <a:spcPct val="150000"/>
              </a:lnSpc>
            </a:pPr>
            <a:r>
              <a:rPr kumimoji="1" lang="ko-KR" altLang="en-US" sz="1400" dirty="0">
                <a:solidFill>
                  <a:srgbClr val="002060"/>
                </a:solidFill>
              </a:rPr>
              <a:t>시계・선물</a:t>
            </a:r>
            <a:r>
              <a:rPr kumimoji="1" lang="en-US" altLang="ko-KR" sz="1400" dirty="0">
                <a:solidFill>
                  <a:srgbClr val="002060"/>
                </a:solidFill>
              </a:rPr>
              <a:t>,</a:t>
            </a:r>
            <a:r>
              <a:rPr kumimoji="1" lang="ko-KR" altLang="en-US" sz="1400" dirty="0" err="1">
                <a:solidFill>
                  <a:srgbClr val="002060"/>
                </a:solidFill>
              </a:rPr>
              <a:t>뷰티・헬스</a:t>
            </a:r>
            <a:r>
              <a:rPr kumimoji="1" lang="en-US" altLang="ko-KR" sz="1400" dirty="0">
                <a:solidFill>
                  <a:srgbClr val="002060"/>
                </a:solidFill>
              </a:rPr>
              <a:t>,</a:t>
            </a:r>
            <a:r>
              <a:rPr kumimoji="1" lang="ko-KR" altLang="en-US" sz="1400" dirty="0">
                <a:solidFill>
                  <a:srgbClr val="002060"/>
                </a:solidFill>
              </a:rPr>
              <a:t> </a:t>
            </a:r>
            <a:r>
              <a:rPr kumimoji="1" lang="en-US" altLang="ko-KR" sz="1400" dirty="0">
                <a:solidFill>
                  <a:srgbClr val="002060"/>
                </a:solidFill>
              </a:rPr>
              <a:t>IT</a:t>
            </a:r>
            <a:r>
              <a:rPr kumimoji="1" lang="ko-KR" altLang="en-US" sz="1400" dirty="0">
                <a:solidFill>
                  <a:srgbClr val="002060"/>
                </a:solidFill>
              </a:rPr>
              <a:t>액세서리 </a:t>
            </a:r>
            <a:endParaRPr kumimoji="1" lang="en-US" altLang="ko-KR" sz="1400" dirty="0">
              <a:solidFill>
                <a:srgbClr val="002060"/>
              </a:solidFill>
            </a:endParaRPr>
          </a:p>
          <a:p>
            <a:pPr>
              <a:lnSpc>
                <a:spcPct val="150000"/>
              </a:lnSpc>
            </a:pPr>
            <a:r>
              <a:rPr kumimoji="1" lang="ko-KR" altLang="en-US" sz="1400" dirty="0">
                <a:solidFill>
                  <a:srgbClr val="002060"/>
                </a:solidFill>
              </a:rPr>
              <a:t>카테고리 우선 노출</a:t>
            </a:r>
            <a:endParaRPr kumimoji="1" lang="en-US" altLang="ko-KR" sz="1400" dirty="0">
              <a:solidFill>
                <a:srgbClr val="002060"/>
              </a:solidFill>
            </a:endParaRPr>
          </a:p>
          <a:p>
            <a:endParaRPr kumimoji="1" lang="ko-KR" altLang="en-US" b="1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1EED8F3-ED68-EE1F-1FD4-629573D1308E}"/>
              </a:ext>
            </a:extLst>
          </p:cNvPr>
          <p:cNvSpPr txBox="1"/>
          <p:nvPr/>
        </p:nvSpPr>
        <p:spPr>
          <a:xfrm>
            <a:off x="4503475" y="2680766"/>
            <a:ext cx="3304110" cy="9739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b="1" dirty="0">
                <a:solidFill>
                  <a:srgbClr val="4C6B03"/>
                </a:solidFill>
              </a:rPr>
              <a:t>Why?</a:t>
            </a:r>
          </a:p>
          <a:p>
            <a:pPr>
              <a:lnSpc>
                <a:spcPct val="150000"/>
              </a:lnSpc>
            </a:pPr>
            <a:r>
              <a:rPr kumimoji="1" lang="en-US" altLang="ko-KR" sz="1400" dirty="0">
                <a:solidFill>
                  <a:srgbClr val="002060"/>
                </a:solidFill>
              </a:rPr>
              <a:t>-</a:t>
            </a:r>
            <a:r>
              <a:rPr kumimoji="1" lang="ko-KR" altLang="en-US" sz="1400" dirty="0">
                <a:solidFill>
                  <a:srgbClr val="002060"/>
                </a:solidFill>
              </a:rPr>
              <a:t> </a:t>
            </a:r>
            <a:r>
              <a:rPr kumimoji="1" lang="ko-KR" altLang="en-US" sz="1400" dirty="0" err="1">
                <a:solidFill>
                  <a:srgbClr val="002060"/>
                </a:solidFill>
              </a:rPr>
              <a:t>고가치</a:t>
            </a:r>
            <a:r>
              <a:rPr kumimoji="1" lang="ko-KR" altLang="en-US" sz="1400" dirty="0">
                <a:solidFill>
                  <a:srgbClr val="002060"/>
                </a:solidFill>
              </a:rPr>
              <a:t> 고객은 특정 지역</a:t>
            </a:r>
            <a:r>
              <a:rPr kumimoji="1" lang="en-US" altLang="ko-KR" sz="1400" dirty="0">
                <a:solidFill>
                  <a:srgbClr val="002060"/>
                </a:solidFill>
              </a:rPr>
              <a:t>,</a:t>
            </a:r>
            <a:r>
              <a:rPr kumimoji="1" lang="ko-KR" altLang="en-US" sz="1400" dirty="0">
                <a:solidFill>
                  <a:srgbClr val="002060"/>
                </a:solidFill>
              </a:rPr>
              <a:t>조건에 집중</a:t>
            </a:r>
            <a:endParaRPr kumimoji="1" lang="en-US" altLang="ko-KR" sz="1400" dirty="0">
              <a:solidFill>
                <a:srgbClr val="002060"/>
              </a:solidFill>
            </a:endParaRPr>
          </a:p>
          <a:p>
            <a:pPr>
              <a:lnSpc>
                <a:spcPct val="150000"/>
              </a:lnSpc>
            </a:pPr>
            <a:r>
              <a:rPr kumimoji="1" lang="en-US" altLang="ko-KR" sz="1400" dirty="0">
                <a:solidFill>
                  <a:srgbClr val="002060"/>
                </a:solidFill>
              </a:rPr>
              <a:t>-</a:t>
            </a:r>
            <a:r>
              <a:rPr kumimoji="1" lang="ko-KR" altLang="en-US" sz="1400" dirty="0">
                <a:solidFill>
                  <a:srgbClr val="002060"/>
                </a:solidFill>
              </a:rPr>
              <a:t> 초기 전환 경험이 매출 구조 좌우</a:t>
            </a:r>
            <a:endParaRPr kumimoji="1" lang="en-US" altLang="ko-KR" sz="1400" dirty="0">
              <a:solidFill>
                <a:srgbClr val="002060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4115C78-7B58-013F-AC7D-C8F83B2FF7F4}"/>
              </a:ext>
            </a:extLst>
          </p:cNvPr>
          <p:cNvSpPr txBox="1"/>
          <p:nvPr/>
        </p:nvSpPr>
        <p:spPr>
          <a:xfrm>
            <a:off x="4503475" y="3821754"/>
            <a:ext cx="3073277" cy="12971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b="1" dirty="0">
                <a:solidFill>
                  <a:srgbClr val="4C6B03"/>
                </a:solidFill>
              </a:rPr>
              <a:t>How?</a:t>
            </a:r>
          </a:p>
          <a:p>
            <a:pPr>
              <a:lnSpc>
                <a:spcPct val="150000"/>
              </a:lnSpc>
            </a:pPr>
            <a:r>
              <a:rPr kumimoji="1" lang="ko-KR" altLang="en-US" sz="1400" dirty="0">
                <a:solidFill>
                  <a:srgbClr val="002060"/>
                </a:solidFill>
              </a:rPr>
              <a:t>고객 밀집 지역 중심 메시지 차별화 </a:t>
            </a:r>
            <a:endParaRPr kumimoji="1" lang="en-US" altLang="ko-KR" sz="1400" dirty="0">
              <a:solidFill>
                <a:srgbClr val="002060"/>
              </a:solidFill>
            </a:endParaRPr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Ø"/>
            </a:pPr>
            <a:r>
              <a:rPr kumimoji="1" lang="ko-KR" altLang="en-US" sz="1400" dirty="0">
                <a:solidFill>
                  <a:srgbClr val="002060"/>
                </a:solidFill>
              </a:rPr>
              <a:t>빠른 배송</a:t>
            </a:r>
            <a:r>
              <a:rPr kumimoji="1" lang="en-US" altLang="ko-KR" sz="1400" dirty="0">
                <a:solidFill>
                  <a:srgbClr val="002060"/>
                </a:solidFill>
              </a:rPr>
              <a:t>/</a:t>
            </a:r>
            <a:r>
              <a:rPr kumimoji="1" lang="ko-KR" altLang="en-US" sz="1400" dirty="0">
                <a:solidFill>
                  <a:srgbClr val="002060"/>
                </a:solidFill>
              </a:rPr>
              <a:t> 프리미엄 셀러 강조</a:t>
            </a:r>
            <a:endParaRPr kumimoji="1" lang="en-US" altLang="ko-KR" sz="1400" dirty="0">
              <a:solidFill>
                <a:srgbClr val="002060"/>
              </a:solidFill>
            </a:endParaRPr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Ø"/>
            </a:pPr>
            <a:r>
              <a:rPr kumimoji="1" lang="ko-KR" altLang="en-US" sz="1400" dirty="0">
                <a:solidFill>
                  <a:srgbClr val="002060"/>
                </a:solidFill>
              </a:rPr>
              <a:t>가치 소비 메시지 강화</a:t>
            </a:r>
            <a:endParaRPr kumimoji="1" lang="en-US" altLang="ko-KR" sz="1400" dirty="0">
              <a:solidFill>
                <a:srgbClr val="002060"/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EFBBA55-2797-29D8-20B6-3BD97418D364}"/>
              </a:ext>
            </a:extLst>
          </p:cNvPr>
          <p:cNvSpPr txBox="1"/>
          <p:nvPr/>
        </p:nvSpPr>
        <p:spPr>
          <a:xfrm>
            <a:off x="4525643" y="5127358"/>
            <a:ext cx="2857962" cy="14356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ko-KR" b="1" dirty="0">
                <a:solidFill>
                  <a:srgbClr val="4C6B03"/>
                </a:solidFill>
              </a:rPr>
              <a:t>Activation KPI</a:t>
            </a:r>
            <a:r>
              <a:rPr kumimoji="1" lang="ko-KR" altLang="en-US" b="1" dirty="0">
                <a:solidFill>
                  <a:srgbClr val="4C6B03"/>
                </a:solidFill>
              </a:rPr>
              <a:t> </a:t>
            </a:r>
            <a:r>
              <a:rPr kumimoji="1" lang="en-US" altLang="ko-KR" b="1" dirty="0">
                <a:solidFill>
                  <a:srgbClr val="4C6B03"/>
                </a:solidFill>
              </a:rPr>
              <a:t>:</a:t>
            </a:r>
            <a:r>
              <a:rPr kumimoji="1" lang="ko-KR" altLang="en-US" b="1" dirty="0">
                <a:solidFill>
                  <a:srgbClr val="4C6B03"/>
                </a:solidFill>
              </a:rPr>
              <a:t> </a:t>
            </a:r>
            <a:endParaRPr kumimoji="1" lang="en-US" altLang="ko-KR" b="1" dirty="0">
              <a:solidFill>
                <a:srgbClr val="4C6B03"/>
              </a:solidFill>
            </a:endParaRPr>
          </a:p>
          <a:p>
            <a:pPr>
              <a:lnSpc>
                <a:spcPct val="150000"/>
              </a:lnSpc>
            </a:pPr>
            <a:r>
              <a:rPr kumimoji="1" lang="en-US" altLang="ko-KR" sz="1400" dirty="0">
                <a:solidFill>
                  <a:srgbClr val="002060"/>
                </a:solidFill>
              </a:rPr>
              <a:t>-</a:t>
            </a:r>
            <a:r>
              <a:rPr kumimoji="1" lang="ko-KR" altLang="en-US" sz="1400" dirty="0">
                <a:solidFill>
                  <a:srgbClr val="002060"/>
                </a:solidFill>
              </a:rPr>
              <a:t> 첫 구매 </a:t>
            </a:r>
            <a:r>
              <a:rPr kumimoji="1" lang="ko-KR" altLang="en-US" sz="1400" dirty="0" err="1">
                <a:solidFill>
                  <a:srgbClr val="002060"/>
                </a:solidFill>
              </a:rPr>
              <a:t>전환율</a:t>
            </a:r>
            <a:endParaRPr kumimoji="1" lang="en-US" altLang="ko-KR" sz="1400" dirty="0">
              <a:solidFill>
                <a:srgbClr val="002060"/>
              </a:solidFill>
            </a:endParaRPr>
          </a:p>
          <a:p>
            <a:pPr>
              <a:lnSpc>
                <a:spcPct val="150000"/>
              </a:lnSpc>
            </a:pPr>
            <a:r>
              <a:rPr kumimoji="1" lang="en-US" altLang="ko-KR" sz="1400" dirty="0">
                <a:solidFill>
                  <a:srgbClr val="002060"/>
                </a:solidFill>
              </a:rPr>
              <a:t>-</a:t>
            </a:r>
            <a:r>
              <a:rPr kumimoji="1" lang="ko-KR" altLang="en-US" sz="1400" dirty="0">
                <a:solidFill>
                  <a:srgbClr val="002060"/>
                </a:solidFill>
              </a:rPr>
              <a:t> 첫 구매 </a:t>
            </a:r>
            <a:r>
              <a:rPr kumimoji="1" lang="ko-KR" altLang="en-US" sz="1400" dirty="0" err="1">
                <a:solidFill>
                  <a:srgbClr val="002060"/>
                </a:solidFill>
              </a:rPr>
              <a:t>완료율</a:t>
            </a:r>
            <a:r>
              <a:rPr kumimoji="1" lang="ko-KR" altLang="en-US" sz="1400" dirty="0">
                <a:solidFill>
                  <a:srgbClr val="002060"/>
                </a:solidFill>
              </a:rPr>
              <a:t> </a:t>
            </a:r>
            <a:r>
              <a:rPr kumimoji="1" lang="en-US" altLang="ko-KR" sz="1400" dirty="0">
                <a:solidFill>
                  <a:srgbClr val="002060"/>
                </a:solidFill>
              </a:rPr>
              <a:t>(delivered </a:t>
            </a:r>
            <a:r>
              <a:rPr kumimoji="1" lang="ko-KR" altLang="en-US" sz="1400" dirty="0">
                <a:solidFill>
                  <a:srgbClr val="002060"/>
                </a:solidFill>
              </a:rPr>
              <a:t>기준</a:t>
            </a:r>
            <a:r>
              <a:rPr kumimoji="1" lang="en-US" altLang="ko-KR" sz="1400" dirty="0">
                <a:solidFill>
                  <a:srgbClr val="002060"/>
                </a:solidFill>
              </a:rPr>
              <a:t>)</a:t>
            </a:r>
          </a:p>
          <a:p>
            <a:pPr>
              <a:lnSpc>
                <a:spcPct val="150000"/>
              </a:lnSpc>
            </a:pPr>
            <a:r>
              <a:rPr kumimoji="1" lang="en-US" altLang="ko-KR" sz="1400" dirty="0">
                <a:solidFill>
                  <a:srgbClr val="002060"/>
                </a:solidFill>
              </a:rPr>
              <a:t>-</a:t>
            </a:r>
            <a:r>
              <a:rPr kumimoji="1" lang="ko-KR" altLang="en-US" sz="1400" dirty="0">
                <a:solidFill>
                  <a:srgbClr val="002060"/>
                </a:solidFill>
              </a:rPr>
              <a:t> 첫 구매 </a:t>
            </a:r>
            <a:r>
              <a:rPr kumimoji="1" lang="ko-KR" altLang="en-US" sz="1400" dirty="0" err="1">
                <a:solidFill>
                  <a:srgbClr val="002060"/>
                </a:solidFill>
              </a:rPr>
              <a:t>객단가</a:t>
            </a:r>
            <a:r>
              <a:rPr kumimoji="1" lang="ko-KR" altLang="en-US" sz="1400" dirty="0">
                <a:solidFill>
                  <a:srgbClr val="002060"/>
                </a:solidFill>
              </a:rPr>
              <a:t> </a:t>
            </a:r>
            <a:r>
              <a:rPr kumimoji="1" lang="en-US" altLang="ko-KR" sz="1400" dirty="0">
                <a:solidFill>
                  <a:srgbClr val="002060"/>
                </a:solidFill>
              </a:rPr>
              <a:t>(AOV)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90DF5E5-596F-72A6-BD0F-D3DEB45A50FA}"/>
              </a:ext>
            </a:extLst>
          </p:cNvPr>
          <p:cNvSpPr txBox="1"/>
          <p:nvPr/>
        </p:nvSpPr>
        <p:spPr>
          <a:xfrm>
            <a:off x="8147970" y="2680145"/>
            <a:ext cx="3187091" cy="9754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b="1" dirty="0">
                <a:solidFill>
                  <a:srgbClr val="4C6B03"/>
                </a:solidFill>
              </a:rPr>
              <a:t>Why?</a:t>
            </a:r>
          </a:p>
          <a:p>
            <a:pPr>
              <a:lnSpc>
                <a:spcPct val="150000"/>
              </a:lnSpc>
            </a:pPr>
            <a:r>
              <a:rPr kumimoji="1" lang="en-US" altLang="ko-KR" sz="1400" dirty="0">
                <a:solidFill>
                  <a:srgbClr val="002060"/>
                </a:solidFill>
              </a:rPr>
              <a:t>-</a:t>
            </a:r>
            <a:r>
              <a:rPr kumimoji="1" lang="ko-KR" altLang="en-US" sz="1400" dirty="0">
                <a:solidFill>
                  <a:srgbClr val="002060"/>
                </a:solidFill>
              </a:rPr>
              <a:t> 매출은 첫 구매 시점에 결정</a:t>
            </a:r>
            <a:endParaRPr kumimoji="1" lang="en-US" altLang="ko-KR" sz="1400" dirty="0">
              <a:solidFill>
                <a:srgbClr val="002060"/>
              </a:solidFill>
            </a:endParaRPr>
          </a:p>
          <a:p>
            <a:pPr>
              <a:lnSpc>
                <a:spcPct val="150000"/>
              </a:lnSpc>
            </a:pPr>
            <a:r>
              <a:rPr kumimoji="1" lang="en-US" altLang="ko-KR" sz="1400" dirty="0">
                <a:solidFill>
                  <a:srgbClr val="002060"/>
                </a:solidFill>
                <a:sym typeface="Wingdings" pitchFamily="2" charset="2"/>
              </a:rPr>
              <a:t></a:t>
            </a:r>
            <a:r>
              <a:rPr kumimoji="1" lang="ko-KR" altLang="en-US" sz="1400" dirty="0">
                <a:solidFill>
                  <a:srgbClr val="002060"/>
                </a:solidFill>
                <a:sym typeface="Wingdings" pitchFamily="2" charset="2"/>
              </a:rPr>
              <a:t> </a:t>
            </a:r>
            <a:r>
              <a:rPr kumimoji="1" lang="ko-KR" altLang="en-US" sz="1400" dirty="0">
                <a:solidFill>
                  <a:srgbClr val="002060"/>
                </a:solidFill>
              </a:rPr>
              <a:t>유지보다는 초기 전환 극대화 전략</a:t>
            </a:r>
            <a:endParaRPr kumimoji="1" lang="en-US" altLang="ko-KR" sz="1400" dirty="0">
              <a:solidFill>
                <a:srgbClr val="002060"/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2274789-3752-1F11-5A20-9CBA8DEAE9CC}"/>
              </a:ext>
            </a:extLst>
          </p:cNvPr>
          <p:cNvSpPr txBox="1"/>
          <p:nvPr/>
        </p:nvSpPr>
        <p:spPr>
          <a:xfrm>
            <a:off x="8162484" y="3749184"/>
            <a:ext cx="2940228" cy="16203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b="1" dirty="0">
                <a:solidFill>
                  <a:srgbClr val="4C6B03"/>
                </a:solidFill>
              </a:rPr>
              <a:t>How?</a:t>
            </a:r>
          </a:p>
          <a:p>
            <a:pPr>
              <a:lnSpc>
                <a:spcPct val="150000"/>
              </a:lnSpc>
            </a:pPr>
            <a:r>
              <a:rPr kumimoji="1" lang="ko-KR" altLang="en-US" sz="1400" dirty="0">
                <a:solidFill>
                  <a:srgbClr val="002060"/>
                </a:solidFill>
              </a:rPr>
              <a:t>첫 구매 화면에 </a:t>
            </a:r>
            <a:endParaRPr kumimoji="1" lang="en-US" altLang="ko-KR" sz="1400" dirty="0">
              <a:solidFill>
                <a:srgbClr val="002060"/>
              </a:solidFill>
            </a:endParaRPr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Ø"/>
            </a:pPr>
            <a:r>
              <a:rPr kumimoji="1" lang="ko-KR" altLang="en-US" sz="1400" dirty="0">
                <a:solidFill>
                  <a:srgbClr val="002060"/>
                </a:solidFill>
              </a:rPr>
              <a:t>프리미엄 상품</a:t>
            </a:r>
            <a:r>
              <a:rPr kumimoji="1" lang="en-US" altLang="ko-KR" sz="1400" dirty="0">
                <a:solidFill>
                  <a:srgbClr val="002060"/>
                </a:solidFill>
              </a:rPr>
              <a:t>/</a:t>
            </a:r>
            <a:r>
              <a:rPr kumimoji="1" lang="ko-KR" altLang="en-US" sz="1400" dirty="0">
                <a:solidFill>
                  <a:srgbClr val="002060"/>
                </a:solidFill>
              </a:rPr>
              <a:t>옵션 강조 </a:t>
            </a:r>
            <a:endParaRPr kumimoji="1" lang="en-US" altLang="ko-KR" sz="1400" dirty="0">
              <a:solidFill>
                <a:srgbClr val="002060"/>
              </a:solidFill>
            </a:endParaRPr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Ø"/>
            </a:pPr>
            <a:r>
              <a:rPr kumimoji="1" lang="ko-KR" altLang="en-US" sz="1400" dirty="0">
                <a:solidFill>
                  <a:srgbClr val="002060"/>
                </a:solidFill>
              </a:rPr>
              <a:t>버들 구성</a:t>
            </a:r>
            <a:r>
              <a:rPr kumimoji="1" lang="en-US" altLang="ko-KR" sz="1400" dirty="0">
                <a:solidFill>
                  <a:srgbClr val="002060"/>
                </a:solidFill>
              </a:rPr>
              <a:t>,</a:t>
            </a:r>
            <a:r>
              <a:rPr kumimoji="1" lang="ko-KR" altLang="en-US" sz="1400" dirty="0">
                <a:solidFill>
                  <a:srgbClr val="002060"/>
                </a:solidFill>
              </a:rPr>
              <a:t> 수량 가이드</a:t>
            </a:r>
            <a:endParaRPr kumimoji="1" lang="en-US" altLang="ko-KR" sz="1400" dirty="0">
              <a:solidFill>
                <a:srgbClr val="002060"/>
              </a:solidFill>
            </a:endParaRPr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Ø"/>
            </a:pPr>
            <a:r>
              <a:rPr kumimoji="1" lang="ko-KR" altLang="en-US" sz="1400" dirty="0">
                <a:solidFill>
                  <a:srgbClr val="002060"/>
                </a:solidFill>
              </a:rPr>
              <a:t>고가 </a:t>
            </a:r>
            <a:r>
              <a:rPr kumimoji="1" lang="ko-KR" altLang="en-US" sz="1400" dirty="0" err="1">
                <a:solidFill>
                  <a:srgbClr val="002060"/>
                </a:solidFill>
              </a:rPr>
              <a:t>상품군</a:t>
            </a:r>
            <a:r>
              <a:rPr kumimoji="1" lang="ko-KR" altLang="en-US" sz="1400" dirty="0">
                <a:solidFill>
                  <a:srgbClr val="002060"/>
                </a:solidFill>
              </a:rPr>
              <a:t> 구매 시 혜택 제공</a:t>
            </a:r>
            <a:endParaRPr kumimoji="1" lang="en-US" altLang="ko-KR" sz="1400" dirty="0">
              <a:solidFill>
                <a:srgbClr val="002060"/>
              </a:solidFill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3862E6A-ED90-7FEC-43EA-39A1FFA5F3A5}"/>
              </a:ext>
            </a:extLst>
          </p:cNvPr>
          <p:cNvSpPr txBox="1"/>
          <p:nvPr/>
        </p:nvSpPr>
        <p:spPr>
          <a:xfrm>
            <a:off x="8178083" y="5411243"/>
            <a:ext cx="1944763" cy="11124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ko-KR" b="1" dirty="0">
                <a:solidFill>
                  <a:srgbClr val="4C6B03"/>
                </a:solidFill>
              </a:rPr>
              <a:t>Revenue KPI</a:t>
            </a:r>
            <a:r>
              <a:rPr kumimoji="1" lang="ko-KR" altLang="en-US" b="1" dirty="0">
                <a:solidFill>
                  <a:srgbClr val="4C6B03"/>
                </a:solidFill>
              </a:rPr>
              <a:t> </a:t>
            </a:r>
            <a:r>
              <a:rPr kumimoji="1" lang="en-US" altLang="ko-KR" b="1" dirty="0">
                <a:solidFill>
                  <a:srgbClr val="4C6B03"/>
                </a:solidFill>
              </a:rPr>
              <a:t>:</a:t>
            </a:r>
            <a:r>
              <a:rPr kumimoji="1" lang="ko-KR" altLang="en-US" b="1" dirty="0">
                <a:solidFill>
                  <a:srgbClr val="4C6B03"/>
                </a:solidFill>
              </a:rPr>
              <a:t> </a:t>
            </a:r>
            <a:endParaRPr kumimoji="1" lang="en-US" altLang="ko-KR" b="1" dirty="0">
              <a:solidFill>
                <a:srgbClr val="4C6B03"/>
              </a:solidFill>
            </a:endParaRPr>
          </a:p>
          <a:p>
            <a:pPr>
              <a:lnSpc>
                <a:spcPct val="150000"/>
              </a:lnSpc>
            </a:pPr>
            <a:r>
              <a:rPr kumimoji="1" lang="en-US" altLang="ko-KR" sz="1400" dirty="0">
                <a:solidFill>
                  <a:srgbClr val="002060"/>
                </a:solidFill>
              </a:rPr>
              <a:t>-</a:t>
            </a:r>
            <a:r>
              <a:rPr kumimoji="1" lang="ko-KR" altLang="en-US" sz="1400" dirty="0">
                <a:solidFill>
                  <a:srgbClr val="002060"/>
                </a:solidFill>
              </a:rPr>
              <a:t> 첫 구매 매출 기여도</a:t>
            </a:r>
            <a:endParaRPr kumimoji="1" lang="en-US" altLang="ko-KR" sz="1400" dirty="0">
              <a:solidFill>
                <a:srgbClr val="002060"/>
              </a:solidFill>
            </a:endParaRPr>
          </a:p>
          <a:p>
            <a:pPr>
              <a:lnSpc>
                <a:spcPct val="150000"/>
              </a:lnSpc>
            </a:pPr>
            <a:r>
              <a:rPr kumimoji="1" lang="en-US" altLang="ko-KR" sz="1400" dirty="0">
                <a:solidFill>
                  <a:srgbClr val="002060"/>
                </a:solidFill>
              </a:rPr>
              <a:t>-</a:t>
            </a:r>
            <a:r>
              <a:rPr kumimoji="1" lang="ko-KR" altLang="en-US" sz="1400" dirty="0">
                <a:solidFill>
                  <a:srgbClr val="002060"/>
                </a:solidFill>
              </a:rPr>
              <a:t> </a:t>
            </a:r>
            <a:r>
              <a:rPr kumimoji="1" lang="ko-KR" altLang="en-US" sz="1400" dirty="0" err="1">
                <a:solidFill>
                  <a:srgbClr val="002060"/>
                </a:solidFill>
              </a:rPr>
              <a:t>고가치</a:t>
            </a:r>
            <a:r>
              <a:rPr kumimoji="1" lang="ko-KR" altLang="en-US" sz="1400" dirty="0">
                <a:solidFill>
                  <a:srgbClr val="002060"/>
                </a:solidFill>
              </a:rPr>
              <a:t> 고객 </a:t>
            </a:r>
            <a:r>
              <a:rPr kumimoji="1" lang="en-US" altLang="ko-KR" sz="1400" dirty="0">
                <a:solidFill>
                  <a:srgbClr val="002060"/>
                </a:solidFill>
              </a:rPr>
              <a:t>LTV</a:t>
            </a:r>
          </a:p>
        </p:txBody>
      </p:sp>
      <p:sp>
        <p:nvSpPr>
          <p:cNvPr id="21" name="모서리가 둥근 직사각형 20">
            <a:extLst>
              <a:ext uri="{FF2B5EF4-FFF2-40B4-BE49-F238E27FC236}">
                <a16:creationId xmlns:a16="http://schemas.microsoft.com/office/drawing/2014/main" id="{3AF7C5AE-5EB7-1AA4-B602-B3065FB1C4CE}"/>
              </a:ext>
            </a:extLst>
          </p:cNvPr>
          <p:cNvSpPr/>
          <p:nvPr/>
        </p:nvSpPr>
        <p:spPr>
          <a:xfrm>
            <a:off x="8152614" y="1865687"/>
            <a:ext cx="2985840" cy="666206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b="1" dirty="0"/>
              <a:t>Revenue-focused</a:t>
            </a:r>
          </a:p>
          <a:p>
            <a:pPr algn="ctr"/>
            <a:r>
              <a:rPr kumimoji="1" lang="en-US" altLang="ko-KR" b="1" dirty="0"/>
              <a:t>Retention</a:t>
            </a:r>
            <a:endParaRPr kumimoji="1"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20139972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900E0A-0372-FC8F-B8D8-0B78DD3673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 descr="텍스트, 그래픽, 로고, 그래픽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1370483-F766-F589-9A8C-AE71CC77A4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75383"/>
            <a:ext cx="1707878" cy="1707878"/>
          </a:xfrm>
          <a:prstGeom prst="rect">
            <a:avLst/>
          </a:prstGeom>
        </p:spPr>
      </p:pic>
      <p:sp>
        <p:nvSpPr>
          <p:cNvPr id="3" name="제목 1">
            <a:extLst>
              <a:ext uri="{FF2B5EF4-FFF2-40B4-BE49-F238E27FC236}">
                <a16:creationId xmlns:a16="http://schemas.microsoft.com/office/drawing/2014/main" id="{F40468F8-1761-CD8B-5A4C-AF6FACBA81F9}"/>
              </a:ext>
            </a:extLst>
          </p:cNvPr>
          <p:cNvSpPr txBox="1">
            <a:spLocks/>
          </p:cNvSpPr>
          <p:nvPr/>
        </p:nvSpPr>
        <p:spPr>
          <a:xfrm>
            <a:off x="838200" y="1119673"/>
            <a:ext cx="10515600" cy="571015"/>
          </a:xfrm>
          <a:prstGeom prst="rect">
            <a:avLst/>
          </a:prstGeom>
          <a:solidFill>
            <a:srgbClr val="FFCB3C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ko-KR" altLang="en-US" sz="2000" b="1" dirty="0">
                <a:solidFill>
                  <a:srgbClr val="002060"/>
                </a:solidFill>
              </a:rPr>
              <a:t>결론 </a:t>
            </a:r>
            <a:r>
              <a:rPr kumimoji="1" lang="en-US" altLang="ko-KR" sz="2000" b="1" dirty="0">
                <a:solidFill>
                  <a:srgbClr val="002060"/>
                </a:solidFill>
              </a:rPr>
              <a:t>&amp;</a:t>
            </a:r>
            <a:r>
              <a:rPr kumimoji="1" lang="ko-KR" altLang="en-US" sz="2000" b="1" dirty="0">
                <a:solidFill>
                  <a:srgbClr val="002060"/>
                </a:solidFill>
              </a:rPr>
              <a:t> </a:t>
            </a:r>
            <a:r>
              <a:rPr kumimoji="1" lang="en-US" altLang="ko-KR" sz="2000" b="1" dirty="0">
                <a:solidFill>
                  <a:srgbClr val="002060"/>
                </a:solidFill>
              </a:rPr>
              <a:t>KPT </a:t>
            </a:r>
            <a:r>
              <a:rPr kumimoji="1" lang="ko-KR" altLang="en-US" sz="2000" b="1" dirty="0">
                <a:solidFill>
                  <a:srgbClr val="002060"/>
                </a:solidFill>
              </a:rPr>
              <a:t>회고</a:t>
            </a:r>
          </a:p>
        </p:txBody>
      </p:sp>
      <p:sp>
        <p:nvSpPr>
          <p:cNvPr id="4" name="모서리가 둥근 직사각형 3">
            <a:extLst>
              <a:ext uri="{FF2B5EF4-FFF2-40B4-BE49-F238E27FC236}">
                <a16:creationId xmlns:a16="http://schemas.microsoft.com/office/drawing/2014/main" id="{CAD6E8D1-FFD2-C7AE-3D00-9FC44475117B}"/>
              </a:ext>
            </a:extLst>
          </p:cNvPr>
          <p:cNvSpPr/>
          <p:nvPr/>
        </p:nvSpPr>
        <p:spPr>
          <a:xfrm>
            <a:off x="853938" y="1839561"/>
            <a:ext cx="5102725" cy="666206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b="1" dirty="0"/>
              <a:t>AARRR </a:t>
            </a:r>
            <a:r>
              <a:rPr kumimoji="1" lang="ko-KR" altLang="en-US" b="1" dirty="0"/>
              <a:t>기반 핵심 결론</a:t>
            </a:r>
            <a:r>
              <a:rPr kumimoji="1" lang="en-US" altLang="ko-KR" b="1" dirty="0"/>
              <a:t> </a:t>
            </a:r>
            <a:endParaRPr kumimoji="1" lang="ko-KR" altLang="en-US" b="1" dirty="0"/>
          </a:p>
        </p:txBody>
      </p:sp>
      <p:sp>
        <p:nvSpPr>
          <p:cNvPr id="5" name="모서리가 둥근 직사각형 4">
            <a:extLst>
              <a:ext uri="{FF2B5EF4-FFF2-40B4-BE49-F238E27FC236}">
                <a16:creationId xmlns:a16="http://schemas.microsoft.com/office/drawing/2014/main" id="{F1E4AD88-8CBE-FBE1-1649-5C11DC3F9BCB}"/>
              </a:ext>
            </a:extLst>
          </p:cNvPr>
          <p:cNvSpPr/>
          <p:nvPr/>
        </p:nvSpPr>
        <p:spPr>
          <a:xfrm>
            <a:off x="6096001" y="1839561"/>
            <a:ext cx="5242062" cy="666206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b="1" dirty="0">
                <a:solidFill>
                  <a:schemeClr val="bg1"/>
                </a:solidFill>
              </a:rPr>
              <a:t>KPT </a:t>
            </a:r>
            <a:r>
              <a:rPr kumimoji="1" lang="ko-KR" altLang="en-US" b="1" dirty="0">
                <a:solidFill>
                  <a:schemeClr val="bg1"/>
                </a:solidFill>
              </a:rPr>
              <a:t>회고</a:t>
            </a:r>
            <a:r>
              <a:rPr kumimoji="1" lang="en-US" altLang="ko-KR" b="1" dirty="0">
                <a:solidFill>
                  <a:schemeClr val="bg1"/>
                </a:solidFill>
              </a:rPr>
              <a:t> </a:t>
            </a:r>
            <a:endParaRPr kumimoji="1" lang="ko-KR" altLang="en-US" b="1" dirty="0">
              <a:solidFill>
                <a:schemeClr val="bg1"/>
              </a:solidFill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BA021962-4BA4-34CB-5FCC-C85EA76FAA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2082825"/>
              </p:ext>
            </p:extLst>
          </p:nvPr>
        </p:nvGraphicFramePr>
        <p:xfrm>
          <a:off x="853938" y="2654640"/>
          <a:ext cx="5102726" cy="3393464"/>
        </p:xfrm>
        <a:graphic>
          <a:graphicData uri="http://schemas.openxmlformats.org/drawingml/2006/table">
            <a:tbl>
              <a:tblPr firstRow="1" bandRow="1">
                <a:tableStyleId>{16D9F66E-5EB9-4882-86FB-DCBF35E3C3E4}</a:tableStyleId>
              </a:tblPr>
              <a:tblGrid>
                <a:gridCol w="1144679">
                  <a:extLst>
                    <a:ext uri="{9D8B030D-6E8A-4147-A177-3AD203B41FA5}">
                      <a16:colId xmlns:a16="http://schemas.microsoft.com/office/drawing/2014/main" val="2311415412"/>
                    </a:ext>
                  </a:extLst>
                </a:gridCol>
                <a:gridCol w="3958047">
                  <a:extLst>
                    <a:ext uri="{9D8B030D-6E8A-4147-A177-3AD203B41FA5}">
                      <a16:colId xmlns:a16="http://schemas.microsoft.com/office/drawing/2014/main" val="3069014822"/>
                    </a:ext>
                  </a:extLst>
                </a:gridCol>
              </a:tblGrid>
              <a:tr h="75484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ko-KR" sz="1400" b="1" dirty="0">
                          <a:solidFill>
                            <a:srgbClr val="002060"/>
                          </a:solidFill>
                        </a:rPr>
                        <a:t>Acquisition</a:t>
                      </a:r>
                      <a:endParaRPr lang="en" altLang="ko-KR" sz="1400" dirty="0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400" b="0" dirty="0">
                          <a:solidFill>
                            <a:srgbClr val="4C6B03"/>
                          </a:solidFill>
                        </a:rPr>
                        <a:t>고가치 고객은 특정 카테고리</a:t>
                      </a:r>
                      <a:r>
                        <a:rPr lang="en-US" altLang="ko-KR" sz="1400" b="0" dirty="0">
                          <a:solidFill>
                            <a:srgbClr val="4C6B03"/>
                          </a:solidFill>
                        </a:rPr>
                        <a:t>·</a:t>
                      </a:r>
                      <a:r>
                        <a:rPr lang="ko-KR" altLang="en-US" sz="1400" b="0" dirty="0">
                          <a:solidFill>
                            <a:srgbClr val="4C6B03"/>
                          </a:solidFill>
                        </a:rPr>
                        <a:t>대도시 지역에 집중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400" b="0" dirty="0">
                          <a:solidFill>
                            <a:srgbClr val="4C6B03"/>
                          </a:solidFill>
                        </a:rPr>
                        <a:t>유입의 양보다 질이 성장에 중요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3898257"/>
                  </a:ext>
                </a:extLst>
              </a:tr>
              <a:tr h="8352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ko-KR" sz="1400" b="1" dirty="0">
                          <a:solidFill>
                            <a:srgbClr val="002060"/>
                          </a:solidFill>
                        </a:rPr>
                        <a:t>Activation</a:t>
                      </a:r>
                      <a:endParaRPr lang="en" altLang="ko-KR" sz="1400" dirty="0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400" dirty="0">
                          <a:solidFill>
                            <a:srgbClr val="4C6B03"/>
                          </a:solidFill>
                        </a:rPr>
                        <a:t>첫 구매에서 이미 고가치</a:t>
                      </a:r>
                      <a:r>
                        <a:rPr lang="en-US" altLang="ko-KR" sz="1400" dirty="0">
                          <a:solidFill>
                            <a:srgbClr val="4C6B03"/>
                          </a:solidFill>
                        </a:rPr>
                        <a:t>/</a:t>
                      </a:r>
                      <a:r>
                        <a:rPr lang="ko-KR" altLang="en-US" sz="1400" dirty="0">
                          <a:solidFill>
                            <a:srgbClr val="4C6B03"/>
                          </a:solidFill>
                        </a:rPr>
                        <a:t>일반 고객 분기 발생</a:t>
                      </a:r>
                      <a:endParaRPr lang="en-US" altLang="ko-KR" sz="1400" dirty="0">
                        <a:solidFill>
                          <a:srgbClr val="4C6B03"/>
                        </a:solidFill>
                      </a:endParaRP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ko-KR" altLang="en-US" sz="1400" dirty="0">
                          <a:solidFill>
                            <a:srgbClr val="4C6B03"/>
                          </a:solidFill>
                        </a:rPr>
                        <a:t> → 카테고리</a:t>
                      </a:r>
                      <a:r>
                        <a:rPr lang="en-US" altLang="ko-KR" sz="1400" dirty="0">
                          <a:solidFill>
                            <a:srgbClr val="4C6B03"/>
                          </a:solidFill>
                        </a:rPr>
                        <a:t>,</a:t>
                      </a:r>
                      <a:r>
                        <a:rPr lang="ko-KR" altLang="en-US" sz="1400" dirty="0">
                          <a:solidFill>
                            <a:srgbClr val="4C6B03"/>
                          </a:solidFill>
                        </a:rPr>
                        <a:t> 가격이 초기 전환 결정</a:t>
                      </a:r>
                      <a:endParaRPr lang="en-US" altLang="ko-KR" sz="1400" dirty="0">
                        <a:solidFill>
                          <a:srgbClr val="4C6B03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26301439"/>
                  </a:ext>
                </a:extLst>
              </a:tr>
              <a:tr h="66013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ko-KR" sz="1400" b="1" dirty="0">
                          <a:solidFill>
                            <a:srgbClr val="002060"/>
                          </a:solidFill>
                        </a:rPr>
                        <a:t>Retention</a:t>
                      </a:r>
                      <a:endParaRPr lang="en" altLang="ko-KR" sz="1400" dirty="0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400" dirty="0">
                          <a:solidFill>
                            <a:srgbClr val="4C6B03"/>
                          </a:solidFill>
                        </a:rPr>
                        <a:t>재구매는 대부분 첫 달 내 발생 </a:t>
                      </a:r>
                      <a:endParaRPr lang="en-US" altLang="ko-KR" sz="1400" dirty="0">
                        <a:solidFill>
                          <a:srgbClr val="4C6B03"/>
                        </a:solidFill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400" dirty="0">
                          <a:solidFill>
                            <a:srgbClr val="4C6B03"/>
                          </a:solidFill>
                        </a:rPr>
                        <a:t>장기 </a:t>
                      </a:r>
                      <a:r>
                        <a:rPr lang="ko-KR" altLang="en-US" sz="1400" dirty="0" err="1">
                          <a:solidFill>
                            <a:srgbClr val="4C6B03"/>
                          </a:solidFill>
                        </a:rPr>
                        <a:t>리텐션만으로는</a:t>
                      </a:r>
                      <a:r>
                        <a:rPr lang="ko-KR" altLang="en-US" sz="1400" dirty="0">
                          <a:solidFill>
                            <a:srgbClr val="4C6B03"/>
                          </a:solidFill>
                        </a:rPr>
                        <a:t> 성장 한계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01548266"/>
                  </a:ext>
                </a:extLst>
              </a:tr>
              <a:tr h="66013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ko-KR" sz="1400" b="1" dirty="0">
                          <a:solidFill>
                            <a:srgbClr val="002060"/>
                          </a:solidFill>
                        </a:rPr>
                        <a:t>Revenue</a:t>
                      </a:r>
                      <a:endParaRPr lang="en" altLang="ko-KR" sz="1400" dirty="0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400" dirty="0">
                          <a:solidFill>
                            <a:srgbClr val="4C6B03"/>
                          </a:solidFill>
                        </a:rPr>
                        <a:t>LTV </a:t>
                      </a:r>
                      <a:r>
                        <a:rPr lang="ko-KR" altLang="en-US" sz="1400" dirty="0">
                          <a:solidFill>
                            <a:srgbClr val="4C6B03"/>
                          </a:solidFill>
                        </a:rPr>
                        <a:t>상위 </a:t>
                      </a:r>
                      <a:r>
                        <a:rPr lang="en-US" altLang="ko-KR" sz="1400" dirty="0">
                          <a:solidFill>
                            <a:srgbClr val="4C6B03"/>
                          </a:solidFill>
                        </a:rPr>
                        <a:t>5%</a:t>
                      </a:r>
                      <a:r>
                        <a:rPr lang="ko-KR" altLang="en-US" sz="1400" dirty="0">
                          <a:solidFill>
                            <a:srgbClr val="4C6B03"/>
                          </a:solidFill>
                        </a:rPr>
                        <a:t> 고객이</a:t>
                      </a:r>
                      <a:r>
                        <a:rPr lang="en-US" altLang="ko-KR" sz="1400" dirty="0">
                          <a:solidFill>
                            <a:srgbClr val="4C6B03"/>
                          </a:solidFill>
                        </a:rPr>
                        <a:t> </a:t>
                      </a:r>
                      <a:r>
                        <a:rPr lang="ko-KR" altLang="en-US" sz="1400" dirty="0">
                          <a:solidFill>
                            <a:srgbClr val="4C6B03"/>
                          </a:solidFill>
                        </a:rPr>
                        <a:t>매출 </a:t>
                      </a:r>
                      <a:r>
                        <a:rPr lang="en-US" altLang="ko-KR" sz="1400" dirty="0">
                          <a:solidFill>
                            <a:srgbClr val="4C6B03"/>
                          </a:solidFill>
                        </a:rPr>
                        <a:t>26.8%</a:t>
                      </a:r>
                      <a:r>
                        <a:rPr lang="ko-KR" altLang="en-US" sz="1400" dirty="0">
                          <a:solidFill>
                            <a:srgbClr val="4C6B03"/>
                          </a:solidFill>
                        </a:rPr>
                        <a:t> 차지</a:t>
                      </a:r>
                      <a:endParaRPr lang="en-US" altLang="ko-KR" sz="1400" dirty="0">
                        <a:solidFill>
                          <a:srgbClr val="4C6B03"/>
                        </a:solidFill>
                      </a:endParaRPr>
                    </a:p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400" dirty="0">
                          <a:solidFill>
                            <a:srgbClr val="4C6B03"/>
                          </a:solidFill>
                        </a:rPr>
                        <a:t>고가치 고객 </a:t>
                      </a:r>
                      <a:r>
                        <a:rPr lang="en-US" altLang="ko-KR" sz="1400" dirty="0">
                          <a:solidFill>
                            <a:srgbClr val="4C6B03"/>
                          </a:solidFill>
                        </a:rPr>
                        <a:t>1%</a:t>
                      </a:r>
                      <a:r>
                        <a:rPr lang="ko-KR" altLang="en-US" sz="1400" dirty="0">
                          <a:solidFill>
                            <a:srgbClr val="4C6B03"/>
                          </a:solidFill>
                        </a:rPr>
                        <a:t> 증가 시 매출효과 </a:t>
                      </a:r>
                      <a:r>
                        <a:rPr lang="en-US" altLang="ko-KR" sz="1400" dirty="0">
                          <a:solidFill>
                            <a:srgbClr val="4C6B03"/>
                          </a:solidFill>
                        </a:rPr>
                        <a:t>5.35</a:t>
                      </a:r>
                      <a:r>
                        <a:rPr lang="ko-KR" altLang="en-US" sz="1400" dirty="0">
                          <a:solidFill>
                            <a:srgbClr val="4C6B03"/>
                          </a:solidFill>
                        </a:rPr>
                        <a:t>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26033327"/>
                  </a:ext>
                </a:extLst>
              </a:tr>
              <a:tr h="48314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ko-KR" sz="1400" b="1" dirty="0">
                          <a:solidFill>
                            <a:srgbClr val="002060"/>
                          </a:solidFill>
                        </a:rPr>
                        <a:t>Referral</a:t>
                      </a:r>
                      <a:endParaRPr lang="en" altLang="ko-KR" sz="1400" dirty="0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400" dirty="0">
                          <a:solidFill>
                            <a:srgbClr val="4C6B03"/>
                          </a:solidFill>
                        </a:rPr>
                        <a:t>관련 데이터 부재로 분석 제외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44769773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9F27ECAE-D450-DD1C-7606-2ED7CF5BFE37}"/>
              </a:ext>
            </a:extLst>
          </p:cNvPr>
          <p:cNvSpPr txBox="1"/>
          <p:nvPr/>
        </p:nvSpPr>
        <p:spPr>
          <a:xfrm>
            <a:off x="979714" y="6230983"/>
            <a:ext cx="106651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b="1" dirty="0">
                <a:solidFill>
                  <a:srgbClr val="C00000"/>
                </a:solidFill>
                <a:highlight>
                  <a:srgbClr val="FFFF00"/>
                </a:highlight>
                <a:sym typeface="Wingdings" pitchFamily="2" charset="2"/>
              </a:rPr>
              <a:t></a:t>
            </a:r>
            <a:r>
              <a:rPr kumimoji="1" lang="ko-KR" altLang="en-US" b="1" dirty="0">
                <a:solidFill>
                  <a:srgbClr val="C00000"/>
                </a:solidFill>
                <a:highlight>
                  <a:srgbClr val="FFFF00"/>
                </a:highlight>
                <a:sym typeface="Wingdings" pitchFamily="2" charset="2"/>
              </a:rPr>
              <a:t> </a:t>
            </a:r>
            <a:r>
              <a:rPr kumimoji="1" lang="en-US" altLang="ko-KR" b="1" dirty="0" err="1">
                <a:solidFill>
                  <a:srgbClr val="C00000"/>
                </a:solidFill>
                <a:highlight>
                  <a:srgbClr val="FFFF00"/>
                </a:highlight>
                <a:sym typeface="Wingdings" pitchFamily="2" charset="2"/>
              </a:rPr>
              <a:t>Olist</a:t>
            </a:r>
            <a:r>
              <a:rPr kumimoji="1" lang="ko-KR" altLang="en-US" b="1" dirty="0">
                <a:solidFill>
                  <a:srgbClr val="C00000"/>
                </a:solidFill>
                <a:highlight>
                  <a:srgbClr val="FFFF00"/>
                </a:highlight>
                <a:sym typeface="Wingdings" pitchFamily="2" charset="2"/>
              </a:rPr>
              <a:t>의 성장은 </a:t>
            </a:r>
            <a:r>
              <a:rPr kumimoji="1" lang="en-US" altLang="ko-KR" b="1" dirty="0">
                <a:solidFill>
                  <a:srgbClr val="C00000"/>
                </a:solidFill>
                <a:highlight>
                  <a:srgbClr val="FFFF00"/>
                </a:highlight>
                <a:sym typeface="Wingdings" pitchFamily="2" charset="2"/>
              </a:rPr>
              <a:t>Retention </a:t>
            </a:r>
            <a:r>
              <a:rPr kumimoji="1" lang="ko-KR" altLang="en-US" b="1" dirty="0">
                <a:solidFill>
                  <a:srgbClr val="C00000"/>
                </a:solidFill>
                <a:highlight>
                  <a:srgbClr val="FFFF00"/>
                </a:highlight>
                <a:sym typeface="Wingdings" pitchFamily="2" charset="2"/>
              </a:rPr>
              <a:t>개선보다는 고가치 고객의 </a:t>
            </a:r>
            <a:r>
              <a:rPr lang="en" altLang="ko-KR" b="1" dirty="0">
                <a:solidFill>
                  <a:srgbClr val="C00000"/>
                </a:solidFill>
                <a:highlight>
                  <a:srgbClr val="FFFF00"/>
                </a:highlight>
              </a:rPr>
              <a:t>Acquisition</a:t>
            </a:r>
            <a:r>
              <a:rPr lang="ko-KR" altLang="en-US" b="1" dirty="0">
                <a:solidFill>
                  <a:srgbClr val="C00000"/>
                </a:solidFill>
                <a:highlight>
                  <a:srgbClr val="FFFF00"/>
                </a:highlight>
              </a:rPr>
              <a:t>과 </a:t>
            </a:r>
            <a:r>
              <a:rPr lang="en-US" altLang="ko-KR" b="1" dirty="0">
                <a:solidFill>
                  <a:srgbClr val="C00000"/>
                </a:solidFill>
                <a:highlight>
                  <a:srgbClr val="FFFF00"/>
                </a:highlight>
              </a:rPr>
              <a:t>Activation </a:t>
            </a:r>
            <a:r>
              <a:rPr lang="ko-KR" altLang="en-US" b="1" dirty="0">
                <a:solidFill>
                  <a:srgbClr val="C00000"/>
                </a:solidFill>
                <a:highlight>
                  <a:srgbClr val="FFFF00"/>
                </a:highlight>
              </a:rPr>
              <a:t>강화에 달려있음</a:t>
            </a:r>
            <a:r>
              <a:rPr lang="en-US" altLang="ko-KR" b="1" dirty="0">
                <a:solidFill>
                  <a:srgbClr val="C00000"/>
                </a:solidFill>
                <a:highlight>
                  <a:srgbClr val="FFFF00"/>
                </a:highlight>
              </a:rPr>
              <a:t>.</a:t>
            </a:r>
            <a:r>
              <a:rPr lang="ko-KR" altLang="en-US" b="1" dirty="0">
                <a:solidFill>
                  <a:srgbClr val="C00000"/>
                </a:solidFill>
                <a:highlight>
                  <a:srgbClr val="FFFF00"/>
                </a:highlight>
              </a:rPr>
              <a:t> </a:t>
            </a:r>
            <a:r>
              <a:rPr kumimoji="1" lang="ko-KR" altLang="en-US" b="1" dirty="0">
                <a:solidFill>
                  <a:srgbClr val="C00000"/>
                </a:solidFill>
                <a:highlight>
                  <a:srgbClr val="FFFF00"/>
                </a:highlight>
                <a:sym typeface="Wingdings" pitchFamily="2" charset="2"/>
              </a:rPr>
              <a:t> </a:t>
            </a:r>
            <a:endParaRPr kumimoji="1" lang="ko-KR" altLang="en-US" b="1" dirty="0">
              <a:solidFill>
                <a:srgbClr val="C00000"/>
              </a:solidFill>
              <a:highlight>
                <a:srgbClr val="FFFF00"/>
              </a:highlight>
            </a:endParaRP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B513B946-FE67-E5EB-12F6-8D5BA947DC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0437016"/>
              </p:ext>
            </p:extLst>
          </p:nvPr>
        </p:nvGraphicFramePr>
        <p:xfrm>
          <a:off x="6165669" y="2674132"/>
          <a:ext cx="5102726" cy="3359458"/>
        </p:xfrm>
        <a:graphic>
          <a:graphicData uri="http://schemas.openxmlformats.org/drawingml/2006/table">
            <a:tbl>
              <a:tblPr firstRow="1" bandRow="1">
                <a:tableStyleId>{16D9F66E-5EB9-4882-86FB-DCBF35E3C3E4}</a:tableStyleId>
              </a:tblPr>
              <a:tblGrid>
                <a:gridCol w="927462">
                  <a:extLst>
                    <a:ext uri="{9D8B030D-6E8A-4147-A177-3AD203B41FA5}">
                      <a16:colId xmlns:a16="http://schemas.microsoft.com/office/drawing/2014/main" val="2311415412"/>
                    </a:ext>
                  </a:extLst>
                </a:gridCol>
                <a:gridCol w="4175264">
                  <a:extLst>
                    <a:ext uri="{9D8B030D-6E8A-4147-A177-3AD203B41FA5}">
                      <a16:colId xmlns:a16="http://schemas.microsoft.com/office/drawing/2014/main" val="3069014822"/>
                    </a:ext>
                  </a:extLst>
                </a:gridCol>
              </a:tblGrid>
              <a:tr h="113782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1" dirty="0">
                          <a:solidFill>
                            <a:srgbClr val="002060"/>
                          </a:solidFill>
                        </a:rPr>
                        <a:t>Keep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1" dirty="0">
                          <a:solidFill>
                            <a:srgbClr val="002060"/>
                          </a:solidFill>
                        </a:rPr>
                        <a:t>(</a:t>
                      </a:r>
                      <a:r>
                        <a:rPr lang="ko-KR" altLang="en-US" sz="1400" b="1" dirty="0" err="1">
                          <a:solidFill>
                            <a:srgbClr val="002060"/>
                          </a:solidFill>
                        </a:rPr>
                        <a:t>잘한점</a:t>
                      </a:r>
                      <a:r>
                        <a:rPr lang="en-US" altLang="ko-KR" sz="1400" b="1" dirty="0">
                          <a:solidFill>
                            <a:srgbClr val="002060"/>
                          </a:solidFill>
                        </a:rPr>
                        <a:t>)</a:t>
                      </a:r>
                      <a:endParaRPr lang="en" altLang="ko-KR" sz="1400" b="1" dirty="0">
                        <a:solidFill>
                          <a:srgbClr val="002060"/>
                        </a:solidFill>
                      </a:endParaRPr>
                    </a:p>
                    <a:p>
                      <a:pPr algn="ctr" latinLnBrk="1"/>
                      <a:endParaRPr lang="ko-KR" altLang="en-US" sz="1400" b="1" dirty="0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" altLang="ko-KR" sz="1400" b="0" dirty="0">
                          <a:solidFill>
                            <a:srgbClr val="4C6B03"/>
                          </a:solidFill>
                        </a:rPr>
                        <a:t>AARRR </a:t>
                      </a:r>
                      <a:r>
                        <a:rPr lang="ko-KR" altLang="en-US" sz="1400" b="0" dirty="0">
                          <a:solidFill>
                            <a:srgbClr val="4C6B03"/>
                          </a:solidFill>
                        </a:rPr>
                        <a:t>프레임으로 성장 병목 구조화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400" b="0" dirty="0">
                          <a:solidFill>
                            <a:srgbClr val="4C6B03"/>
                          </a:solidFill>
                        </a:rPr>
                        <a:t>파레토 분석으로 전략 타겟</a:t>
                      </a:r>
                      <a:r>
                        <a:rPr lang="en" altLang="ko-KR" sz="1400" b="0" dirty="0">
                          <a:solidFill>
                            <a:srgbClr val="4C6B03"/>
                          </a:solidFill>
                        </a:rPr>
                        <a:t> </a:t>
                      </a:r>
                      <a:r>
                        <a:rPr lang="ko-KR" altLang="en-US" sz="1400" b="0" dirty="0">
                          <a:solidFill>
                            <a:srgbClr val="4C6B03"/>
                          </a:solidFill>
                        </a:rPr>
                        <a:t>명확화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400" b="0" dirty="0">
                          <a:solidFill>
                            <a:srgbClr val="4C6B03"/>
                          </a:solidFill>
                        </a:rPr>
                        <a:t>“왜 이 </a:t>
                      </a:r>
                      <a:r>
                        <a:rPr lang="ko-KR" altLang="en-US" sz="1400" b="0" dirty="0" err="1">
                          <a:solidFill>
                            <a:srgbClr val="4C6B03"/>
                          </a:solidFill>
                        </a:rPr>
                        <a:t>고객인가”를</a:t>
                      </a:r>
                      <a:r>
                        <a:rPr lang="ko-KR" altLang="en-US" sz="1400" b="0" dirty="0">
                          <a:solidFill>
                            <a:srgbClr val="4C6B03"/>
                          </a:solidFill>
                        </a:rPr>
                        <a:t> 데이터로 설명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3898257"/>
                  </a:ext>
                </a:extLst>
              </a:tr>
              <a:tr h="113782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>
                          <a:solidFill>
                            <a:srgbClr val="002060"/>
                          </a:solidFill>
                        </a:rPr>
                        <a:t>Problem</a:t>
                      </a:r>
                    </a:p>
                    <a:p>
                      <a:pPr algn="ctr" latinLnBrk="1"/>
                      <a:r>
                        <a:rPr lang="en-US" altLang="ko-KR" sz="1400" b="1" dirty="0">
                          <a:solidFill>
                            <a:srgbClr val="002060"/>
                          </a:solidFill>
                        </a:rPr>
                        <a:t>(</a:t>
                      </a:r>
                      <a:r>
                        <a:rPr lang="ko-KR" altLang="en-US" sz="1400" b="1" dirty="0">
                          <a:solidFill>
                            <a:srgbClr val="002060"/>
                          </a:solidFill>
                        </a:rPr>
                        <a:t>한계</a:t>
                      </a:r>
                      <a:r>
                        <a:rPr lang="en-US" altLang="ko-KR" sz="1400" b="1" dirty="0">
                          <a:solidFill>
                            <a:srgbClr val="002060"/>
                          </a:solidFill>
                        </a:rPr>
                        <a:t>)</a:t>
                      </a:r>
                      <a:endParaRPr lang="ko-KR" altLang="en-US" sz="1400" b="1" dirty="0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400" dirty="0">
                          <a:solidFill>
                            <a:srgbClr val="4C6B03"/>
                          </a:solidFill>
                        </a:rPr>
                        <a:t>수수료율</a:t>
                      </a:r>
                      <a:r>
                        <a:rPr lang="en-US" altLang="ko-KR" sz="1400" dirty="0">
                          <a:solidFill>
                            <a:srgbClr val="4C6B03"/>
                          </a:solidFill>
                        </a:rPr>
                        <a:t>·</a:t>
                      </a:r>
                      <a:r>
                        <a:rPr lang="en" altLang="ko-KR" sz="1400" dirty="0">
                          <a:solidFill>
                            <a:srgbClr val="4C6B03"/>
                          </a:solidFill>
                        </a:rPr>
                        <a:t>CAC </a:t>
                      </a:r>
                      <a:r>
                        <a:rPr lang="ko-KR" altLang="en-US" sz="1400" dirty="0">
                          <a:solidFill>
                            <a:srgbClr val="4C6B03"/>
                          </a:solidFill>
                        </a:rPr>
                        <a:t>데이터 부재로 수익 분석 한계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" altLang="ko-KR" sz="1400" dirty="0">
                          <a:solidFill>
                            <a:srgbClr val="4C6B03"/>
                          </a:solidFill>
                        </a:rPr>
                        <a:t>Activation </a:t>
                      </a:r>
                      <a:r>
                        <a:rPr lang="ko-KR" altLang="en-US" sz="1400" dirty="0">
                          <a:solidFill>
                            <a:srgbClr val="4C6B03"/>
                          </a:solidFill>
                        </a:rPr>
                        <a:t>단계 행동 데이터 부족</a:t>
                      </a:r>
                      <a:endParaRPr lang="en-US" altLang="ko-KR" sz="1400" dirty="0">
                        <a:solidFill>
                          <a:srgbClr val="4C6B03"/>
                        </a:solidFill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400" dirty="0">
                          <a:solidFill>
                            <a:srgbClr val="4C6B03"/>
                          </a:solidFill>
                        </a:rPr>
                        <a:t>분석 방향 합의 및 전환을 위한 시간 부족</a:t>
                      </a:r>
                      <a:endParaRPr lang="en-US" altLang="ko-KR" sz="1400" dirty="0">
                        <a:solidFill>
                          <a:srgbClr val="4C6B03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26301439"/>
                  </a:ext>
                </a:extLst>
              </a:tr>
              <a:tr h="108380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ko-KR" sz="1400" b="1" dirty="0">
                          <a:solidFill>
                            <a:srgbClr val="002060"/>
                          </a:solidFill>
                        </a:rPr>
                        <a:t>Try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1" dirty="0">
                          <a:solidFill>
                            <a:srgbClr val="002060"/>
                          </a:solidFill>
                        </a:rPr>
                        <a:t>(</a:t>
                      </a:r>
                      <a:r>
                        <a:rPr lang="ko-KR" altLang="en-US" sz="1400" b="1" dirty="0">
                          <a:solidFill>
                            <a:srgbClr val="002060"/>
                          </a:solidFill>
                        </a:rPr>
                        <a:t>계획</a:t>
                      </a:r>
                      <a:r>
                        <a:rPr lang="en-US" altLang="ko-KR" sz="1400" b="1" dirty="0">
                          <a:solidFill>
                            <a:srgbClr val="002060"/>
                          </a:solidFill>
                        </a:rPr>
                        <a:t>)</a:t>
                      </a:r>
                      <a:endParaRPr lang="en" altLang="ko-KR" sz="1400" b="1" dirty="0">
                        <a:solidFill>
                          <a:srgbClr val="002060"/>
                        </a:solidFill>
                      </a:endParaRPr>
                    </a:p>
                    <a:p>
                      <a:pPr algn="ctr" latinLnBrk="1"/>
                      <a:endParaRPr lang="ko-KR" altLang="en-US" sz="1400" b="1" dirty="0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400" dirty="0">
                          <a:solidFill>
                            <a:srgbClr val="4C6B03"/>
                          </a:solidFill>
                        </a:rPr>
                        <a:t>분석 목적에 맞는 </a:t>
                      </a:r>
                      <a:r>
                        <a:rPr lang="ko-KR" altLang="en-US" sz="1400" dirty="0" err="1">
                          <a:solidFill>
                            <a:srgbClr val="4C6B03"/>
                          </a:solidFill>
                        </a:rPr>
                        <a:t>데이터셋인지</a:t>
                      </a:r>
                      <a:r>
                        <a:rPr lang="ko-KR" altLang="en-US" sz="1400" dirty="0">
                          <a:solidFill>
                            <a:srgbClr val="4C6B03"/>
                          </a:solidFill>
                        </a:rPr>
                        <a:t> 충분히 사전탐색의 시간 갖기  </a:t>
                      </a:r>
                      <a:endParaRPr lang="en-US" altLang="ko-KR" sz="1400" dirty="0">
                        <a:solidFill>
                          <a:srgbClr val="4C6B03"/>
                        </a:solidFill>
                      </a:endParaRPr>
                    </a:p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400" dirty="0">
                          <a:solidFill>
                            <a:srgbClr val="4C6B03"/>
                          </a:solidFill>
                        </a:rPr>
                        <a:t>복잡한 구조</a:t>
                      </a:r>
                      <a:r>
                        <a:rPr lang="en-US" altLang="ko-KR" sz="1400" dirty="0">
                          <a:solidFill>
                            <a:srgbClr val="4C6B03"/>
                          </a:solidFill>
                        </a:rPr>
                        <a:t>,</a:t>
                      </a:r>
                      <a:r>
                        <a:rPr lang="ko-KR" altLang="en-US" sz="1400" dirty="0">
                          <a:solidFill>
                            <a:srgbClr val="4C6B03"/>
                          </a:solidFill>
                        </a:rPr>
                        <a:t> 대규모 데이터셋 분석 경험 높이기</a:t>
                      </a:r>
                      <a:endParaRPr lang="en-US" altLang="ko-KR" sz="1400" dirty="0">
                        <a:solidFill>
                          <a:srgbClr val="4C6B03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015482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339883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1355</TotalTime>
  <Words>3926</Words>
  <Application>Microsoft Macintosh PowerPoint</Application>
  <PresentationFormat>와이드스크린</PresentationFormat>
  <Paragraphs>469</Paragraphs>
  <Slides>17</Slides>
  <Notes>16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17</vt:i4>
      </vt:variant>
    </vt:vector>
  </HeadingPairs>
  <TitlesOfParts>
    <vt:vector size="25" baseType="lpstr">
      <vt:lpstr>.AppleSystemUIFont</vt:lpstr>
      <vt:lpstr>맑은 고딕</vt:lpstr>
      <vt:lpstr>ui-sans-serif</vt:lpstr>
      <vt:lpstr>Arial</vt:lpstr>
      <vt:lpstr>Helvetica Neue</vt:lpstr>
      <vt:lpstr>Noto Sans Syriac SemiBold</vt:lpstr>
      <vt:lpstr>Wingdings</vt:lpstr>
      <vt:lpstr>Office 테마</vt:lpstr>
      <vt:lpstr>PowerPoint 프레젠테이션</vt:lpstr>
      <vt:lpstr>PowerPoint 프레젠테이션</vt:lpstr>
      <vt:lpstr>Olist 성장은 어디에서 기인하는 것일까?  </vt:lpstr>
      <vt:lpstr>보이는 성장 뒤에 숨은 구조는 무엇일까? </vt:lpstr>
      <vt:lpstr>신뢰 가능한 데이터 구조 위에서 분석 설계 기획</vt:lpstr>
      <vt:lpstr>올리스트의 성장은 재구매(Retention)에 의해 만들어지고 있지 않다</vt:lpstr>
      <vt:lpstr>의미있는 재구매 고객을 추려낼 수 있을까?  </vt:lpstr>
      <vt:lpstr>올리스트의 재구매 부진은 ‘가격 요인’과 ‘경험 품질’의 문제가 아니었다</vt:lpstr>
      <vt:lpstr>재구매는 ‘충성도’라기 보다는 첫 구매에서 채우지 못한 수요의 보충  </vt:lpstr>
      <vt:lpstr>재구매가 아닌데, 올리스트 매출은 왜 성장했을까?  </vt:lpstr>
      <vt:lpstr>Olist 매출은 평균 고객이 아니라, 소수 고객의 꼬리(tail)에 의해 만들어진다</vt:lpstr>
      <vt:lpstr>어떤 고객 1%를 늘리느냐가 매출효율을 5배 이상 바꾼다 </vt:lpstr>
      <vt:lpstr>고가치 고객은 첫 구매부터 ‘가치소비 성향’이 다르다</vt:lpstr>
      <vt:lpstr>고가치 고객은 첫 구매부터 가격 허용도가 다르다. </vt:lpstr>
      <vt:lpstr>대도시•경제 중심 지역 중심으로 고가치 고객의 수가 집중된다</vt:lpstr>
      <vt:lpstr>고가치 고객 세그먼트에 집중한 AARRR 재설계 전략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Ui-jin park</dc:creator>
  <cp:lastModifiedBy>Ui-jin park</cp:lastModifiedBy>
  <cp:revision>18</cp:revision>
  <dcterms:created xsi:type="dcterms:W3CDTF">2026-01-22T05:48:17Z</dcterms:created>
  <dcterms:modified xsi:type="dcterms:W3CDTF">2026-01-24T12:07:41Z</dcterms:modified>
</cp:coreProperties>
</file>