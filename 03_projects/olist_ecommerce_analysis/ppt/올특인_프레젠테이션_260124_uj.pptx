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5" r:id="rId3"/>
    <p:sldId id="258" r:id="rId4"/>
    <p:sldId id="268" r:id="rId5"/>
    <p:sldId id="269" r:id="rId6"/>
    <p:sldId id="270" r:id="rId7"/>
    <p:sldId id="272" r:id="rId8"/>
    <p:sldId id="273" r:id="rId9"/>
    <p:sldId id="271" r:id="rId10"/>
    <p:sldId id="274" r:id="rId11"/>
    <p:sldId id="259" r:id="rId12"/>
    <p:sldId id="260" r:id="rId13"/>
    <p:sldId id="264" r:id="rId14"/>
    <p:sldId id="266" r:id="rId15"/>
    <p:sldId id="262" r:id="rId16"/>
    <p:sldId id="267" r:id="rId17"/>
    <p:sldId id="257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6B03"/>
    <a:srgbClr val="FFEEB5"/>
    <a:srgbClr val="FFA8E1"/>
    <a:srgbClr val="FF40FF"/>
    <a:srgbClr val="FFCB3C"/>
    <a:srgbClr val="929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57"/>
    <p:restoredTop sz="85124"/>
  </p:normalViewPr>
  <p:slideViewPr>
    <p:cSldViewPr snapToGrid="0">
      <p:cViewPr varScale="1">
        <p:scale>
          <a:sx n="88" d="100"/>
          <a:sy n="88" d="100"/>
        </p:scale>
        <p:origin x="1592" y="4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CDA1D3-61E8-7A48-9B7B-45B9FAEFC1C3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17F9C8-91D1-A042-92E3-7082BD349B9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5634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안녕하세요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저는 오늘 발표를 맡은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올특인의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스토리텔러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이윤화 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저희팀명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올특인”은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올리스트에 특화된 인사이트를 도출하는 팀이라는 의미에서 지었습니다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본 프로젝트는 아이디어뱅크 역할을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해주신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송현준님과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분석의 방향과 구조를 설계한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박의진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그루님과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함께 수행했습니다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발표에 앞서 올리스트가 어떤 서비스인지 한 문장으로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설명드리겠습니다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올리스트는 판매자가 직접 쇼핑몰을 운영하지 않아도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 온라인 마켓에 상품을 노출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판매할 수 있도록 중개해주는 브라질의 대표적인 </a:t>
            </a:r>
            <a:r>
              <a:rPr lang="ko-KR" alt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이커머스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플랫폼입니다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소비자는 하나의 쇼핑 경험을 하지만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뒤에 존재하는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다양한 셀러와 거래를 연결해주는 플랫폼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이라고 보시면 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플랫폼의 성격을 이해하신 상태에서 저희 분석의 출발 질문을 보시면 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 올리스트의 고객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97%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재구매하지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않을까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?”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일반적으로 이런 수치를 보면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리텐션이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문제라고 생각하고 재구매를 늘리는 방향부터 떠올리게 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저희는 분석을 이어가며 결국 질문이 이렇게 바뀌었습니다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떠나는 대다수의 고객에 계속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집중하는게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맞을까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아니면 처음부터 다른 방식으로 소비하는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의미있는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집단에 집중하는 것이 더 합리적일까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발표에서는 브라질의 대표적인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이커머스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중개 플랫폼인 올리스트의 고객 거래 데이터를 기반으로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AARRR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관점의 서비스의 성장 구조를 분석하고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최종적으로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 중심의 성장 전략을 제안하고자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20725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올리스트의 전체적인 성과 흐름부터 살펴보겠습니다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왼쪽 그래프는 월별 매출과 구매 고객 수의 추이를 보여줍니다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보시는 것처럼 시간에 따라 매출과 고객 수가 함께 증가하고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오른쪽 그래프의 파란색선은 고객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인당 평균 매출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ARPU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변화입니다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수가 늘어나는 와중에도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ARPU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비교적 높은 수준을 유지하고 있어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가치가 희석되지 않고 있는 것처럼 보입니다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앞에 급락하는 구간은 뒤에 뒤에 하늘색 바로 보이는 표본 규모에서 알 수 있듯이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 샘플수가 매우 적었던 시점에서 발생한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변동값으로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해석했습니다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이 두 지표만 보면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올리스트는 고객 수 증가와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고객당 매출이 동시에 유지되는 매우 건강한 성장 궤적을 그리고 있는 것처럼 보입니다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여기서 한 가지 질문이 생깁니다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성장은 정말 모든 고객이 고르게 만들어낸 지속 가능한 성장일까요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우리는 이 질문에 답하기 위해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단순한 매출 추이 분석을 넘어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AARRR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프레임워크 관점에서 고객을 세분화해 구조적으로 살펴보는 코호트 분석을 진행했습니다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7681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A75C-2188-01EE-5D82-CB743E4A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FCCBB7-2A14-F436-2E0F-F0E52BCFA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D7E822-69BD-1CEB-C708-9D5FFC337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이러한 분석이 왜 가능했는지 데이터 구조를 간단히 보면서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설명드리겠습니다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 데이터는 고객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배송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리뷰 정보가 각각 분리되어 있는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마켓플레이스형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이커머스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데이터입니다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구조 덕분에 고객 단위로 첫 구매부터 반복 구매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누적 구매 가치까지 시간의 흐름에 따라 추적할 수 있었고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기반으로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AARRR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단계에서 올리스트의 성장 구조를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관점에서 구조적으로 분석할 수 있었습니다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6B4983-51FD-AB45-DC12-1A6E33FDEB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48860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다음으로 데이터 품질을 검토한 내용과 분석을 위한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팀 내 기준을 어떻게 통일했는지를 먼저 말씀드리겠습니다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payments)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상품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items)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테이블에서 중복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존재했는데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한 주문에 여러 결제나 여러 상품이 포함될 수 있는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마켓플레이스형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이커머스의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정상적인 구조임을 확인했습니다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 리뷰 데이터의 결측 역시 사용자 선택 입력에 따른 자연스러운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결측으로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비즈니스 흐름상 설명 가능한 범위라고 판단하였습니다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전체 주문의 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97%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배송 완료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delivered)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상태였기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이후 분석을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delivered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 기준으로 제한하더라도 데이터 대표성에는 문제가 없다고 판단했습니다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과정을 바탕으로 분석자마다 해석이 달라질 수 있는 혼선 방지를 위해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단위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주문 기준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구매와 재구매 정의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매출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LTV)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 기준을 팀 내에서 사전에 명확히 통일했습니다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이후 모든 분석은 이 공통 기준 위에서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AARRR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단계의 결과를 일관된 기준에서 비교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해석하였습니다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올리스트의 성장을 만들어낸 고객 구조에 대해 단계적으로 살펴보겠습니다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5941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리텐션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관점에서 올리스트의 고객 구조를 살펴보겠습니다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왼쪽 그래프는 고객의 구매 횟수 분포입니다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보시는 것처럼 전체 고객의 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97%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단 한 번만 구매하고 이탈하고 있으며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재구매 고객은 전체의 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3%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불과합니다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그렇다면 재구매가 발생하는 고객들은 언제 다시 구매할까요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오른쪽 그래프를 보면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재구매 고객의 대부분은 첫 구매와 같은 달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이내에 다시 구매하고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장기적으로 다시 돌아오는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리텐션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패턴은 거의 관찰되지 않습니다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결과를 종합하면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올리스트의 성장은 재구매 기반의 성장 구조라고 보기 어렵습니다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저희는 다음 질문을 던지게 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그렇다면 “왜 고객은 다시 돌아오지 않는 걸까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?’”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76574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앞에서 보신 것처럼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올리스트의 재구매율은 매우 낮았고 초기에 급감 후 매우 낮은 수준으로 유지되는 것처럼 보였습니다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그렇다면 여기서 중요한 질문은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의미 있는 재구매 고객을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어디까지로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볼 것인가 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그래프는 첫 구매 이후 경과 기간별 재구매율을 보여줍니다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보시면 재구매율은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일까지는 점진적으로 증가하지만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6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개월 이후부터는 재구매율 증가폭이 매우 제한적입니다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저희는 첫 구매 후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개월을 재구매 유도의 </a:t>
            </a:r>
            <a:r>
              <a:rPr lang="ko-KR" alt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골든타임으로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정의하고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시점을 넘기면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고객이 다시 돌아올 가능성은 사실상 매우 낮다고 판단했습니다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이에 따라 이후 분석에서는 첫 구매 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개월 이내 재구매한 고객을 ‘잔존 고객’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개월을 초과한 고객을 ‘이탈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고객’으로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구분했고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슬라이드부터는 이 두 집단의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 경험에서 실제 차이가 있는지를 비교하며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재구매 부진의 원인을 살펴보았습니다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70120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재구매 부진의 원인 후보로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가격과 첫 구매 경험의 품질 요인을 살펴보았습니다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왼쪽 그래프는 첫 구매 결제 금액입니다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보시는 것처럼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재구매 여부에 따라 중앙값과 전체 분포에서 차이는 관찰되지 않았습니다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가운데 그래프는 첫 구매 배송 소요 기간을 살펴본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역시 재구매 고객과 이탈 고객 간에 뚜렷한 차이를 보이지 않았습니다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 오른쪽은 첫 구매 리뷰 점수를 비교한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 주문 중 리뷰가 존재하는 비율이 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99%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였으므로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올리스트에서는 사실상 첫 구매 시 리뷰 작성이 거의 자동으로 발생하는 구조임을 확인했습니다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집단 모두 전반적으로 높은 점수를 유지하고 있어 리뷰 유무나 리뷰 점수 역시 재구매 부진의 이유를 설명하기에는 충분치 않았습니다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결과를 종합하면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올리스트에서의 재구매 여부는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가격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배송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리뷰와 같은 첫 구매 경험의 ‘질적 요소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차이’로는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설명되기 어렵다는 결론에 도달했습니다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다음 질문은 “그럼에도 불구하고 발생한 소수의 재구매는 왜 일어난 걸까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리텐션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히트맵에서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보셨듯이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재구매는 대부분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 이후 한 달 이내에 집중적으로 발생했기 때문에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분석에서는 이 구간에 집중해 재구매의 성격을 살펴보았습니다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92015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왼쪽 그래프를 보시면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이내 재구매 고객의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60%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이상이 </a:t>
            </a:r>
            <a:endParaRPr lang="en-US" altLang="ko-K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구매와 동일한 카테고리를 다시 구매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것을 확인할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재구매가 새로운 관심사 탐색이나 서비스에 대한 충성도의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결과라기보다는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구매에서 충분히 충족되지 못한 동일한 수요의 연장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가능성을 시사합니다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경향은 오른쪽 그래프에서 더 분명해집니다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재구매가 많이 발생한 카테고리를 보면 침구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욕실용품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뷰티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건강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생활용품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액세서리처럼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소모성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생활 밀착형 카테고리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상위에 집중되어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종합하면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올리스트의 재구매는 충성도에 따른 반복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사용이라기보다는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구매에서 충족되지 못한 수요를 짧은 시간 내 보완하는 구매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가깝다고 해석할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올리스트의 성장을 설명하기 위해 재구매를 장기간 유도하는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리텐션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구조만으로는 한계가 있으며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저희는 이 시점에서 매출이 어떤 고객 구조에서 만들어지고 있는지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Revenue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관점으로 분석의 초점을 전환할 필요가 있다고 판단했습니다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55888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지금까지의 분석을 정리해보면 이렇습니다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올리스트의 재구매율은 전체 고객의 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수준에 불과했고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재구매는 대부분 첫 구매 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이내에 발생했습니다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 재구매는 서비스에 대한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충성도라기보다는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구매에서 충족되지 못한 수요를 보완하는 성격에 더 가까웠습니다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지점에서 저희는 한 가지 결론에 도달했습니다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Retention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지표만으로는 올리스트의 매출 성장을 설명하기 어렵다는 점입니다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질문을 바꿨습니다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누가 오래 남는가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?’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누가 실제로 매출을 만드는가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?’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평균 고객이 아닌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매출을 만들어내는 고객 구조를 보기 위해 이후 분석은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Revenue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관점으로 전환했습니다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55093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그래프는 고객을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LTV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기준으로 정렬했을 때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누적 고객 비율 대비 누적 매출 비율을 나타낸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파레토 커브입니다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쉽게 말해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매출 기여도가 높은 고객부터 차례대로 봤을 때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누적된 고객이 전체 매출의 몇 퍼센트를 만들어내는지를 보여주는 그래프입니다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보시다시피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곡선이 초반에 매우 가파르게 상승합니다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매출이 고객 전체에 고르게 분포된 것이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 소수 고객에게 집중되어 있다는 것을 말합니다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LTV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 **상위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고객이 전체 매출의 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26.7%**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차지하고 있으며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고객만으로도 전체 매출의 절반 이상이 발생합니다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결과를 통해 올리스트의 매출 구조는 ‘평균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고객’이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아니라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‘소수의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고객’에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의해 만들어지고 있음을 확인할 수 있었습니다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이후 분석에서는 이 상위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고객을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Value Customer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정의하고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해당 고객군을 중심으로 분석을 진행했습니다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63863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슬라이드는 고객 세그먼트별로 ‘고객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증가가 만들어내는 매출 효과’**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비교한 결과입니다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전체 고객을 기준으로 보면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왼쪽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증가는 평균적으로 매출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증가로 이어진다고 볼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그런데 앞에서 보셨듯이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LTV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 상위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고객은 전체 고객의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5%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불과하지만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매출의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26.7%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만들어내고 있었습니다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동일한 기준으로 환산하면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증가는 평균 고객 대비 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5.35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 높은 매출 증가 효과를 가진다는 것을 확인할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요약하면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고객을 아무나 늘리는 것보다 어떤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1%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늘리느냐가 매출 효율을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 이상 바꾼다는 결과입니다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다음 질문은 자연스럽게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이겁니다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그렇다면 우리가 늘려야 할 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고객은 과연 어떤 사람들인가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?’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615715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슬라이드의 그래프는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고객이 첫 구매에서 선택한 상품 카테고리를 빈도 순으로 정렬한 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그중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상위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카테고리에 대해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95%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고객과 비교한 결과입니다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그래프를 간단히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설명드리면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축은 첫 구매 상품의 카테고리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축은 해당 카테고리가 각 고객 그룹의 ‘첫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구매’에서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차지하는 비율을 의미합니다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고객과 일반 고객이 ‘첫 구매를 어디서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시작했는가’를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비율 기준으로 비교한 그래프라고 보시면 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결과를 보시면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고객은 첫 구매부터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미용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건강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액세서리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라이프스타일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취향 상품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자동차 용품과 같이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선물성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취향성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상대적으로 단가가 높은 카테고리에서 더 높은 비중을 보입니다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고객이 유입 시점부터 이미 가치소비 성향과 가격 허용도가 다른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고객군임을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보여주는 결과입니다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216670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73478-352F-2E23-DE21-9EFCA6492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2E5004-62CD-8EC4-8EA0-1B0D0A6AB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D2482A-9B41-A3F9-6346-595ED3672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 슬라이드에서는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고객이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무엇을 처음 샀는지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첫 구매 카테고리를 살펴봤다면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이제는 한 단계 더 들어가서 그 첫 구매에서 실제로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얼마짜리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상품을 선택했는지를 보겠습니다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슬라이드의 차트는 고객의 첫 구매 주문에 포함된 개별 상품 단가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분포를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고객과 일반 고객 간에 비교한 결과입니다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그래프의 왼쪽은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LTV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 상위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오른쪽은 하위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95%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일반 고객을 의미합니다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박스플롯은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첫 구매 시 선택된 상품 가격의 분포를 보여주며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중앙선은 중앙값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median)**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나타냅니다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중앙값 기준으로 보면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고객의 첫 구매 상품 단가는 약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456,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 고객은 약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70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수준으로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6.5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배의 차이가 발생합니다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결과가 의미하는 바는 명확합니다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고객은 구매를 반복해서 고가치가 된 고객이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 시점부터 이미 더 비싼 상품을 선택할 수 있는 가격 허용도를 가진 고객이라는 점입니다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 슬라이드에서 보였던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고객의 카테고리 차이는 우연이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 첫 구매부터 더 비싼 상품을 선택했다는 행동 차이로 이어지고 있음을 이 가격 분포가 뒷받침합니다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다시 말해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고객은 처음부터 다른 방식으로 소비하는 고객군이라고 볼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9C062A-5677-6C4D-F27E-BE922737F4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291782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다음 질문은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이겁니다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고객들은 실제로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어디에 많이 존재하고 있을까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마케팅 관점에서 우리는 이 고객들을 어떤 지역에서부터 접근하는 것이 합리적일까요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슬라이드는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 수 기준으로 지역 분포를 확인한 결과입니다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마케팅 관점에서 실제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 풀이 크게 형성된 지역이 타겟 후보가 되기 때문입니다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그래프과 지도를 보시면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상파울루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SP),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리우데자네이루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RJ),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미나스제라이스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MG)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고객이 수적으로 많이 집중되어 있는 것을 확인할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세 지역은 브라질 내에서도 대표적인 대도시이자 경제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소비의 중심 지역으로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중산층 이상 인구와 온라인 소비 인프라가 밀집된 곳입니다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앞에서 확인한 ‘처음부터 고단가 상품을 선택하는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고객’들은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무작위로 흩어져 있는 것이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대도시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경제 중심 지역에 구조적으로 집중되어 있다고 해석할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095189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지금까지의 분석을 종합해보면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올리스트의 성장은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재구매를 늘리는 구조로는 설명되지 않았습니다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대신 매출은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소수의 </a:t>
            </a:r>
            <a:r>
              <a:rPr lang="ko-KR" alt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그들의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 시점에서 이미 결정되고 있었습니다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저희는 전략의 방향을 ‘전체 고객을 대상으로 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리텐션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개선’이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 세그먼트에 집중한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AARRR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 재설계로 정리했습니다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Acquisition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단계입니다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 결과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고객은 특정 카테고리에서 더 많이 발생했고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이들의 초기 유입 자체가 이후 매출 구조에 큰 영향을 미쳤습니다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광고 진입점에서 시계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뷰티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헬스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액세서리처럼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 발생 가능성이 높은 카테고리를 우선 노출하는 전략을 제안합니다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단계의 핵심 지표는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 비중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 객단가입니다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</a:t>
            </a:r>
            <a:r>
              <a:rPr lang="ko-KR" alt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객단가는 고객이 한 번의 구매에서 평균적으로 얼마를 쓰는지를 의미합니다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다음은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Activation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단계입니다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고객은 특정 지역과 조건에 집중되어 있었고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 경험이 이후 매출을 사실상 결정하고 있었습니다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빠른 배송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프리미엄 셀러 강조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가치 소비 메시지를 지역 특성에 맞게 차별화하여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 전환을 극대화하는 전략이 중요합니다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마지막은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Revenue-focused Retention</a:t>
            </a:r>
            <a:endParaRPr lang="en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리텐션은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재구매를 오래 유지하는 것이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 시점에서 매출을 최대화하는 관점의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리텐션입니다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프리미엄 상품과 옵션 강조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수량 가이드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 상품 구매 시 혜택 제공 등을 통해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 매출 기여도와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LTV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극대화하는 것이 핵심 전략입니다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올리스트의 성장은 ‘모두를 오래 붙잡는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서비스’가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고객을 빠르게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유입시키고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구매에서 매출을 완성하는 구조로 이해할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892186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 지금까지의 분석내용을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AARRR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프레임워크 기준으로 요약하고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이번 프로젝트를 통해 얻은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KPT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간단히 말씀드리겠습니다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Acquisition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고객은 무작위로 유입되는 것이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특정 카테고리와 대도시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경제 중심 지역에 집중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되어 있었습니다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유입의 ‘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양’보다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누구를 데려오느냐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성장에 더 중요하다는 점을 확인했습니다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Activation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고객이 첫 구매 시점부터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카테고리 선택과 상품 단가에서 일반 고객과 차이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보였고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 경험에서 이미 매출 구조가 결정된다는 인사이트를 얻었습니다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반면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Retention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재구매 자체가 매우 제한적이었고 장기 유지 개선만으로는 성장에 한계가 있다는 점을 확인했습니다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Revenue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측면에서는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고객이 전체 매출의 약 **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27%**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차지하며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소수 고객이 올리스트 매출을 실질적으로 견인하고 있었습니다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저희는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올리스트의 성장은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Retention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개선보다는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고가치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고객의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Acquisition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</a:t>
            </a:r>
            <a:r>
              <a:rPr lang="en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Activation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정밀하게 강화하는 전략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달려 있다고 결론 내렸습니다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 간단한 회고입니다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AARRR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프레임을 기준으로 문제를 구조화하고 분석을 전략까지 연결한 점은 이번 프로젝트의 가장 큰 성과였습니다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다만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같은 고객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명을 데려오는 데 드는 비용이나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수수료율 데이터 부재로 수익 분석을 더 깊게 하지 못한 점은 한계로 남습니다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그럼에도 불구하고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복잡한 데이터셋을 팀원들과 함께 끝까지 분석해낸 경험은 모두에게 의미 있는 시간이었습니다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이상으로 발표를 마치겠습니다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감사합니다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17F9C8-91D1-A042-92E3-7082BD349B97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79041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62DCE1-47FB-5051-7D28-578A2E11B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471141-CA2E-1CAF-791D-83A320C3E4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84B6D4-3493-CD5F-F4E0-89E55145A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BBCCD-C3A7-5045-9181-06F72EE0B3D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51ACFA-649B-8361-E162-77D2CA9EE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27C756-04BB-AE0A-E32D-D9C692A3A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278A-49E2-EC47-A962-0497C522DA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67337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173200-EEA6-E641-84F9-27468A33E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5B752E-AF52-83B0-8649-20409E591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2B1F90-B462-B254-F63F-2F6D1E88C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BBCCD-C3A7-5045-9181-06F72EE0B3D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1706D3-EE10-B92C-D97B-2F17A5849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5F2CEC-1BD5-5C23-DAF6-70201159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278A-49E2-EC47-A962-0497C522DA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99858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131992-C111-9FBA-403D-DA2B6182C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0D9505-6CC6-63F7-EC51-B9F321FEB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F06544-11B8-7ECC-878F-A322143F7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BBCCD-C3A7-5045-9181-06F72EE0B3D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FABF21-D83F-6B02-7759-ED22C2519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7D3CBB-6550-5D83-1AEE-029F7E997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278A-49E2-EC47-A962-0497C522DA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18890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6F293B-1C4F-3DCF-2602-64FEC93D3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CE8B22-5CF2-6039-108C-DC837A2F23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523A85-985A-59AD-9CE6-DF1402EB2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C911FE-757A-1BFF-BB76-6E8FCEECA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BBCCD-C3A7-5045-9181-06F72EE0B3D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9BE747-C35E-7E92-18D9-A784C7769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31ED9B-8A08-1E09-A993-6F10888B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278A-49E2-EC47-A962-0497C522DA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18559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FF71AD-A8AA-1850-355C-47091D43B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E342AB-D474-4229-910A-5C1AE7384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A68566-7F20-ADC7-9740-EA492BE3F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AA99F9-2EF6-62A6-6D33-00248A4EB2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E620FD2-69FF-B432-32CA-566AFC4660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822BE27-C2F5-7F1F-5E52-D0329F49A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BBCCD-C3A7-5045-9181-06F72EE0B3D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6D5761C-AB8F-2DF0-F6A9-9F0C76060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E1BED13-FB9A-DD20-F724-8DF368A94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278A-49E2-EC47-A962-0497C522DA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45596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A665B-E633-01F8-6574-255974849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C3706E-4152-B9C7-AACC-75970AE0D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BBCCD-C3A7-5045-9181-06F72EE0B3D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37BC9C-9CB3-12D8-F126-FFFF67851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7E9BC9-F498-5A4D-D780-6817A625B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278A-49E2-EC47-A962-0497C522DA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1468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8B4551D-3488-0FFD-436A-FAA032F50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BBCCD-C3A7-5045-9181-06F72EE0B3D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2060876-ADA4-7062-0399-4261A4E66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97F02E-2CA2-7089-9A2C-17265D278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278A-49E2-EC47-A962-0497C522DA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08528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94D951-60F5-C11A-9A3F-8879C4980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346113-9566-58BE-06EE-F160B1028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56BF86-19ED-A480-9B50-8CDD46591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BCD6AB-1F8A-6E04-E5C6-1FA7CD72C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BBCCD-C3A7-5045-9181-06F72EE0B3D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89DAB4-8199-6757-941E-77F577B1D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C948F9-5749-E947-EFA6-02A7AEB0E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278A-49E2-EC47-A962-0497C522DA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49987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C080FA-2BEB-EBC1-7EA1-662531460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B9C5367-19DE-13CE-2584-BBB1B62DF9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3C220B-CEDC-C33D-ED04-0E1D7BA49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71C265-21FE-B1C1-BBA8-32FB54CD6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BBCCD-C3A7-5045-9181-06F72EE0B3D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483BE9-C152-66EB-D57A-912DE3AE4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D2D50B-213B-5EDF-E741-E510AEE3B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278A-49E2-EC47-A962-0497C522DA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6601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F0836A-BE3E-65EC-9EF6-309BA0D43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2DA3BE9-BB2C-51C6-BCB0-89739816D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FF4A8D-787B-5FE2-DECF-ED144E3AE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BBCCD-C3A7-5045-9181-06F72EE0B3D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67A7D7-9F46-2CBD-1DE9-A9ECEB75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F95B02-8E26-723A-C6A0-7658251B2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278A-49E2-EC47-A962-0497C522DA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61888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A7E8BDD-5ADE-84B3-96E1-B96CA07D18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E2A8444-318E-C610-3993-9CE218116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DDF946-C32A-C4A4-13BD-2D51C2997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BBCCD-C3A7-5045-9181-06F72EE0B3D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68FFAC-1883-E654-D5A6-1E4D747BD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AD5CAE-83FE-3050-5AC0-E2632BF23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D278A-49E2-EC47-A962-0497C522DA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19337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53E420-26E6-A979-5036-ABDD43D5C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F97CC7-5C7F-0DEA-8BCF-C60E326A8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F84C6D-7CEB-0A8B-67A9-226F3602EA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4BBCCD-C3A7-5045-9181-06F72EE0B3DC}" type="datetimeFigureOut">
              <a:rPr kumimoji="1" lang="ko-KR" altLang="en-US" smtClean="0"/>
              <a:t>2026. 1. 24.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FE9D7B-DF49-EFBC-A42F-A37BD36400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251FF3-6A06-8129-4BA3-C457FBB3C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D278A-49E2-EC47-A962-0497C522DAC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29512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40DEF8-B6B6-6F5A-BD69-88DB696CC07B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82571D-3711-01F8-D6D4-227CC8DD4CDE}"/>
              </a:ext>
            </a:extLst>
          </p:cNvPr>
          <p:cNvSpPr txBox="1"/>
          <p:nvPr/>
        </p:nvSpPr>
        <p:spPr>
          <a:xfrm>
            <a:off x="232230" y="1994994"/>
            <a:ext cx="8476342" cy="223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ko-KR" altLang="en-US" sz="3600" b="1" dirty="0">
                <a:solidFill>
                  <a:schemeClr val="tx2"/>
                </a:solidFill>
              </a:rPr>
              <a:t>왜 </a:t>
            </a:r>
            <a:r>
              <a:rPr lang="en" altLang="ko-KR" sz="3600" b="1" dirty="0">
                <a:solidFill>
                  <a:schemeClr val="tx2"/>
                </a:solidFill>
              </a:rPr>
              <a:t>Olist </a:t>
            </a:r>
            <a:r>
              <a:rPr lang="ko-KR" altLang="en-US" sz="3600" b="1" dirty="0">
                <a:solidFill>
                  <a:schemeClr val="tx2"/>
                </a:solidFill>
              </a:rPr>
              <a:t>고객의 </a:t>
            </a:r>
            <a:r>
              <a:rPr lang="en-US" altLang="ko-KR" sz="3600" b="1" dirty="0">
                <a:solidFill>
                  <a:schemeClr val="tx2"/>
                </a:solidFill>
              </a:rPr>
              <a:t>97%</a:t>
            </a:r>
            <a:r>
              <a:rPr lang="ko-KR" altLang="en-US" sz="3600" b="1" dirty="0">
                <a:solidFill>
                  <a:schemeClr val="tx2"/>
                </a:solidFill>
              </a:rPr>
              <a:t>는 </a:t>
            </a:r>
            <a:endParaRPr lang="en-US" altLang="ko-KR" sz="3600" b="1" dirty="0">
              <a:solidFill>
                <a:schemeClr val="tx2"/>
              </a:solidFill>
            </a:endParaRPr>
          </a:p>
          <a:p>
            <a:pPr algn="ctr">
              <a:lnSpc>
                <a:spcPct val="150000"/>
              </a:lnSpc>
              <a:buNone/>
            </a:pPr>
            <a:r>
              <a:rPr lang="ko-KR" altLang="en-US" sz="3600" b="1" dirty="0" err="1">
                <a:solidFill>
                  <a:schemeClr val="tx2"/>
                </a:solidFill>
              </a:rPr>
              <a:t>재구매하지</a:t>
            </a:r>
            <a:r>
              <a:rPr lang="ko-KR" altLang="en-US" sz="3600" b="1" dirty="0">
                <a:solidFill>
                  <a:schemeClr val="tx2"/>
                </a:solidFill>
              </a:rPr>
              <a:t> 않는가</a:t>
            </a:r>
            <a:r>
              <a:rPr lang="en-US" altLang="ko-KR" sz="3600" b="1" dirty="0">
                <a:solidFill>
                  <a:schemeClr val="tx2"/>
                </a:solidFill>
              </a:rPr>
              <a:t>?</a:t>
            </a:r>
          </a:p>
          <a:p>
            <a:pPr algn="ctr">
              <a:lnSpc>
                <a:spcPct val="150000"/>
              </a:lnSpc>
              <a:buNone/>
            </a:pPr>
            <a:r>
              <a:rPr lang="en-US" altLang="ko-KR" sz="2400" b="1" dirty="0">
                <a:solidFill>
                  <a:schemeClr val="tx2"/>
                </a:solidFill>
              </a:rPr>
              <a:t>-</a:t>
            </a:r>
            <a:r>
              <a:rPr lang="ko-KR" altLang="en-US" sz="2400" b="1" dirty="0">
                <a:solidFill>
                  <a:schemeClr val="tx2"/>
                </a:solidFill>
              </a:rPr>
              <a:t> 데이터로 밝혀낸 </a:t>
            </a:r>
            <a:r>
              <a:rPr lang="en-US" altLang="ko-KR" sz="2400" b="1" dirty="0">
                <a:solidFill>
                  <a:schemeClr val="tx2"/>
                </a:solidFill>
              </a:rPr>
              <a:t>‘</a:t>
            </a:r>
            <a:r>
              <a:rPr lang="ko-KR" altLang="en-US" sz="2400" b="1" dirty="0">
                <a:solidFill>
                  <a:schemeClr val="tx2"/>
                </a:solidFill>
              </a:rPr>
              <a:t>고가치 고객</a:t>
            </a:r>
            <a:r>
              <a:rPr lang="en-US" altLang="ko-KR" sz="2400" b="1" dirty="0">
                <a:solidFill>
                  <a:schemeClr val="tx2"/>
                </a:solidFill>
              </a:rPr>
              <a:t>’</a:t>
            </a:r>
            <a:r>
              <a:rPr lang="ko-KR" altLang="en-US" sz="2400" b="1" dirty="0">
                <a:solidFill>
                  <a:schemeClr val="tx2"/>
                </a:solidFill>
              </a:rPr>
              <a:t> 중심 성장 전략 </a:t>
            </a:r>
            <a:r>
              <a:rPr lang="en-US" altLang="ko-KR" sz="2400" b="1" dirty="0">
                <a:solidFill>
                  <a:schemeClr val="tx2"/>
                </a:solidFill>
              </a:rPr>
              <a:t>-</a:t>
            </a:r>
            <a:r>
              <a:rPr lang="ko-KR" altLang="en-US" sz="2400" b="1" dirty="0">
                <a:solidFill>
                  <a:schemeClr val="tx2"/>
                </a:solidFill>
              </a:rPr>
              <a:t> </a:t>
            </a:r>
            <a:endParaRPr lang="en-US" altLang="ko-KR" sz="2400" b="1" dirty="0">
              <a:solidFill>
                <a:schemeClr val="tx2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A1C2688-F59B-7196-BB6A-1657D1DA3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2052" y="915877"/>
            <a:ext cx="2729670" cy="4094506"/>
          </a:xfrm>
          <a:prstGeom prst="rect">
            <a:avLst/>
          </a:prstGeom>
        </p:spPr>
      </p:pic>
      <p:pic>
        <p:nvPicPr>
          <p:cNvPr id="17" name="그림 16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1BAB8D-DDF3-083B-8E6D-6056DD862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3A6B1DF-5D04-0BFD-130B-78DECE9F9DBD}"/>
              </a:ext>
            </a:extLst>
          </p:cNvPr>
          <p:cNvSpPr txBox="1"/>
          <p:nvPr/>
        </p:nvSpPr>
        <p:spPr>
          <a:xfrm>
            <a:off x="627222" y="5010383"/>
            <a:ext cx="4128654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ko-KR" b="1" dirty="0">
                <a:solidFill>
                  <a:schemeClr val="tx2"/>
                </a:solidFill>
                <a:latin typeface="+mn-ea"/>
              </a:rPr>
              <a:t>TEAM</a:t>
            </a:r>
            <a:r>
              <a:rPr lang="ko-KR" altLang="en-US" b="1" dirty="0">
                <a:solidFill>
                  <a:schemeClr val="tx2"/>
                </a:solidFill>
                <a:latin typeface="+mn-ea"/>
              </a:rPr>
              <a:t> </a:t>
            </a:r>
            <a:r>
              <a:rPr lang="en-US" altLang="ko-KR" b="1" dirty="0">
                <a:solidFill>
                  <a:schemeClr val="tx2"/>
                </a:solidFill>
                <a:latin typeface="+mn-ea"/>
              </a:rPr>
              <a:t>:</a:t>
            </a:r>
            <a:r>
              <a:rPr lang="ko-KR" altLang="en-US" b="1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b="1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올특인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(=</a:t>
            </a:r>
            <a:r>
              <a:rPr lang="en-US" altLang="ko-KR" b="1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Olist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 ‘</a:t>
            </a:r>
            <a:r>
              <a:rPr lang="ko-KR" altLang="en-US" b="1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특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’ insight)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lang="en-US" altLang="ko-KR" b="1" dirty="0">
                <a:solidFill>
                  <a:schemeClr val="tx2"/>
                </a:solidFill>
                <a:latin typeface="+mn-ea"/>
              </a:rPr>
              <a:t>MEMBERS : </a:t>
            </a:r>
            <a:r>
              <a:rPr lang="ko-KR" altLang="en-US" b="1" dirty="0">
                <a:solidFill>
                  <a:schemeClr val="tx2"/>
                </a:solidFill>
                <a:latin typeface="+mn-ea"/>
              </a:rPr>
              <a:t> </a:t>
            </a:r>
            <a:endParaRPr lang="en-US" altLang="ko-KR" b="1" dirty="0">
              <a:solidFill>
                <a:schemeClr val="tx2"/>
              </a:solidFill>
              <a:latin typeface="+mn-ea"/>
            </a:endParaRPr>
          </a:p>
          <a:p>
            <a:pPr marL="274638"/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이윤화 </a:t>
            </a:r>
            <a:r>
              <a:rPr lang="en-US" altLang="ko-KR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| </a:t>
            </a:r>
            <a:r>
              <a:rPr lang="en" altLang="ko-KR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Storyteller</a:t>
            </a:r>
          </a:p>
          <a:p>
            <a:pPr marL="274638"/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송현준 </a:t>
            </a:r>
            <a:r>
              <a:rPr lang="en-US" altLang="ko-KR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| </a:t>
            </a:r>
            <a:r>
              <a:rPr lang="en" altLang="ko-KR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Think Tank</a:t>
            </a:r>
          </a:p>
          <a:p>
            <a:pPr marL="274638"/>
            <a:r>
              <a:rPr lang="ko-KR" altLang="en-US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박의진</a:t>
            </a:r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|</a:t>
            </a:r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 </a:t>
            </a:r>
            <a:r>
              <a:rPr lang="en" altLang="ko-KR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Architect</a:t>
            </a:r>
          </a:p>
        </p:txBody>
      </p:sp>
    </p:spTree>
    <p:extLst>
      <p:ext uri="{BB962C8B-B14F-4D97-AF65-F5344CB8AC3E}">
        <p14:creationId xmlns:p14="http://schemas.microsoft.com/office/powerpoint/2010/main" val="1584991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E95717-89AF-7C68-F7A3-F6EED6952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41" y="1771777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AAA098D-2048-49BD-AC08-FFD70BBA723F}"/>
              </a:ext>
            </a:extLst>
          </p:cNvPr>
          <p:cNvSpPr txBox="1"/>
          <p:nvPr/>
        </p:nvSpPr>
        <p:spPr>
          <a:xfrm>
            <a:off x="6268907" y="810385"/>
            <a:ext cx="2734173" cy="81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ko-KR" altLang="en-US" sz="3600" b="1" dirty="0">
                <a:solidFill>
                  <a:schemeClr val="tx2"/>
                </a:solidFill>
              </a:rPr>
              <a:t>발표 흐름</a:t>
            </a:r>
            <a:endParaRPr lang="en-US" altLang="ko-KR" sz="3600" b="1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4CA5B3-62D2-8A94-844F-79D233A82060}"/>
              </a:ext>
            </a:extLst>
          </p:cNvPr>
          <p:cNvSpPr txBox="1"/>
          <p:nvPr/>
        </p:nvSpPr>
        <p:spPr>
          <a:xfrm>
            <a:off x="6606744" y="1758297"/>
            <a:ext cx="5139070" cy="4303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altLang="ko-KR" sz="2000" b="1" dirty="0">
                <a:solidFill>
                  <a:srgbClr val="4C6B03"/>
                </a:solidFill>
              </a:rPr>
              <a:t>1.</a:t>
            </a:r>
            <a:r>
              <a:rPr lang="ko-KR" altLang="en-US" sz="2000" b="1" dirty="0">
                <a:solidFill>
                  <a:srgbClr val="4C6B03"/>
                </a:solidFill>
              </a:rPr>
              <a:t> 문제 정의</a:t>
            </a:r>
            <a:endParaRPr lang="en-US" altLang="ko-KR" sz="2000" b="1" dirty="0">
              <a:solidFill>
                <a:srgbClr val="4C6B03"/>
              </a:solidFill>
            </a:endParaRPr>
          </a:p>
          <a:p>
            <a:pPr>
              <a:lnSpc>
                <a:spcPct val="200000"/>
              </a:lnSpc>
              <a:buNone/>
            </a:pPr>
            <a:r>
              <a:rPr lang="en-US" altLang="ko-KR" sz="2000" b="1" dirty="0">
                <a:solidFill>
                  <a:srgbClr val="4C6B03"/>
                </a:solidFill>
              </a:rPr>
              <a:t>2.</a:t>
            </a:r>
            <a:r>
              <a:rPr lang="ko-KR" altLang="en-US" sz="2000" b="1" dirty="0">
                <a:solidFill>
                  <a:srgbClr val="4C6B03"/>
                </a:solidFill>
              </a:rPr>
              <a:t> 데이터 신뢰성 및 분석 기준 정립</a:t>
            </a:r>
            <a:endParaRPr lang="en-US" altLang="ko-KR" sz="2000" b="1" dirty="0">
              <a:solidFill>
                <a:srgbClr val="4C6B03"/>
              </a:solidFill>
            </a:endParaRPr>
          </a:p>
          <a:p>
            <a:pPr>
              <a:lnSpc>
                <a:spcPct val="200000"/>
              </a:lnSpc>
              <a:buNone/>
            </a:pPr>
            <a:r>
              <a:rPr lang="en-US" altLang="ko-KR" sz="2000" b="1" dirty="0">
                <a:solidFill>
                  <a:srgbClr val="4C6B03"/>
                </a:solidFill>
              </a:rPr>
              <a:t>3.</a:t>
            </a:r>
            <a:r>
              <a:rPr lang="ko-KR" altLang="en-US" sz="2000" b="1" dirty="0">
                <a:solidFill>
                  <a:srgbClr val="4C6B03"/>
                </a:solidFill>
              </a:rPr>
              <a:t> </a:t>
            </a:r>
            <a:r>
              <a:rPr lang="ko-KR" altLang="en-US" sz="2000" b="1" dirty="0" err="1">
                <a:solidFill>
                  <a:srgbClr val="4C6B03"/>
                </a:solidFill>
              </a:rPr>
              <a:t>리텐션</a:t>
            </a:r>
            <a:r>
              <a:rPr lang="ko-KR" altLang="en-US" sz="2000" b="1" dirty="0">
                <a:solidFill>
                  <a:srgbClr val="4C6B03"/>
                </a:solidFill>
              </a:rPr>
              <a:t> 구조 진단</a:t>
            </a:r>
            <a:endParaRPr lang="en-US" altLang="ko-KR" sz="2000" b="1" dirty="0">
              <a:solidFill>
                <a:srgbClr val="4C6B03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4C6B03"/>
                </a:solidFill>
              </a:rPr>
              <a:t>4.</a:t>
            </a:r>
            <a:r>
              <a:rPr lang="ko-KR" altLang="en-US" sz="2000" b="1" dirty="0">
                <a:solidFill>
                  <a:srgbClr val="4C6B03"/>
                </a:solidFill>
              </a:rPr>
              <a:t> 재구매의 성격 분석 </a:t>
            </a:r>
            <a:r>
              <a:rPr lang="en-US" altLang="ko-KR" sz="2000" b="1" dirty="0">
                <a:solidFill>
                  <a:srgbClr val="4C6B03"/>
                </a:solidFill>
              </a:rPr>
              <a:t>(</a:t>
            </a:r>
            <a:r>
              <a:rPr lang="ko-KR" altLang="en-US" sz="2000" b="1" dirty="0">
                <a:solidFill>
                  <a:srgbClr val="4C6B03"/>
                </a:solidFill>
              </a:rPr>
              <a:t>행동 관점</a:t>
            </a:r>
            <a:r>
              <a:rPr lang="en-US" altLang="ko-KR" sz="2000" b="1" dirty="0">
                <a:solidFill>
                  <a:srgbClr val="4C6B03"/>
                </a:solidFill>
              </a:rPr>
              <a:t>)</a:t>
            </a:r>
            <a:r>
              <a:rPr lang="ko-KR" altLang="en-US" sz="2000" b="1" dirty="0">
                <a:solidFill>
                  <a:srgbClr val="4C6B03"/>
                </a:solidFill>
              </a:rPr>
              <a:t> </a:t>
            </a:r>
            <a:endParaRPr lang="en-US" altLang="ko-KR" sz="2000" b="1" dirty="0">
              <a:solidFill>
                <a:srgbClr val="4C6B03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4C6B03"/>
                </a:solidFill>
              </a:rPr>
              <a:t>5.</a:t>
            </a:r>
            <a:r>
              <a:rPr lang="ko-KR" altLang="en-US" sz="2000" b="1" dirty="0">
                <a:solidFill>
                  <a:srgbClr val="4C6B03"/>
                </a:solidFill>
              </a:rPr>
              <a:t> 관점 전환 </a:t>
            </a:r>
            <a:r>
              <a:rPr lang="en-US" altLang="ko-KR" sz="2000" b="1" dirty="0">
                <a:solidFill>
                  <a:srgbClr val="4C6B03"/>
                </a:solidFill>
              </a:rPr>
              <a:t>:</a:t>
            </a:r>
            <a:r>
              <a:rPr lang="ko-KR" altLang="en-US" sz="2000" b="1" dirty="0">
                <a:solidFill>
                  <a:srgbClr val="4C6B03"/>
                </a:solidFill>
              </a:rPr>
              <a:t> </a:t>
            </a:r>
            <a:r>
              <a:rPr lang="en" altLang="ko-KR" sz="2000" b="1" dirty="0">
                <a:solidFill>
                  <a:srgbClr val="4C6B03"/>
                </a:solidFill>
              </a:rPr>
              <a:t>Retention → Revenue</a:t>
            </a: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4C6B03"/>
                </a:solidFill>
              </a:rPr>
              <a:t>6.</a:t>
            </a:r>
            <a:r>
              <a:rPr lang="ko-KR" altLang="en-US" sz="2000" b="1" dirty="0">
                <a:solidFill>
                  <a:srgbClr val="4C6B03"/>
                </a:solidFill>
              </a:rPr>
              <a:t> 매출 구조 분석</a:t>
            </a:r>
            <a:endParaRPr lang="en-US" altLang="ko-KR" sz="2000" b="1" dirty="0">
              <a:solidFill>
                <a:srgbClr val="4C6B03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4C6B03"/>
                </a:solidFill>
              </a:rPr>
              <a:t>7.</a:t>
            </a:r>
            <a:r>
              <a:rPr lang="ko-KR" altLang="en-US" sz="2000" b="1" dirty="0">
                <a:solidFill>
                  <a:srgbClr val="4C6B03"/>
                </a:solidFill>
              </a:rPr>
              <a:t> 시사점 및 전략 제언</a:t>
            </a:r>
            <a:endParaRPr lang="en" altLang="ko-KR" sz="2000" b="1" dirty="0">
              <a:solidFill>
                <a:srgbClr val="4C6B0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53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3D6347-ABCC-8067-7105-1B1A03741920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85A7EC-12E5-90CA-E037-F7F29F03D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5D2C142E-35E6-4FC9-4C29-77E82FFFA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lang="en" altLang="ko-KR" sz="2000" b="1" dirty="0">
                <a:solidFill>
                  <a:schemeClr val="tx2"/>
                </a:solidFill>
              </a:rPr>
              <a:t>Olist </a:t>
            </a:r>
            <a:r>
              <a:rPr lang="ko-KR" altLang="en-US" sz="2000" b="1" dirty="0">
                <a:solidFill>
                  <a:schemeClr val="tx2"/>
                </a:solidFill>
              </a:rPr>
              <a:t>성장은 어디에서 기인하는 것일까</a:t>
            </a:r>
            <a:r>
              <a:rPr lang="en-US" altLang="ko-KR" sz="2000" b="1" dirty="0">
                <a:solidFill>
                  <a:schemeClr val="tx2"/>
                </a:solidFill>
              </a:rPr>
              <a:t>?</a:t>
            </a:r>
            <a:r>
              <a:rPr lang="ko-KR" altLang="en-US" sz="2000" b="1" dirty="0">
                <a:solidFill>
                  <a:schemeClr val="tx2"/>
                </a:solidFill>
              </a:rPr>
              <a:t>  </a:t>
            </a:r>
            <a:endParaRPr kumimoji="1" lang="ko-KR" altLang="en-US" sz="2000" b="1" dirty="0">
              <a:solidFill>
                <a:schemeClr val="tx2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347764-E1E4-F853-A2B3-06E63C7B0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939" y="2403287"/>
            <a:ext cx="5047952" cy="33952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F3AB7A-CC5E-9365-D5CE-6D2536D31E04}"/>
              </a:ext>
            </a:extLst>
          </p:cNvPr>
          <p:cNvSpPr txBox="1"/>
          <p:nvPr/>
        </p:nvSpPr>
        <p:spPr>
          <a:xfrm>
            <a:off x="1136096" y="5798537"/>
            <a:ext cx="4262093" cy="424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b="1" dirty="0">
                <a:solidFill>
                  <a:schemeClr val="tx2"/>
                </a:solidFill>
                <a:latin typeface=".AppleSystemUIFont"/>
              </a:rPr>
              <a:t>✅  매출과 고객수가  함께 증가</a:t>
            </a:r>
            <a:endParaRPr lang="ko-KR" altLang="en-US" sz="1600" b="1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950D65-6461-D48F-2623-C9CF94C7D81E}"/>
              </a:ext>
            </a:extLst>
          </p:cNvPr>
          <p:cNvSpPr txBox="1"/>
          <p:nvPr/>
        </p:nvSpPr>
        <p:spPr>
          <a:xfrm>
            <a:off x="6580078" y="5798537"/>
            <a:ext cx="4262093" cy="424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schemeClr val="tx2"/>
                </a:solidFill>
                <a:latin typeface=".AppleSystemUIFont"/>
              </a:rPr>
              <a:t>✅ </a:t>
            </a:r>
            <a:r>
              <a:rPr lang="en-US" altLang="ko-KR" sz="1600" b="1" dirty="0">
                <a:solidFill>
                  <a:schemeClr val="tx2"/>
                </a:solidFill>
                <a:latin typeface=".AppleSystemUIFont"/>
              </a:rPr>
              <a:t>ARPU (</a:t>
            </a:r>
            <a:r>
              <a:rPr lang="ko-KR" altLang="en-US" sz="1600" b="1" dirty="0">
                <a:solidFill>
                  <a:schemeClr val="tx2"/>
                </a:solidFill>
                <a:latin typeface=".AppleSystemUIFont"/>
              </a:rPr>
              <a:t>고객 </a:t>
            </a:r>
            <a:r>
              <a:rPr lang="en-US" altLang="ko-KR" sz="1600" b="1" dirty="0">
                <a:solidFill>
                  <a:schemeClr val="tx2"/>
                </a:solidFill>
                <a:latin typeface=".AppleSystemUIFont"/>
              </a:rPr>
              <a:t>1</a:t>
            </a:r>
            <a:r>
              <a:rPr lang="ko-KR" altLang="en-US" sz="1600" b="1" dirty="0">
                <a:solidFill>
                  <a:schemeClr val="tx2"/>
                </a:solidFill>
                <a:latin typeface=".AppleSystemUIFont"/>
              </a:rPr>
              <a:t>인당 평균매출</a:t>
            </a:r>
            <a:r>
              <a:rPr lang="en-US" altLang="ko-KR" sz="1600" b="1" dirty="0">
                <a:solidFill>
                  <a:schemeClr val="tx2"/>
                </a:solidFill>
                <a:latin typeface=".AppleSystemUIFont"/>
              </a:rPr>
              <a:t>)</a:t>
            </a:r>
            <a:r>
              <a:rPr lang="ko-KR" altLang="en-US" sz="1600" b="1" dirty="0">
                <a:solidFill>
                  <a:schemeClr val="tx2"/>
                </a:solidFill>
                <a:latin typeface=".AppleSystemUIFont"/>
              </a:rPr>
              <a:t>도 안정적 유지 </a:t>
            </a:r>
            <a:endParaRPr lang="ko-KR" altLang="en-US" sz="1600" b="1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A3D194-E9AD-C2AA-828D-CBF39A854100}"/>
              </a:ext>
            </a:extLst>
          </p:cNvPr>
          <p:cNvSpPr txBox="1"/>
          <p:nvPr/>
        </p:nvSpPr>
        <p:spPr>
          <a:xfrm>
            <a:off x="1601071" y="1985196"/>
            <a:ext cx="35694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2"/>
                </a:solidFill>
              </a:rPr>
              <a:t>&lt;</a:t>
            </a:r>
            <a:r>
              <a:rPr lang="ko-KR" altLang="en-US" sz="1600" b="1" dirty="0">
                <a:solidFill>
                  <a:schemeClr val="tx2"/>
                </a:solidFill>
              </a:rPr>
              <a:t> 월별 매출과 구매 고객 수 추이 </a:t>
            </a:r>
            <a:r>
              <a:rPr lang="en-US" altLang="ko-KR" sz="1600" b="1" dirty="0">
                <a:solidFill>
                  <a:schemeClr val="tx2"/>
                </a:solidFill>
              </a:rPr>
              <a:t>&gt;</a:t>
            </a:r>
            <a:endParaRPr lang="ko-KR" altLang="en-US" sz="1600" dirty="0">
              <a:solidFill>
                <a:schemeClr val="tx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EAF7DD-E232-C33E-D9E2-3886F86F7CAB}"/>
              </a:ext>
            </a:extLst>
          </p:cNvPr>
          <p:cNvSpPr txBox="1"/>
          <p:nvPr/>
        </p:nvSpPr>
        <p:spPr>
          <a:xfrm>
            <a:off x="6521970" y="1968931"/>
            <a:ext cx="43202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2"/>
                </a:solidFill>
              </a:rPr>
              <a:t>&lt;</a:t>
            </a:r>
            <a:r>
              <a:rPr lang="ko-KR" altLang="en-US" sz="1600" b="1" dirty="0">
                <a:solidFill>
                  <a:schemeClr val="tx2"/>
                </a:solidFill>
              </a:rPr>
              <a:t> 월별 고객 </a:t>
            </a:r>
            <a:r>
              <a:rPr lang="en-US" altLang="ko-KR" sz="1600" b="1" dirty="0">
                <a:solidFill>
                  <a:schemeClr val="tx2"/>
                </a:solidFill>
              </a:rPr>
              <a:t>1</a:t>
            </a:r>
            <a:r>
              <a:rPr lang="ko-KR" altLang="en-US" sz="1600" b="1" dirty="0">
                <a:solidFill>
                  <a:schemeClr val="tx2"/>
                </a:solidFill>
              </a:rPr>
              <a:t>인당 평균 매출</a:t>
            </a:r>
            <a:r>
              <a:rPr lang="en-US" altLang="ko-KR" sz="1600" b="1" dirty="0">
                <a:solidFill>
                  <a:schemeClr val="tx2"/>
                </a:solidFill>
              </a:rPr>
              <a:t>(ARPU</a:t>
            </a:r>
            <a:r>
              <a:rPr lang="ko-KR" altLang="en-US" sz="1600" b="1" dirty="0">
                <a:solidFill>
                  <a:schemeClr val="tx2"/>
                </a:solidFill>
              </a:rPr>
              <a:t> 변화</a:t>
            </a:r>
            <a:r>
              <a:rPr lang="en-US" altLang="ko-KR" sz="1600" b="1" dirty="0">
                <a:solidFill>
                  <a:schemeClr val="tx2"/>
                </a:solidFill>
              </a:rPr>
              <a:t>&gt;</a:t>
            </a:r>
            <a:endParaRPr lang="ko-KR" altLang="en-US" sz="1600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42C7DA-71B8-0C3B-B1CA-D5BFD099BF3E}"/>
              </a:ext>
            </a:extLst>
          </p:cNvPr>
          <p:cNvSpPr txBox="1"/>
          <p:nvPr/>
        </p:nvSpPr>
        <p:spPr>
          <a:xfrm>
            <a:off x="3607540" y="63430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</a:t>
            </a:r>
            <a:r>
              <a:rPr lang="ko-KR" altLang="en-US" sz="1800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 이 성장은 과연 문제없는 건강한 성장일까</a:t>
            </a:r>
            <a:r>
              <a:rPr lang="en-US" altLang="ko-KR" sz="1800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?</a:t>
            </a:r>
            <a:r>
              <a:rPr lang="ko-KR" altLang="en-US" sz="1800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 </a:t>
            </a:r>
            <a:endParaRPr lang="ko-KR" altLang="en-US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408A651-CC03-C43B-F548-5FD5D2BF2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2403287"/>
            <a:ext cx="5261921" cy="339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341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053E1-F304-D050-9393-666B616D6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모서리가 둥근 직사각형 63">
            <a:extLst>
              <a:ext uri="{FF2B5EF4-FFF2-40B4-BE49-F238E27FC236}">
                <a16:creationId xmlns:a16="http://schemas.microsoft.com/office/drawing/2014/main" id="{E5DD690F-91F8-5E5B-D63D-3E62FE8EEA74}"/>
              </a:ext>
            </a:extLst>
          </p:cNvPr>
          <p:cNvSpPr/>
          <p:nvPr/>
        </p:nvSpPr>
        <p:spPr>
          <a:xfrm>
            <a:off x="1378857" y="2214517"/>
            <a:ext cx="9974943" cy="2253954"/>
          </a:xfrm>
          <a:prstGeom prst="roundRect">
            <a:avLst>
              <a:gd name="adj" fmla="val 10075"/>
            </a:avLst>
          </a:prstGeom>
          <a:solidFill>
            <a:schemeClr val="bg1">
              <a:lumMod val="95000"/>
            </a:schemeClr>
          </a:solidFill>
          <a:ln>
            <a:solidFill>
              <a:srgbClr val="FFCB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89F2BE-EF19-4B29-585E-C42299A93D4C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F422C5-6562-AB82-A226-37859B0E9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BEED3E45-D97F-AB0D-EE2D-2F9C7A1C1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kumimoji="1" lang="ko-KR" altLang="en-US" sz="2000" b="1" dirty="0">
                <a:solidFill>
                  <a:schemeClr val="tx2"/>
                </a:solidFill>
              </a:rPr>
              <a:t>보이는 성장 뒤에 숨은 구조는 무엇일까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?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 </a:t>
            </a: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7A83C6E-E7A3-A58E-7718-B892B9D5EDD7}"/>
              </a:ext>
            </a:extLst>
          </p:cNvPr>
          <p:cNvGrpSpPr/>
          <p:nvPr/>
        </p:nvGrpSpPr>
        <p:grpSpPr>
          <a:xfrm>
            <a:off x="1707878" y="2419474"/>
            <a:ext cx="9068296" cy="1430212"/>
            <a:chOff x="1068292" y="1835229"/>
            <a:chExt cx="9934898" cy="1729904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BFC0123-FE9D-38DC-935F-D1264D2A8C9B}"/>
                </a:ext>
              </a:extLst>
            </p:cNvPr>
            <p:cNvSpPr/>
            <p:nvPr/>
          </p:nvSpPr>
          <p:spPr>
            <a:xfrm>
              <a:off x="1068292" y="2146622"/>
              <a:ext cx="1424312" cy="302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>
                  <a:solidFill>
                    <a:schemeClr val="accent3"/>
                  </a:solidFill>
                </a:rPr>
                <a:t>고객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E8B22DA-9BA1-DF26-4683-CFCA43F4D628}"/>
                </a:ext>
              </a:extLst>
            </p:cNvPr>
            <p:cNvSpPr/>
            <p:nvPr/>
          </p:nvSpPr>
          <p:spPr>
            <a:xfrm>
              <a:off x="3532563" y="1835229"/>
              <a:ext cx="1424312" cy="302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>
                  <a:solidFill>
                    <a:schemeClr val="accent3"/>
                  </a:solidFill>
                </a:rPr>
                <a:t> 위치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9827364-526C-22B1-1E87-F9430B59FF42}"/>
                </a:ext>
              </a:extLst>
            </p:cNvPr>
            <p:cNvSpPr/>
            <p:nvPr/>
          </p:nvSpPr>
          <p:spPr>
            <a:xfrm>
              <a:off x="3532563" y="2464917"/>
              <a:ext cx="1424312" cy="302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>
                  <a:solidFill>
                    <a:schemeClr val="accent3"/>
                  </a:solidFill>
                </a:rPr>
                <a:t>주문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DA5B5D8-19D6-B43A-FF6E-723762A52344}"/>
                </a:ext>
              </a:extLst>
            </p:cNvPr>
            <p:cNvSpPr/>
            <p:nvPr/>
          </p:nvSpPr>
          <p:spPr>
            <a:xfrm>
              <a:off x="5537869" y="2198836"/>
              <a:ext cx="1424312" cy="302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>
                  <a:solidFill>
                    <a:schemeClr val="accent3"/>
                  </a:solidFill>
                </a:rPr>
                <a:t>결제 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E338CDD-6860-1E3A-D626-D6D89A507377}"/>
                </a:ext>
              </a:extLst>
            </p:cNvPr>
            <p:cNvSpPr/>
            <p:nvPr/>
          </p:nvSpPr>
          <p:spPr>
            <a:xfrm>
              <a:off x="5537869" y="2613698"/>
              <a:ext cx="1424312" cy="302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>
                  <a:solidFill>
                    <a:schemeClr val="accent3"/>
                  </a:solidFill>
                </a:rPr>
                <a:t>리뷰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6635255-4294-DFBF-0FF8-CD1BC5AA8A65}"/>
                </a:ext>
              </a:extLst>
            </p:cNvPr>
            <p:cNvSpPr/>
            <p:nvPr/>
          </p:nvSpPr>
          <p:spPr>
            <a:xfrm>
              <a:off x="5537869" y="3077243"/>
              <a:ext cx="1424312" cy="302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>
                  <a:solidFill>
                    <a:schemeClr val="accent3"/>
                  </a:solidFill>
                </a:rPr>
                <a:t>상품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24C3404-0EF9-F690-EEC7-2AB839770B12}"/>
                </a:ext>
              </a:extLst>
            </p:cNvPr>
            <p:cNvSpPr/>
            <p:nvPr/>
          </p:nvSpPr>
          <p:spPr>
            <a:xfrm>
              <a:off x="7679641" y="3272749"/>
              <a:ext cx="1424312" cy="28986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>
                  <a:solidFill>
                    <a:schemeClr val="accent3"/>
                  </a:solidFill>
                </a:rPr>
                <a:t>판매자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F294ECC-F29A-9C69-D2AE-4BC84A22F4A8}"/>
                </a:ext>
              </a:extLst>
            </p:cNvPr>
            <p:cNvSpPr/>
            <p:nvPr/>
          </p:nvSpPr>
          <p:spPr>
            <a:xfrm>
              <a:off x="7679641" y="2820188"/>
              <a:ext cx="1424312" cy="302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>
                  <a:solidFill>
                    <a:schemeClr val="accent3"/>
                  </a:solidFill>
                </a:rPr>
                <a:t>카테고리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55C72324-0CFE-9721-298D-067A06282A93}"/>
                </a:ext>
              </a:extLst>
            </p:cNvPr>
            <p:cNvSpPr/>
            <p:nvPr/>
          </p:nvSpPr>
          <p:spPr>
            <a:xfrm>
              <a:off x="9578878" y="3262430"/>
              <a:ext cx="1424312" cy="3027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>
                  <a:solidFill>
                    <a:schemeClr val="accent3"/>
                  </a:solidFill>
                </a:rPr>
                <a:t>판매자 위치</a:t>
              </a:r>
            </a:p>
          </p:txBody>
        </p:sp>
        <p:cxnSp>
          <p:nvCxnSpPr>
            <p:cNvPr id="21" name="직선 연결선[R] 20">
              <a:extLst>
                <a:ext uri="{FF2B5EF4-FFF2-40B4-BE49-F238E27FC236}">
                  <a16:creationId xmlns:a16="http://schemas.microsoft.com/office/drawing/2014/main" id="{5547C1AE-10F5-BE63-E961-1D2E75F2C147}"/>
                </a:ext>
              </a:extLst>
            </p:cNvPr>
            <p:cNvCxnSpPr/>
            <p:nvPr/>
          </p:nvCxnSpPr>
          <p:spPr>
            <a:xfrm>
              <a:off x="3018971" y="1994886"/>
              <a:ext cx="513592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[R] 21">
              <a:extLst>
                <a:ext uri="{FF2B5EF4-FFF2-40B4-BE49-F238E27FC236}">
                  <a16:creationId xmlns:a16="http://schemas.microsoft.com/office/drawing/2014/main" id="{7E1738B4-11F5-36B9-80EF-37D8651888EE}"/>
                </a:ext>
              </a:extLst>
            </p:cNvPr>
            <p:cNvCxnSpPr/>
            <p:nvPr/>
          </p:nvCxnSpPr>
          <p:spPr>
            <a:xfrm>
              <a:off x="3018971" y="2613698"/>
              <a:ext cx="513592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4" name="직선 연결선[R] 23">
              <a:extLst>
                <a:ext uri="{FF2B5EF4-FFF2-40B4-BE49-F238E27FC236}">
                  <a16:creationId xmlns:a16="http://schemas.microsoft.com/office/drawing/2014/main" id="{16B636C0-EBE8-F2F6-2B65-99ABCF1A2E76}"/>
                </a:ext>
              </a:extLst>
            </p:cNvPr>
            <p:cNvCxnSpPr/>
            <p:nvPr/>
          </p:nvCxnSpPr>
          <p:spPr>
            <a:xfrm>
              <a:off x="3033485" y="1994886"/>
              <a:ext cx="0" cy="618812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[R] 24">
              <a:extLst>
                <a:ext uri="{FF2B5EF4-FFF2-40B4-BE49-F238E27FC236}">
                  <a16:creationId xmlns:a16="http://schemas.microsoft.com/office/drawing/2014/main" id="{5EE14BC7-6AF7-1448-61AF-BA4E0D00CE71}"/>
                </a:ext>
              </a:extLst>
            </p:cNvPr>
            <p:cNvCxnSpPr/>
            <p:nvPr/>
          </p:nvCxnSpPr>
          <p:spPr>
            <a:xfrm>
              <a:off x="2492604" y="2297973"/>
              <a:ext cx="513592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[R] 25">
              <a:extLst>
                <a:ext uri="{FF2B5EF4-FFF2-40B4-BE49-F238E27FC236}">
                  <a16:creationId xmlns:a16="http://schemas.microsoft.com/office/drawing/2014/main" id="{76169AC5-0C26-D8E1-9A84-186004217A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8001" y="2297973"/>
              <a:ext cx="369868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[R] 29">
              <a:extLst>
                <a:ext uri="{FF2B5EF4-FFF2-40B4-BE49-F238E27FC236}">
                  <a16:creationId xmlns:a16="http://schemas.microsoft.com/office/drawing/2014/main" id="{09408EEF-4ABB-2550-BC84-9242BE2F05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8001" y="2770481"/>
              <a:ext cx="369868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[R] 30">
              <a:extLst>
                <a:ext uri="{FF2B5EF4-FFF2-40B4-BE49-F238E27FC236}">
                  <a16:creationId xmlns:a16="http://schemas.microsoft.com/office/drawing/2014/main" id="{DA208F30-7D73-695F-2857-02091A91E3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8001" y="3263131"/>
              <a:ext cx="369868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[R] 31">
              <a:extLst>
                <a:ext uri="{FF2B5EF4-FFF2-40B4-BE49-F238E27FC236}">
                  <a16:creationId xmlns:a16="http://schemas.microsoft.com/office/drawing/2014/main" id="{2D7E4546-E763-DDB6-8D03-3EBB118665E9}"/>
                </a:ext>
              </a:extLst>
            </p:cNvPr>
            <p:cNvCxnSpPr>
              <a:cxnSpLocks/>
            </p:cNvCxnSpPr>
            <p:nvPr/>
          </p:nvCxnSpPr>
          <p:spPr>
            <a:xfrm>
              <a:off x="5167999" y="1936985"/>
              <a:ext cx="1" cy="1326146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[R] 33">
              <a:extLst>
                <a:ext uri="{FF2B5EF4-FFF2-40B4-BE49-F238E27FC236}">
                  <a16:creationId xmlns:a16="http://schemas.microsoft.com/office/drawing/2014/main" id="{73A90836-B6C7-B63B-BC47-809DEE846B12}"/>
                </a:ext>
              </a:extLst>
            </p:cNvPr>
            <p:cNvCxnSpPr>
              <a:cxnSpLocks/>
            </p:cNvCxnSpPr>
            <p:nvPr/>
          </p:nvCxnSpPr>
          <p:spPr>
            <a:xfrm>
              <a:off x="4953691" y="2613698"/>
              <a:ext cx="21431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[R] 35">
              <a:extLst>
                <a:ext uri="{FF2B5EF4-FFF2-40B4-BE49-F238E27FC236}">
                  <a16:creationId xmlns:a16="http://schemas.microsoft.com/office/drawing/2014/main" id="{BD37F477-8E08-72E0-0990-08EEB4EAF4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02516" y="3013855"/>
              <a:ext cx="369868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[R] 36">
              <a:extLst>
                <a:ext uri="{FF2B5EF4-FFF2-40B4-BE49-F238E27FC236}">
                  <a16:creationId xmlns:a16="http://schemas.microsoft.com/office/drawing/2014/main" id="{04362E8D-CB84-EAE1-B924-8A0660980D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02516" y="3413781"/>
              <a:ext cx="369868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[R] 39">
              <a:extLst>
                <a:ext uri="{FF2B5EF4-FFF2-40B4-BE49-F238E27FC236}">
                  <a16:creationId xmlns:a16="http://schemas.microsoft.com/office/drawing/2014/main" id="{123E350A-5E32-326C-FB42-D7DBFBD65A3A}"/>
                </a:ext>
              </a:extLst>
            </p:cNvPr>
            <p:cNvCxnSpPr>
              <a:cxnSpLocks/>
            </p:cNvCxnSpPr>
            <p:nvPr/>
          </p:nvCxnSpPr>
          <p:spPr>
            <a:xfrm>
              <a:off x="6962181" y="3263131"/>
              <a:ext cx="34033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[R] 42">
              <a:extLst>
                <a:ext uri="{FF2B5EF4-FFF2-40B4-BE49-F238E27FC236}">
                  <a16:creationId xmlns:a16="http://schemas.microsoft.com/office/drawing/2014/main" id="{66434A87-38CC-139A-21A6-67DCE45764AA}"/>
                </a:ext>
              </a:extLst>
            </p:cNvPr>
            <p:cNvCxnSpPr/>
            <p:nvPr/>
          </p:nvCxnSpPr>
          <p:spPr>
            <a:xfrm>
              <a:off x="9084619" y="3429000"/>
              <a:ext cx="513592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E35449E7-E30E-F5E1-68CC-F2B612594BBD}"/>
              </a:ext>
            </a:extLst>
          </p:cNvPr>
          <p:cNvSpPr txBox="1"/>
          <p:nvPr/>
        </p:nvSpPr>
        <p:spPr>
          <a:xfrm>
            <a:off x="1195371" y="4468471"/>
            <a:ext cx="8379217" cy="21068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kumimoji="1" lang="ko-KR" altLang="en-US" b="1" dirty="0">
                <a:solidFill>
                  <a:schemeClr val="tx2"/>
                </a:solidFill>
              </a:rPr>
              <a:t>데이터셋 특징</a:t>
            </a:r>
            <a:endParaRPr kumimoji="1" lang="en-US" altLang="ko-KR" b="1" dirty="0">
              <a:solidFill>
                <a:schemeClr val="tx2"/>
              </a:solidFill>
            </a:endParaRPr>
          </a:p>
          <a:p>
            <a:pPr>
              <a:lnSpc>
                <a:spcPct val="200000"/>
              </a:lnSpc>
            </a:pPr>
            <a:r>
              <a:rPr kumimoji="1" lang="ko-KR" altLang="en-US" sz="1600" dirty="0">
                <a:solidFill>
                  <a:schemeClr val="tx2"/>
                </a:solidFill>
              </a:rPr>
              <a:t>    </a:t>
            </a:r>
            <a:r>
              <a:rPr kumimoji="1" lang="en-US" altLang="ko-KR" sz="1600" dirty="0">
                <a:solidFill>
                  <a:schemeClr val="tx2"/>
                </a:solidFill>
              </a:rPr>
              <a:t>:</a:t>
            </a:r>
            <a:r>
              <a:rPr kumimoji="1" lang="ko-KR" altLang="en-US" sz="1600" dirty="0">
                <a:solidFill>
                  <a:schemeClr val="tx2"/>
                </a:solidFill>
              </a:rPr>
              <a:t> 주문</a:t>
            </a:r>
            <a:r>
              <a:rPr kumimoji="1" lang="en-US" altLang="ko-KR" sz="1600" dirty="0">
                <a:solidFill>
                  <a:schemeClr val="tx2"/>
                </a:solidFill>
              </a:rPr>
              <a:t>,</a:t>
            </a:r>
            <a:r>
              <a:rPr kumimoji="1" lang="ko-KR" altLang="en-US" sz="1600" dirty="0">
                <a:solidFill>
                  <a:schemeClr val="tx2"/>
                </a:solidFill>
              </a:rPr>
              <a:t> 결제</a:t>
            </a:r>
            <a:r>
              <a:rPr kumimoji="1" lang="en-US" altLang="ko-KR" sz="1600" dirty="0">
                <a:solidFill>
                  <a:schemeClr val="tx2"/>
                </a:solidFill>
              </a:rPr>
              <a:t>,</a:t>
            </a:r>
            <a:r>
              <a:rPr kumimoji="1" lang="ko-KR" altLang="en-US" sz="1600" dirty="0">
                <a:solidFill>
                  <a:schemeClr val="tx2"/>
                </a:solidFill>
              </a:rPr>
              <a:t> 상품</a:t>
            </a:r>
            <a:r>
              <a:rPr kumimoji="1" lang="en-US" altLang="ko-KR" sz="1600" dirty="0">
                <a:solidFill>
                  <a:schemeClr val="tx2"/>
                </a:solidFill>
              </a:rPr>
              <a:t>,</a:t>
            </a:r>
            <a:r>
              <a:rPr kumimoji="1" lang="ko-KR" altLang="en-US" sz="1600" dirty="0">
                <a:solidFill>
                  <a:schemeClr val="tx2"/>
                </a:solidFill>
              </a:rPr>
              <a:t> 리뷰</a:t>
            </a:r>
            <a:r>
              <a:rPr kumimoji="1" lang="en-US" altLang="ko-KR" sz="1600" dirty="0">
                <a:solidFill>
                  <a:schemeClr val="tx2"/>
                </a:solidFill>
              </a:rPr>
              <a:t>,</a:t>
            </a:r>
            <a:r>
              <a:rPr kumimoji="1" lang="ko-KR" altLang="en-US" sz="1600" dirty="0">
                <a:solidFill>
                  <a:schemeClr val="tx2"/>
                </a:solidFill>
              </a:rPr>
              <a:t> 판매자</a:t>
            </a:r>
            <a:r>
              <a:rPr kumimoji="1" lang="en-US" altLang="ko-KR" sz="1600" dirty="0">
                <a:solidFill>
                  <a:schemeClr val="tx2"/>
                </a:solidFill>
              </a:rPr>
              <a:t>,</a:t>
            </a:r>
            <a:r>
              <a:rPr kumimoji="1" lang="ko-KR" altLang="en-US" sz="1600" dirty="0">
                <a:solidFill>
                  <a:schemeClr val="tx2"/>
                </a:solidFill>
              </a:rPr>
              <a:t> 고객 정보가 분리된 </a:t>
            </a:r>
            <a:r>
              <a:rPr kumimoji="1" lang="ko-KR" altLang="en-US" sz="1600" dirty="0" err="1">
                <a:solidFill>
                  <a:schemeClr val="tx2"/>
                </a:solidFill>
              </a:rPr>
              <a:t>마켓플레이스형</a:t>
            </a:r>
            <a:r>
              <a:rPr kumimoji="1" lang="ko-KR" altLang="en-US" sz="1600" dirty="0">
                <a:solidFill>
                  <a:schemeClr val="tx2"/>
                </a:solidFill>
              </a:rPr>
              <a:t> </a:t>
            </a:r>
            <a:r>
              <a:rPr kumimoji="1" lang="ko-KR" altLang="en-US" sz="1600" dirty="0" err="1">
                <a:solidFill>
                  <a:schemeClr val="tx2"/>
                </a:solidFill>
              </a:rPr>
              <a:t>이커머스</a:t>
            </a:r>
            <a:r>
              <a:rPr kumimoji="1" lang="ko-KR" altLang="en-US" sz="1600" dirty="0">
                <a:solidFill>
                  <a:schemeClr val="tx2"/>
                </a:solidFill>
              </a:rPr>
              <a:t> 데이터</a:t>
            </a:r>
            <a:r>
              <a:rPr kumimoji="1" lang="ko-KR" altLang="en-US" sz="1600" b="1" dirty="0">
                <a:solidFill>
                  <a:schemeClr val="tx2"/>
                </a:solidFill>
              </a:rPr>
              <a:t> </a:t>
            </a:r>
            <a:endParaRPr kumimoji="1" lang="en-US" altLang="ko-KR" sz="1600" b="1" dirty="0">
              <a:solidFill>
                <a:schemeClr val="tx2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kumimoji="1" lang="ko-KR" altLang="en-US" b="1" dirty="0">
                <a:solidFill>
                  <a:schemeClr val="tx2"/>
                </a:solidFill>
              </a:rPr>
              <a:t>분석 목표  </a:t>
            </a:r>
            <a:endParaRPr kumimoji="1" lang="en-US" altLang="ko-KR" b="1" dirty="0">
              <a:solidFill>
                <a:schemeClr val="tx2"/>
              </a:solidFill>
            </a:endParaRPr>
          </a:p>
          <a:p>
            <a:pPr>
              <a:lnSpc>
                <a:spcPct val="200000"/>
              </a:lnSpc>
            </a:pPr>
            <a:r>
              <a:rPr kumimoji="1" lang="ko-KR" altLang="en-US" sz="1600" dirty="0">
                <a:solidFill>
                  <a:schemeClr val="tx2"/>
                </a:solidFill>
              </a:rPr>
              <a:t>    </a:t>
            </a:r>
            <a:r>
              <a:rPr kumimoji="1" lang="en-US" altLang="ko-KR" sz="1600" dirty="0">
                <a:solidFill>
                  <a:schemeClr val="tx2"/>
                </a:solidFill>
              </a:rPr>
              <a:t>:</a:t>
            </a:r>
            <a:r>
              <a:rPr kumimoji="1" lang="ko-KR" altLang="en-US" sz="1600" dirty="0">
                <a:solidFill>
                  <a:schemeClr val="tx2"/>
                </a:solidFill>
              </a:rPr>
              <a:t> </a:t>
            </a:r>
            <a:r>
              <a:rPr kumimoji="1" lang="en-US" altLang="ko-KR" sz="1600" dirty="0">
                <a:solidFill>
                  <a:schemeClr val="tx2"/>
                </a:solidFill>
              </a:rPr>
              <a:t>AARRR </a:t>
            </a:r>
            <a:r>
              <a:rPr kumimoji="1" lang="ko-KR" altLang="en-US" sz="1600" dirty="0">
                <a:solidFill>
                  <a:schemeClr val="tx2"/>
                </a:solidFill>
              </a:rPr>
              <a:t>프레임워크 관점에서 올리스트의 성장 구조를 고객 단위로 해부</a:t>
            </a:r>
            <a:endParaRPr kumimoji="1" lang="en-US" altLang="ko-KR" sz="1600" dirty="0">
              <a:solidFill>
                <a:schemeClr val="tx2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E770DC-D9F4-576E-5A5E-71D7F72743D9}"/>
              </a:ext>
            </a:extLst>
          </p:cNvPr>
          <p:cNvSpPr txBox="1"/>
          <p:nvPr/>
        </p:nvSpPr>
        <p:spPr>
          <a:xfrm>
            <a:off x="2683996" y="4049531"/>
            <a:ext cx="71743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0E0E0E"/>
                </a:solidFill>
                <a:latin typeface=".AppleSystemUIFont"/>
              </a:rPr>
              <a:t>✅ </a:t>
            </a:r>
            <a:r>
              <a:rPr lang="ko-KR" altLang="en-US" sz="1600" dirty="0">
                <a:solidFill>
                  <a:srgbClr val="0E0E0E"/>
                </a:solidFill>
                <a:highlight>
                  <a:srgbClr val="FFFF00"/>
                </a:highlight>
                <a:latin typeface=".AppleSystemUIFont"/>
              </a:rPr>
              <a:t>고객단위로 시간 흐름에 따라 첫 구매 </a:t>
            </a:r>
            <a:r>
              <a:rPr lang="en-US" altLang="ko-KR" sz="1600" dirty="0">
                <a:solidFill>
                  <a:srgbClr val="0E0E0E"/>
                </a:solidFill>
                <a:highlight>
                  <a:srgbClr val="FFFF00"/>
                </a:highlight>
                <a:latin typeface=".AppleSystemUIFont"/>
                <a:sym typeface="Wingdings" pitchFamily="2" charset="2"/>
              </a:rPr>
              <a:t></a:t>
            </a:r>
            <a:r>
              <a:rPr lang="ko-KR" altLang="en-US" sz="1600" dirty="0">
                <a:solidFill>
                  <a:srgbClr val="0E0E0E"/>
                </a:solidFill>
                <a:highlight>
                  <a:srgbClr val="FFFF00"/>
                </a:highlight>
                <a:latin typeface=".AppleSystemUIFont"/>
              </a:rPr>
              <a:t> 반복 구매 </a:t>
            </a:r>
            <a:r>
              <a:rPr lang="en-US" altLang="ko-KR" sz="1600" dirty="0">
                <a:solidFill>
                  <a:srgbClr val="0E0E0E"/>
                </a:solidFill>
                <a:highlight>
                  <a:srgbClr val="FFFF00"/>
                </a:highlight>
                <a:latin typeface=".AppleSystemUIFont"/>
                <a:sym typeface="Wingdings" pitchFamily="2" charset="2"/>
              </a:rPr>
              <a:t></a:t>
            </a:r>
            <a:r>
              <a:rPr lang="ko-KR" altLang="en-US" sz="1600" dirty="0">
                <a:solidFill>
                  <a:srgbClr val="0E0E0E"/>
                </a:solidFill>
                <a:highlight>
                  <a:srgbClr val="FFFF00"/>
                </a:highlight>
                <a:latin typeface=".AppleSystemUIFont"/>
              </a:rPr>
              <a:t>누적 가치를 추적 가능</a:t>
            </a:r>
            <a:endParaRPr lang="ko-KR" altLang="en-US" sz="1600" dirty="0">
              <a:highlight>
                <a:srgbClr val="FFFF00"/>
              </a:highlight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CB956BD-5B5C-4F03-9F0B-E4B173848B4A}"/>
              </a:ext>
            </a:extLst>
          </p:cNvPr>
          <p:cNvSpPr/>
          <p:nvPr/>
        </p:nvSpPr>
        <p:spPr>
          <a:xfrm>
            <a:off x="5787583" y="2349024"/>
            <a:ext cx="1300072" cy="250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>
                <a:solidFill>
                  <a:schemeClr val="accent3"/>
                </a:solidFill>
              </a:rPr>
              <a:t>배송 </a:t>
            </a:r>
          </a:p>
        </p:txBody>
      </p:sp>
      <p:cxnSp>
        <p:nvCxnSpPr>
          <p:cNvPr id="53" name="직선 연결선[R] 52">
            <a:extLst>
              <a:ext uri="{FF2B5EF4-FFF2-40B4-BE49-F238E27FC236}">
                <a16:creationId xmlns:a16="http://schemas.microsoft.com/office/drawing/2014/main" id="{C116DC5D-B392-A8DE-C087-55CDD3E47F14}"/>
              </a:ext>
            </a:extLst>
          </p:cNvPr>
          <p:cNvCxnSpPr>
            <a:cxnSpLocks/>
          </p:cNvCxnSpPr>
          <p:nvPr/>
        </p:nvCxnSpPr>
        <p:spPr>
          <a:xfrm flipH="1">
            <a:off x="5449976" y="2493138"/>
            <a:ext cx="33760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290E06E-959E-9AC2-9BFD-0BBAC2123DEE}"/>
              </a:ext>
            </a:extLst>
          </p:cNvPr>
          <p:cNvSpPr/>
          <p:nvPr/>
        </p:nvSpPr>
        <p:spPr>
          <a:xfrm>
            <a:off x="7724885" y="2890294"/>
            <a:ext cx="1300072" cy="250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>
                <a:solidFill>
                  <a:schemeClr val="accent3"/>
                </a:solidFill>
              </a:rPr>
              <a:t>가격</a:t>
            </a:r>
          </a:p>
        </p:txBody>
      </p:sp>
      <p:cxnSp>
        <p:nvCxnSpPr>
          <p:cNvPr id="56" name="직선 연결선[R] 55">
            <a:extLst>
              <a:ext uri="{FF2B5EF4-FFF2-40B4-BE49-F238E27FC236}">
                <a16:creationId xmlns:a16="http://schemas.microsoft.com/office/drawing/2014/main" id="{93BA9DCC-15E7-1049-ADD9-5B10568BB25D}"/>
              </a:ext>
            </a:extLst>
          </p:cNvPr>
          <p:cNvCxnSpPr>
            <a:cxnSpLocks/>
          </p:cNvCxnSpPr>
          <p:nvPr/>
        </p:nvCxnSpPr>
        <p:spPr>
          <a:xfrm flipH="1">
            <a:off x="7391678" y="3043295"/>
            <a:ext cx="31791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[R] 59">
            <a:extLst>
              <a:ext uri="{FF2B5EF4-FFF2-40B4-BE49-F238E27FC236}">
                <a16:creationId xmlns:a16="http://schemas.microsoft.com/office/drawing/2014/main" id="{1C78D380-6AE3-0AD7-5AFF-B116F879B9F5}"/>
              </a:ext>
            </a:extLst>
          </p:cNvPr>
          <p:cNvCxnSpPr>
            <a:cxnSpLocks/>
          </p:cNvCxnSpPr>
          <p:nvPr/>
        </p:nvCxnSpPr>
        <p:spPr>
          <a:xfrm>
            <a:off x="7398303" y="3043295"/>
            <a:ext cx="0" cy="69384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8DBFBD67-7824-C5A6-46D8-FD75FAFCA000}"/>
              </a:ext>
            </a:extLst>
          </p:cNvPr>
          <p:cNvSpPr txBox="1"/>
          <p:nvPr/>
        </p:nvSpPr>
        <p:spPr>
          <a:xfrm>
            <a:off x="1227566" y="1643502"/>
            <a:ext cx="6096000" cy="558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kumimoji="1" lang="ko-KR" altLang="en-US" b="1" dirty="0">
                <a:solidFill>
                  <a:schemeClr val="tx2"/>
                </a:solidFill>
              </a:rPr>
              <a:t>고객 구매 여정 기반 데이터 구조</a:t>
            </a:r>
            <a:endParaRPr kumimoji="1" lang="en-US" altLang="ko-KR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412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9497E1-6E12-0BC0-DF02-1CC5501E6243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05A159-2BF9-6258-D149-A538547F6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EFF73524-101F-3324-86E0-348BE5C7A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kumimoji="1" lang="ko-KR" altLang="en-US" sz="2000" b="1" dirty="0">
                <a:solidFill>
                  <a:schemeClr val="tx2"/>
                </a:solidFill>
              </a:rPr>
              <a:t>신뢰 가능한 데이터 구조 위에서 분석 설계 기획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84D16C-C709-6651-B5F3-C6C9D76AC6DF}"/>
              </a:ext>
            </a:extLst>
          </p:cNvPr>
          <p:cNvSpPr txBox="1"/>
          <p:nvPr/>
        </p:nvSpPr>
        <p:spPr>
          <a:xfrm>
            <a:off x="838200" y="1932314"/>
            <a:ext cx="8860311" cy="1706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u"/>
            </a:pPr>
            <a:r>
              <a:rPr kumimoji="1" lang="ko-KR" altLang="en-US" b="1" dirty="0">
                <a:solidFill>
                  <a:schemeClr val="tx2"/>
                </a:solidFill>
              </a:rPr>
              <a:t>데이터 품질 검토 요약</a:t>
            </a:r>
            <a:endParaRPr kumimoji="1" lang="en-US" altLang="ko-KR" b="1" dirty="0">
              <a:solidFill>
                <a:schemeClr val="tx2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600" dirty="0">
                <a:solidFill>
                  <a:schemeClr val="tx2"/>
                </a:solidFill>
                <a:latin typeface="+mn-ea"/>
              </a:rPr>
              <a:t>-</a:t>
            </a:r>
            <a:r>
              <a:rPr kumimoji="1" lang="ko-KR" altLang="en-US" sz="16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600" dirty="0">
                <a:solidFill>
                  <a:schemeClr val="tx2"/>
                </a:solidFill>
                <a:latin typeface="+mn-ea"/>
              </a:rPr>
              <a:t>결제</a:t>
            </a:r>
            <a:r>
              <a:rPr lang="en-US" altLang="ko-KR" sz="1600" dirty="0">
                <a:solidFill>
                  <a:schemeClr val="tx2"/>
                </a:solidFill>
                <a:latin typeface="+mn-ea"/>
              </a:rPr>
              <a:t>(</a:t>
            </a:r>
            <a:r>
              <a:rPr lang="en" altLang="ko-KR" sz="1600" dirty="0">
                <a:solidFill>
                  <a:schemeClr val="tx2"/>
                </a:solidFill>
                <a:latin typeface="+mn-ea"/>
              </a:rPr>
              <a:t>payments), </a:t>
            </a:r>
            <a:r>
              <a:rPr lang="ko-KR" altLang="en-US" sz="1600" dirty="0">
                <a:solidFill>
                  <a:schemeClr val="tx2"/>
                </a:solidFill>
                <a:latin typeface="+mn-ea"/>
              </a:rPr>
              <a:t>상품</a:t>
            </a:r>
            <a:r>
              <a:rPr lang="en-US" altLang="ko-KR" sz="1600" dirty="0">
                <a:solidFill>
                  <a:schemeClr val="tx2"/>
                </a:solidFill>
                <a:latin typeface="+mn-ea"/>
              </a:rPr>
              <a:t>(</a:t>
            </a:r>
            <a:r>
              <a:rPr lang="en" altLang="ko-KR" sz="1600" dirty="0">
                <a:solidFill>
                  <a:schemeClr val="tx2"/>
                </a:solidFill>
                <a:latin typeface="+mn-ea"/>
              </a:rPr>
              <a:t>items)</a:t>
            </a:r>
            <a:r>
              <a:rPr lang="ko-KR" altLang="en-US" sz="1600" dirty="0">
                <a:solidFill>
                  <a:schemeClr val="tx2"/>
                </a:solidFill>
                <a:latin typeface="+mn-ea"/>
              </a:rPr>
              <a:t>의 중복은 한 주문에 여러 결제</a:t>
            </a:r>
            <a:r>
              <a:rPr lang="en-US" altLang="ko-KR" sz="1600" dirty="0">
                <a:solidFill>
                  <a:schemeClr val="tx2"/>
                </a:solidFill>
                <a:latin typeface="+mn-ea"/>
              </a:rPr>
              <a:t>/</a:t>
            </a:r>
            <a:r>
              <a:rPr lang="ko-KR" altLang="en-US" sz="1600" dirty="0">
                <a:solidFill>
                  <a:schemeClr val="tx2"/>
                </a:solidFill>
                <a:latin typeface="+mn-ea"/>
              </a:rPr>
              <a:t>상품이 포함될 수 있는 정상 구조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2"/>
                </a:solidFill>
                <a:latin typeface="+mn-ea"/>
              </a:rPr>
              <a:t>-</a:t>
            </a:r>
            <a:r>
              <a:rPr lang="ko-KR" altLang="en-US" sz="1600" dirty="0">
                <a:solidFill>
                  <a:schemeClr val="tx2"/>
                </a:solidFill>
                <a:latin typeface="+mn-ea"/>
              </a:rPr>
              <a:t> 비즈니스 흐름으로 설명 가능한 </a:t>
            </a:r>
            <a:r>
              <a:rPr lang="ko-KR" altLang="en-US" sz="1600" dirty="0" err="1">
                <a:solidFill>
                  <a:schemeClr val="tx2"/>
                </a:solidFill>
                <a:latin typeface="+mn-ea"/>
              </a:rPr>
              <a:t>결측만</a:t>
            </a:r>
            <a:r>
              <a:rPr lang="ko-KR" altLang="en-US" sz="1600" dirty="0">
                <a:solidFill>
                  <a:schemeClr val="tx2"/>
                </a:solidFill>
                <a:latin typeface="+mn-ea"/>
              </a:rPr>
              <a:t> 존재 </a:t>
            </a:r>
            <a:r>
              <a:rPr lang="en-US" altLang="ko-KR" sz="16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600" dirty="0">
                <a:solidFill>
                  <a:schemeClr val="tx2"/>
                </a:solidFill>
                <a:latin typeface="+mn-ea"/>
              </a:rPr>
              <a:t>예</a:t>
            </a:r>
            <a:r>
              <a:rPr lang="en-US" altLang="ko-KR" sz="1600" dirty="0">
                <a:solidFill>
                  <a:schemeClr val="tx2"/>
                </a:solidFill>
                <a:latin typeface="+mn-ea"/>
              </a:rPr>
              <a:t>.</a:t>
            </a:r>
            <a:r>
              <a:rPr lang="ko-KR" altLang="en-US" sz="1600" dirty="0">
                <a:solidFill>
                  <a:schemeClr val="tx2"/>
                </a:solidFill>
                <a:latin typeface="+mn-ea"/>
              </a:rPr>
              <a:t> 리뷰</a:t>
            </a:r>
            <a:r>
              <a:rPr lang="en-US" altLang="ko-KR" sz="1600" dirty="0">
                <a:solidFill>
                  <a:schemeClr val="tx2"/>
                </a:solidFill>
                <a:latin typeface="+mn-ea"/>
              </a:rPr>
              <a:t>)</a:t>
            </a:r>
            <a:endParaRPr lang="ko-KR" altLang="en-US" sz="1600" dirty="0">
              <a:solidFill>
                <a:schemeClr val="tx2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2"/>
                </a:solidFill>
                <a:latin typeface="+mn-ea"/>
              </a:rPr>
              <a:t>-</a:t>
            </a:r>
            <a:r>
              <a:rPr lang="ko-KR" altLang="en-US" sz="1600" dirty="0">
                <a:solidFill>
                  <a:schemeClr val="tx2"/>
                </a:solidFill>
                <a:latin typeface="+mn-ea"/>
              </a:rPr>
              <a:t> 전체 주문의 약 </a:t>
            </a:r>
            <a:r>
              <a:rPr lang="en-US" altLang="ko-KR" sz="1600" dirty="0">
                <a:solidFill>
                  <a:schemeClr val="tx2"/>
                </a:solidFill>
                <a:latin typeface="+mn-ea"/>
              </a:rPr>
              <a:t>97%</a:t>
            </a:r>
            <a:r>
              <a:rPr lang="ko-KR" altLang="en-US" sz="1600" dirty="0">
                <a:solidFill>
                  <a:schemeClr val="tx2"/>
                </a:solidFill>
                <a:latin typeface="+mn-ea"/>
              </a:rPr>
              <a:t>가 배송 완료</a:t>
            </a:r>
            <a:r>
              <a:rPr lang="en-US" altLang="ko-KR" sz="1600" dirty="0">
                <a:solidFill>
                  <a:schemeClr val="tx2"/>
                </a:solidFill>
                <a:latin typeface="+mn-ea"/>
              </a:rPr>
              <a:t>(</a:t>
            </a:r>
            <a:r>
              <a:rPr lang="en" altLang="ko-KR" sz="1600" dirty="0">
                <a:solidFill>
                  <a:schemeClr val="tx2"/>
                </a:solidFill>
                <a:latin typeface="+mn-ea"/>
              </a:rPr>
              <a:t>delivered) </a:t>
            </a:r>
            <a:r>
              <a:rPr lang="ko-KR" altLang="en-US" sz="1600" dirty="0">
                <a:solidFill>
                  <a:schemeClr val="tx2"/>
                </a:solidFill>
                <a:latin typeface="+mn-ea"/>
              </a:rPr>
              <a:t>상태 → 대표성 문제 없음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79B0946-514D-14E7-CD9B-D887B6201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060529"/>
              </p:ext>
            </p:extLst>
          </p:nvPr>
        </p:nvGraphicFramePr>
        <p:xfrm>
          <a:off x="1187769" y="4339368"/>
          <a:ext cx="10166031" cy="22250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971208">
                  <a:extLst>
                    <a:ext uri="{9D8B030D-6E8A-4147-A177-3AD203B41FA5}">
                      <a16:colId xmlns:a16="http://schemas.microsoft.com/office/drawing/2014/main" val="2433978804"/>
                    </a:ext>
                  </a:extLst>
                </a:gridCol>
                <a:gridCol w="7194823">
                  <a:extLst>
                    <a:ext uri="{9D8B030D-6E8A-4147-A177-3AD203B41FA5}">
                      <a16:colId xmlns:a16="http://schemas.microsoft.com/office/drawing/2014/main" val="30924768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2"/>
                          </a:solidFill>
                        </a:rPr>
                        <a:t>고객 단위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600" b="0" dirty="0" err="1">
                          <a:solidFill>
                            <a:srgbClr val="4C6B03"/>
                          </a:solidFill>
                        </a:rPr>
                        <a:t>customer_unique_id</a:t>
                      </a:r>
                      <a:endParaRPr lang="en" altLang="ko-KR" sz="1600" b="0" dirty="0">
                        <a:solidFill>
                          <a:srgbClr val="4C6B0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401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2"/>
                          </a:solidFill>
                        </a:rPr>
                        <a:t>분석 대상 주문</a:t>
                      </a:r>
                      <a:r>
                        <a:rPr lang="en-US" altLang="ko-KR" sz="1600" b="1" dirty="0">
                          <a:solidFill>
                            <a:schemeClr val="tx2"/>
                          </a:solidFill>
                        </a:rPr>
                        <a:t> </a:t>
                      </a:r>
                      <a:endParaRPr lang="ko-KR" altLang="en-US" sz="16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rgbClr val="4C6B03"/>
                          </a:solidFill>
                        </a:rPr>
                        <a:t>배송 완료</a:t>
                      </a:r>
                      <a:r>
                        <a:rPr lang="en-US" altLang="ko-KR" sz="1600" b="0" dirty="0">
                          <a:solidFill>
                            <a:srgbClr val="4C6B03"/>
                          </a:solidFill>
                        </a:rPr>
                        <a:t>(</a:t>
                      </a:r>
                      <a:r>
                        <a:rPr lang="en" altLang="ko-KR" sz="1600" b="0" dirty="0">
                          <a:solidFill>
                            <a:srgbClr val="4C6B03"/>
                          </a:solidFill>
                        </a:rPr>
                        <a:t>delivered) </a:t>
                      </a:r>
                      <a:r>
                        <a:rPr lang="ko-KR" altLang="en-US" sz="1600" b="0" dirty="0">
                          <a:solidFill>
                            <a:srgbClr val="4C6B03"/>
                          </a:solidFill>
                        </a:rPr>
                        <a:t>주문만 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674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2"/>
                          </a:solidFill>
                        </a:rPr>
                        <a:t>첫 구매 정의</a:t>
                      </a:r>
                      <a:r>
                        <a:rPr lang="en-US" altLang="ko-KR" sz="1600" b="1" dirty="0">
                          <a:solidFill>
                            <a:schemeClr val="tx2"/>
                          </a:solidFill>
                        </a:rPr>
                        <a:t> (Activation)</a:t>
                      </a:r>
                      <a:endParaRPr lang="ko-KR" altLang="en-US" sz="16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rgbClr val="4C6B03"/>
                          </a:solidFill>
                        </a:rPr>
                        <a:t>고객별 </a:t>
                      </a:r>
                      <a:r>
                        <a:rPr lang="en" altLang="ko-KR" sz="1600" b="0" dirty="0">
                          <a:solidFill>
                            <a:srgbClr val="4C6B03"/>
                          </a:solidFill>
                        </a:rPr>
                        <a:t>delivered </a:t>
                      </a:r>
                      <a:r>
                        <a:rPr lang="ko-KR" altLang="en-US" sz="1600" b="0" dirty="0">
                          <a:solidFill>
                            <a:srgbClr val="4C6B03"/>
                          </a:solidFill>
                        </a:rPr>
                        <a:t>주문 중 가장 이른 구매 시점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82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2"/>
                          </a:solidFill>
                        </a:rPr>
                        <a:t>재 구매</a:t>
                      </a:r>
                      <a:r>
                        <a:rPr lang="en-US" altLang="ko-KR" sz="1600" b="1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ko-KR" altLang="en-US" sz="1600" b="1" dirty="0">
                          <a:solidFill>
                            <a:schemeClr val="tx2"/>
                          </a:solidFill>
                        </a:rPr>
                        <a:t>정의 </a:t>
                      </a:r>
                      <a:r>
                        <a:rPr lang="en-US" altLang="ko-KR" sz="1600" b="1" dirty="0">
                          <a:solidFill>
                            <a:schemeClr val="tx2"/>
                          </a:solidFill>
                        </a:rPr>
                        <a:t>(Retention)</a:t>
                      </a:r>
                      <a:endParaRPr lang="ko-KR" altLang="en-US" sz="16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rgbClr val="4C6B03"/>
                          </a:solidFill>
                        </a:rPr>
                        <a:t>재구매율 </a:t>
                      </a:r>
                      <a:r>
                        <a:rPr lang="en-US" altLang="ko-KR" sz="1600" b="0" dirty="0">
                          <a:solidFill>
                            <a:srgbClr val="4C6B03"/>
                          </a:solidFill>
                        </a:rPr>
                        <a:t>=</a:t>
                      </a:r>
                      <a:r>
                        <a:rPr lang="ko-KR" altLang="en-US" sz="1600" b="0" dirty="0">
                          <a:solidFill>
                            <a:srgbClr val="4C6B03"/>
                          </a:solidFill>
                        </a:rPr>
                        <a:t> 첫 구매 이후 추가 주문 발생 여부</a:t>
                      </a:r>
                      <a:endParaRPr lang="en-US" altLang="ko-KR" sz="1600" b="0" dirty="0">
                        <a:solidFill>
                          <a:srgbClr val="4C6B0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465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2"/>
                          </a:solidFill>
                        </a:rPr>
                        <a:t>시간 기준 </a:t>
                      </a:r>
                      <a:r>
                        <a:rPr lang="en-US" altLang="ko-KR" sz="1600" b="1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1600" b="1" dirty="0">
                          <a:solidFill>
                            <a:schemeClr val="tx2"/>
                          </a:solidFill>
                        </a:rPr>
                        <a:t>코호트 분석 단위</a:t>
                      </a:r>
                      <a:r>
                        <a:rPr lang="en-US" altLang="ko-KR" sz="1600" b="1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16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600" b="0" dirty="0">
                          <a:solidFill>
                            <a:srgbClr val="4C6B03"/>
                          </a:solidFill>
                        </a:rPr>
                        <a:t>order_purchase_timestamp (</a:t>
                      </a:r>
                      <a:r>
                        <a:rPr lang="ko-KR" altLang="en-US" sz="1600" b="0" dirty="0">
                          <a:solidFill>
                            <a:srgbClr val="4C6B03"/>
                          </a:solidFill>
                        </a:rPr>
                        <a:t>월 단위 집계</a:t>
                      </a:r>
                      <a:r>
                        <a:rPr lang="en-US" altLang="ko-KR" sz="1600" b="0" dirty="0">
                          <a:solidFill>
                            <a:srgbClr val="4C6B03"/>
                          </a:solidFill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538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solidFill>
                            <a:schemeClr val="tx2"/>
                          </a:solidFill>
                        </a:rPr>
                        <a:t>매출</a:t>
                      </a:r>
                      <a:r>
                        <a:rPr lang="en-US" altLang="ko-KR" sz="1600" b="1" dirty="0">
                          <a:solidFill>
                            <a:schemeClr val="tx2"/>
                          </a:solidFill>
                        </a:rPr>
                        <a:t>:</a:t>
                      </a:r>
                      <a:r>
                        <a:rPr lang="ko-KR" altLang="en-US" sz="1600" b="1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US" altLang="ko-KR" sz="1600" b="1" dirty="0">
                          <a:solidFill>
                            <a:schemeClr val="tx2"/>
                          </a:solidFill>
                        </a:rPr>
                        <a:t>LTV</a:t>
                      </a:r>
                      <a:r>
                        <a:rPr lang="ko-KR" altLang="en-US" sz="1600" b="1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US" altLang="ko-KR" sz="1600" b="1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en" altLang="ko-KR" sz="1600" b="1" dirty="0">
                          <a:solidFill>
                            <a:schemeClr val="tx2"/>
                          </a:solidFill>
                        </a:rPr>
                        <a:t>Revenue</a:t>
                      </a:r>
                      <a:r>
                        <a:rPr lang="en-US" altLang="ko-KR" sz="1600" b="1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en" altLang="ko-KR" sz="16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600" b="0" dirty="0" err="1">
                          <a:solidFill>
                            <a:srgbClr val="4C6B03"/>
                          </a:solidFill>
                        </a:rPr>
                        <a:t>order_id</a:t>
                      </a:r>
                      <a:r>
                        <a:rPr lang="en" altLang="ko-KR" sz="1600" b="0" dirty="0">
                          <a:solidFill>
                            <a:srgbClr val="4C6B03"/>
                          </a:solidFill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rgbClr val="4C6B03"/>
                          </a:solidFill>
                        </a:rPr>
                        <a:t>기준 </a:t>
                      </a:r>
                      <a:r>
                        <a:rPr lang="en" altLang="ko-KR" sz="1600" b="0" dirty="0" err="1">
                          <a:solidFill>
                            <a:srgbClr val="4C6B03"/>
                          </a:solidFill>
                        </a:rPr>
                        <a:t>payment_value</a:t>
                      </a:r>
                      <a:r>
                        <a:rPr lang="en" altLang="ko-KR" sz="1600" b="0" dirty="0">
                          <a:solidFill>
                            <a:srgbClr val="4C6B03"/>
                          </a:solidFill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rgbClr val="4C6B03"/>
                          </a:solidFill>
                        </a:rPr>
                        <a:t>합산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67730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FAE79BD-5269-68FC-3437-E160072EBC87}"/>
              </a:ext>
            </a:extLst>
          </p:cNvPr>
          <p:cNvSpPr txBox="1"/>
          <p:nvPr/>
        </p:nvSpPr>
        <p:spPr>
          <a:xfrm>
            <a:off x="853939" y="3699246"/>
            <a:ext cx="6096000" cy="558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u"/>
            </a:pPr>
            <a:r>
              <a:rPr kumimoji="1" lang="ko-KR" altLang="en-US" b="1" dirty="0">
                <a:solidFill>
                  <a:schemeClr val="tx2"/>
                </a:solidFill>
              </a:rPr>
              <a:t>분석 기준 통일</a:t>
            </a:r>
            <a:endParaRPr kumimoji="1" lang="en-US" altLang="ko-KR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000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E4433-FA93-0F84-4837-3854FFEE0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272F04-ED69-FD60-595F-9475D3BF460B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CA949D-0004-049C-FCE6-620D47142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79B44386-2AFC-89A2-9E77-03D0B81A0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kumimoji="1" lang="ko-KR" altLang="en-US" sz="2000" b="1" dirty="0">
                <a:solidFill>
                  <a:schemeClr val="tx2"/>
                </a:solidFill>
              </a:rPr>
              <a:t>올리스트의 성장은 재구매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(Retention)</a:t>
            </a:r>
            <a:r>
              <a:rPr kumimoji="1" lang="ko-KR" altLang="en-US" sz="2000" b="1" dirty="0" err="1">
                <a:solidFill>
                  <a:schemeClr val="tx2"/>
                </a:solidFill>
              </a:rPr>
              <a:t>에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 의해 만들어지고 있지 않다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35DB568-472E-3900-5988-B66E9686CC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515371"/>
            <a:ext cx="3924754" cy="340792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341BAEC-3CBF-AEA3-98EF-2BD49C5904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771" y="2515371"/>
            <a:ext cx="6342742" cy="34079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8FD593-8D16-7A31-3A49-E8F358C6A2BC}"/>
              </a:ext>
            </a:extLst>
          </p:cNvPr>
          <p:cNvSpPr txBox="1"/>
          <p:nvPr/>
        </p:nvSpPr>
        <p:spPr>
          <a:xfrm>
            <a:off x="825954" y="1984552"/>
            <a:ext cx="39551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2"/>
                </a:solidFill>
              </a:rPr>
              <a:t>&lt;</a:t>
            </a:r>
            <a:r>
              <a:rPr lang="ko-KR" altLang="en-US" sz="1600" b="1" dirty="0">
                <a:solidFill>
                  <a:schemeClr val="tx2"/>
                </a:solidFill>
              </a:rPr>
              <a:t> 단일구매 </a:t>
            </a:r>
            <a:r>
              <a:rPr lang="ko-KR" altLang="en-US" sz="1600" b="1" dirty="0" err="1">
                <a:solidFill>
                  <a:schemeClr val="tx2"/>
                </a:solidFill>
              </a:rPr>
              <a:t>고객수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r>
              <a:rPr lang="en-US" altLang="ko-KR" sz="1600" b="1" dirty="0">
                <a:solidFill>
                  <a:schemeClr val="tx2"/>
                </a:solidFill>
              </a:rPr>
              <a:t>vs. </a:t>
            </a:r>
            <a:r>
              <a:rPr lang="ko-KR" altLang="en-US" sz="1600" b="1" dirty="0">
                <a:solidFill>
                  <a:schemeClr val="tx2"/>
                </a:solidFill>
              </a:rPr>
              <a:t>재구매 </a:t>
            </a:r>
            <a:r>
              <a:rPr lang="ko-KR" altLang="en-US" sz="1600" b="1" dirty="0" err="1">
                <a:solidFill>
                  <a:schemeClr val="tx2"/>
                </a:solidFill>
              </a:rPr>
              <a:t>고객수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r>
              <a:rPr lang="en-US" altLang="ko-KR" sz="1600" b="1" dirty="0">
                <a:solidFill>
                  <a:schemeClr val="tx2"/>
                </a:solidFill>
              </a:rPr>
              <a:t>&gt;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endParaRPr lang="en-US" altLang="ko-KR" sz="1600" b="1" dirty="0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4A01A0-3349-CDE2-2648-FFD85C889745}"/>
              </a:ext>
            </a:extLst>
          </p:cNvPr>
          <p:cNvSpPr txBox="1"/>
          <p:nvPr/>
        </p:nvSpPr>
        <p:spPr>
          <a:xfrm>
            <a:off x="5892800" y="1980647"/>
            <a:ext cx="50219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2"/>
                </a:solidFill>
              </a:rPr>
              <a:t>&lt;</a:t>
            </a:r>
            <a:r>
              <a:rPr lang="ko-KR" altLang="en-US" sz="1600" b="1" dirty="0">
                <a:solidFill>
                  <a:schemeClr val="tx2"/>
                </a:solidFill>
              </a:rPr>
              <a:t> 재구매 발생 시점 분포</a:t>
            </a:r>
            <a:r>
              <a:rPr lang="en-US" altLang="ko-KR" sz="1600" b="1" dirty="0">
                <a:solidFill>
                  <a:schemeClr val="tx2"/>
                </a:solidFill>
              </a:rPr>
              <a:t>: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r>
              <a:rPr lang="ko-KR" altLang="en-US" sz="1600" b="1" dirty="0" err="1">
                <a:solidFill>
                  <a:schemeClr val="tx2"/>
                </a:solidFill>
              </a:rPr>
              <a:t>첫구매</a:t>
            </a:r>
            <a:r>
              <a:rPr lang="ko-KR" altLang="en-US" sz="1600" b="1" dirty="0">
                <a:solidFill>
                  <a:schemeClr val="tx2"/>
                </a:solidFill>
              </a:rPr>
              <a:t> 이후 경과 기간 </a:t>
            </a:r>
            <a:r>
              <a:rPr lang="en-US" altLang="ko-KR" sz="1600" b="1" dirty="0">
                <a:solidFill>
                  <a:schemeClr val="tx2"/>
                </a:solidFill>
              </a:rPr>
              <a:t>&gt;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endParaRPr lang="en-US" altLang="ko-KR" sz="1600" b="1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9AF73A-B250-CC5F-0E0D-BE289B3ABCF6}"/>
              </a:ext>
            </a:extLst>
          </p:cNvPr>
          <p:cNvSpPr txBox="1"/>
          <p:nvPr/>
        </p:nvSpPr>
        <p:spPr>
          <a:xfrm>
            <a:off x="788309" y="6115558"/>
            <a:ext cx="4341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전체 고객의 </a:t>
            </a:r>
            <a:r>
              <a:rPr lang="en-US" altLang="ko-KR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97%</a:t>
            </a:r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가 단일 구매 후 이탈</a:t>
            </a:r>
            <a:endParaRPr lang="ko-KR" altLang="en-US" sz="16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9C7297-646B-B5B0-2578-CAE4BDB6AC5C}"/>
              </a:ext>
            </a:extLst>
          </p:cNvPr>
          <p:cNvSpPr txBox="1"/>
          <p:nvPr/>
        </p:nvSpPr>
        <p:spPr>
          <a:xfrm>
            <a:off x="5129441" y="6115558"/>
            <a:ext cx="61880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재구매 고객의 대부분은 </a:t>
            </a:r>
            <a:r>
              <a:rPr lang="ko-KR" altLang="en-US" sz="1600" b="1" dirty="0" err="1">
                <a:solidFill>
                  <a:srgbClr val="C00000"/>
                </a:solidFill>
                <a:highlight>
                  <a:srgbClr val="FFFF00"/>
                </a:highlight>
              </a:rPr>
              <a:t>첫구매와</a:t>
            </a:r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 같은 달 </a:t>
            </a:r>
            <a:r>
              <a:rPr lang="en-US" altLang="ko-KR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(30</a:t>
            </a:r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일 이내</a:t>
            </a:r>
            <a:r>
              <a:rPr lang="en-US" altLang="ko-KR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)</a:t>
            </a:r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 재구매 </a:t>
            </a:r>
            <a:endParaRPr lang="ko-KR" altLang="en-US" sz="16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79534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A8409-2140-D05C-0A74-38015148F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B9B57A-C8F5-B308-7CED-9D7E93D2F1C8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F73071-43D8-1263-1E2E-7009E2D98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4E0462F8-35D0-6434-4955-994C7C1F1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kumimoji="1" lang="ko-KR" altLang="en-US" sz="2000" b="1" dirty="0" err="1">
                <a:solidFill>
                  <a:schemeClr val="tx2"/>
                </a:solidFill>
              </a:rPr>
              <a:t>의미있는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 재구매 고객을 추려낼 수 있을까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?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D73A9A-A3C8-334F-F79C-26BFD1ABE695}"/>
              </a:ext>
            </a:extLst>
          </p:cNvPr>
          <p:cNvSpPr txBox="1"/>
          <p:nvPr/>
        </p:nvSpPr>
        <p:spPr>
          <a:xfrm>
            <a:off x="2140856" y="1914880"/>
            <a:ext cx="39551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2"/>
                </a:solidFill>
              </a:rPr>
              <a:t>&lt;</a:t>
            </a:r>
            <a:r>
              <a:rPr lang="ko-KR" altLang="en-US" sz="1600" b="1" dirty="0">
                <a:solidFill>
                  <a:schemeClr val="tx2"/>
                </a:solidFill>
              </a:rPr>
              <a:t> 기간 기준 재구매율 분석 </a:t>
            </a:r>
            <a:r>
              <a:rPr lang="en-US" altLang="ko-KR" sz="1600" b="1" dirty="0">
                <a:solidFill>
                  <a:schemeClr val="tx2"/>
                </a:solidFill>
              </a:rPr>
              <a:t>&gt;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endParaRPr lang="en-US" altLang="ko-KR" sz="1600" b="1" dirty="0">
              <a:solidFill>
                <a:schemeClr val="tx2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148BB0F-6AA5-1671-4258-8B072FB84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939" y="2356983"/>
            <a:ext cx="6737032" cy="4178666"/>
          </a:xfrm>
          <a:prstGeom prst="rect">
            <a:avLst/>
          </a:prstGeom>
        </p:spPr>
      </p:pic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92D5B66E-7333-26D5-9245-4C7CE84A7CB1}"/>
              </a:ext>
            </a:extLst>
          </p:cNvPr>
          <p:cNvSpPr/>
          <p:nvPr/>
        </p:nvSpPr>
        <p:spPr>
          <a:xfrm>
            <a:off x="1480457" y="3251200"/>
            <a:ext cx="3947886" cy="3284449"/>
          </a:xfrm>
          <a:prstGeom prst="roundRect">
            <a:avLst>
              <a:gd name="adj" fmla="val 8713"/>
            </a:avLst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D11D2C-4549-C43A-0EC7-C0AD9FEB2D61}"/>
              </a:ext>
            </a:extLst>
          </p:cNvPr>
          <p:cNvSpPr txBox="1"/>
          <p:nvPr/>
        </p:nvSpPr>
        <p:spPr>
          <a:xfrm>
            <a:off x="7851489" y="4177302"/>
            <a:ext cx="4340511" cy="2711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spcBef>
                <a:spcPts val="75"/>
              </a:spcBef>
              <a:spcAft>
                <a:spcPts val="75"/>
              </a:spcAft>
              <a:buFont typeface="Wingdings" pitchFamily="2" charset="2"/>
              <a:buChar char="u"/>
            </a:pPr>
            <a:r>
              <a:rPr lang="ko-KR" altLang="en-US" b="1" i="0" dirty="0">
                <a:solidFill>
                  <a:schemeClr val="tx2"/>
                </a:solidFill>
                <a:effectLst/>
                <a:latin typeface="ui-sans-serif"/>
              </a:rPr>
              <a:t>분석 기준에 따른 고객 구분</a:t>
            </a:r>
            <a:endParaRPr lang="en-US" altLang="ko-KR" b="1" i="0" dirty="0">
              <a:solidFill>
                <a:schemeClr val="tx2"/>
              </a:solidFill>
              <a:effectLst/>
              <a:latin typeface="ui-sans-serif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600" b="1" dirty="0">
                <a:solidFill>
                  <a:srgbClr val="4C6B03"/>
                </a:solidFill>
              </a:rPr>
              <a:t>잔존 고객 </a:t>
            </a:r>
            <a:r>
              <a:rPr lang="en-US" altLang="ko-KR" sz="1600" b="1" dirty="0">
                <a:solidFill>
                  <a:srgbClr val="4C6B03"/>
                </a:solidFill>
              </a:rPr>
              <a:t>(</a:t>
            </a:r>
            <a:r>
              <a:rPr lang="en" altLang="ko-KR" sz="1600" b="1" dirty="0">
                <a:solidFill>
                  <a:srgbClr val="4C6B03"/>
                </a:solidFill>
              </a:rPr>
              <a:t>Repurchased ≤ 6M)</a:t>
            </a:r>
            <a:endParaRPr lang="en" altLang="ko-KR" sz="1600" dirty="0">
              <a:solidFill>
                <a:srgbClr val="4C6B03"/>
              </a:solidFill>
            </a:endParaRPr>
          </a:p>
          <a:p>
            <a:pPr>
              <a:lnSpc>
                <a:spcPct val="150000"/>
              </a:lnSpc>
            </a:pPr>
            <a:r>
              <a:rPr lang="en" altLang="ko-KR" sz="1600" dirty="0">
                <a:solidFill>
                  <a:schemeClr val="tx2"/>
                </a:solidFill>
              </a:rPr>
              <a:t>→ </a:t>
            </a:r>
            <a:r>
              <a:rPr lang="ko-KR" altLang="en-US" sz="1600" dirty="0">
                <a:solidFill>
                  <a:schemeClr val="tx2"/>
                </a:solidFill>
              </a:rPr>
              <a:t>첫 구매 후 </a:t>
            </a:r>
            <a:r>
              <a:rPr lang="en-US" altLang="ko-KR" sz="1600" dirty="0">
                <a:solidFill>
                  <a:schemeClr val="tx2"/>
                </a:solidFill>
              </a:rPr>
              <a:t>6</a:t>
            </a:r>
            <a:r>
              <a:rPr lang="ko-KR" altLang="en-US" sz="1600" dirty="0">
                <a:solidFill>
                  <a:schemeClr val="tx2"/>
                </a:solidFill>
              </a:rPr>
              <a:t>개월 이내 재구매한 고객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600" b="1" dirty="0">
                <a:solidFill>
                  <a:srgbClr val="4C6B03"/>
                </a:solidFill>
              </a:rPr>
              <a:t>이탈 고객 </a:t>
            </a:r>
            <a:r>
              <a:rPr lang="en-US" altLang="ko-KR" sz="1600" b="1" dirty="0">
                <a:solidFill>
                  <a:srgbClr val="4C6B03"/>
                </a:solidFill>
              </a:rPr>
              <a:t>(</a:t>
            </a:r>
            <a:r>
              <a:rPr lang="en" altLang="ko-KR" sz="1600" b="1" dirty="0">
                <a:solidFill>
                  <a:srgbClr val="4C6B03"/>
                </a:solidFill>
              </a:rPr>
              <a:t>Churned &gt; 6M)</a:t>
            </a:r>
            <a:endParaRPr lang="en" altLang="ko-KR" sz="1600" dirty="0">
              <a:solidFill>
                <a:srgbClr val="4C6B03"/>
              </a:solidFill>
            </a:endParaRPr>
          </a:p>
          <a:p>
            <a:pPr marL="317500" indent="-317500">
              <a:lnSpc>
                <a:spcPct val="150000"/>
              </a:lnSpc>
            </a:pPr>
            <a:r>
              <a:rPr lang="en" altLang="ko-KR" sz="1600" dirty="0">
                <a:solidFill>
                  <a:schemeClr val="tx2"/>
                </a:solidFill>
              </a:rPr>
              <a:t>→ </a:t>
            </a:r>
            <a:r>
              <a:rPr lang="ko-KR" altLang="en-US" sz="1600" dirty="0">
                <a:solidFill>
                  <a:schemeClr val="tx2"/>
                </a:solidFill>
              </a:rPr>
              <a:t>첫 구매 후 </a:t>
            </a:r>
            <a:r>
              <a:rPr lang="en-US" altLang="ko-KR" sz="1600" dirty="0">
                <a:solidFill>
                  <a:schemeClr val="tx2"/>
                </a:solidFill>
              </a:rPr>
              <a:t>6</a:t>
            </a:r>
            <a:r>
              <a:rPr lang="ko-KR" altLang="en-US" sz="1600" dirty="0">
                <a:solidFill>
                  <a:schemeClr val="tx2"/>
                </a:solidFill>
              </a:rPr>
              <a:t>개월 초과 </a:t>
            </a:r>
            <a:r>
              <a:rPr lang="en-US" altLang="ko-KR" sz="1600" dirty="0">
                <a:solidFill>
                  <a:schemeClr val="tx2"/>
                </a:solidFill>
              </a:rPr>
              <a:t>(</a:t>
            </a:r>
            <a:r>
              <a:rPr lang="ko-KR" altLang="en-US" sz="1600" dirty="0">
                <a:solidFill>
                  <a:schemeClr val="tx2"/>
                </a:solidFill>
              </a:rPr>
              <a:t> 재구매 가능성이 사실상 소멸된 그룹으로 판단</a:t>
            </a:r>
          </a:p>
          <a:p>
            <a:pPr algn="l">
              <a:lnSpc>
                <a:spcPct val="150000"/>
              </a:lnSpc>
              <a:spcBef>
                <a:spcPts val="75"/>
              </a:spcBef>
              <a:spcAft>
                <a:spcPts val="75"/>
              </a:spcAft>
            </a:pPr>
            <a:endParaRPr lang="ko-KR" altLang="en-US" sz="1600" b="0" i="0" dirty="0">
              <a:solidFill>
                <a:schemeClr val="tx2"/>
              </a:solidFill>
              <a:effectLst/>
              <a:latin typeface="ui-sans-serif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3364E9-F8EA-8EE1-00E8-BFB345B300DF}"/>
              </a:ext>
            </a:extLst>
          </p:cNvPr>
          <p:cNvSpPr txBox="1"/>
          <p:nvPr/>
        </p:nvSpPr>
        <p:spPr>
          <a:xfrm>
            <a:off x="7743003" y="2437740"/>
            <a:ext cx="4158711" cy="162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spcBef>
                <a:spcPts val="75"/>
              </a:spcBef>
              <a:spcAft>
                <a:spcPts val="75"/>
              </a:spcAft>
              <a:buFont typeface="Wingdings" pitchFamily="2" charset="2"/>
              <a:buChar char="u"/>
            </a:pPr>
            <a:r>
              <a:rPr lang="ko-KR" altLang="en-US" b="1" i="0" dirty="0">
                <a:solidFill>
                  <a:schemeClr val="tx2"/>
                </a:solidFill>
                <a:effectLst/>
                <a:latin typeface="ui-sans-serif"/>
              </a:rPr>
              <a:t>재구매 유도 </a:t>
            </a:r>
            <a:r>
              <a:rPr lang="ko-KR" altLang="en-US" b="1" i="0" dirty="0" err="1">
                <a:solidFill>
                  <a:schemeClr val="tx2"/>
                </a:solidFill>
                <a:effectLst/>
                <a:latin typeface="ui-sans-serif"/>
              </a:rPr>
              <a:t>골든타임의</a:t>
            </a:r>
            <a:r>
              <a:rPr lang="ko-KR" altLang="en-US" b="1" i="0" dirty="0">
                <a:solidFill>
                  <a:schemeClr val="tx2"/>
                </a:solidFill>
                <a:effectLst/>
                <a:latin typeface="ui-sans-serif"/>
              </a:rPr>
              <a:t> 정의</a:t>
            </a:r>
            <a:endParaRPr lang="en-US" altLang="ko-KR" b="1" i="0" dirty="0">
              <a:solidFill>
                <a:schemeClr val="tx2"/>
              </a:solidFill>
              <a:effectLst/>
              <a:latin typeface="ui-sans-serif"/>
            </a:endParaRPr>
          </a:p>
          <a:p>
            <a:pPr marL="285750" indent="-285750" algn="l">
              <a:lnSpc>
                <a:spcPct val="150000"/>
              </a:lnSpc>
              <a:spcBef>
                <a:spcPts val="75"/>
              </a:spcBef>
              <a:spcAft>
                <a:spcPts val="75"/>
              </a:spcAft>
              <a:buFontTx/>
              <a:buChar char="-"/>
            </a:pPr>
            <a:r>
              <a:rPr lang="en-US" altLang="ko-KR" sz="1600" dirty="0">
                <a:solidFill>
                  <a:schemeClr val="tx2"/>
                </a:solidFill>
                <a:latin typeface="ui-sans-serif"/>
              </a:rPr>
              <a:t>6</a:t>
            </a:r>
            <a:r>
              <a:rPr lang="ko-KR" altLang="en-US" sz="1600" dirty="0">
                <a:solidFill>
                  <a:schemeClr val="tx2"/>
                </a:solidFill>
                <a:latin typeface="ui-sans-serif"/>
              </a:rPr>
              <a:t>개월 이후 재구매율 증가는 매우 제한적</a:t>
            </a:r>
            <a:endParaRPr lang="en-US" altLang="ko-KR" sz="1600" dirty="0">
              <a:solidFill>
                <a:schemeClr val="tx2"/>
              </a:solidFill>
              <a:latin typeface="ui-sans-serif"/>
            </a:endParaRPr>
          </a:p>
          <a:p>
            <a:pPr marL="273050" indent="-273050" algn="l">
              <a:lnSpc>
                <a:spcPct val="150000"/>
              </a:lnSpc>
              <a:spcBef>
                <a:spcPts val="75"/>
              </a:spcBef>
              <a:spcAft>
                <a:spcPts val="75"/>
              </a:spcAft>
            </a:pPr>
            <a:r>
              <a:rPr lang="en-US" altLang="ko-KR" sz="1600" b="0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ui-sans-serif"/>
                <a:sym typeface="Wingdings" pitchFamily="2" charset="2"/>
              </a:rPr>
              <a:t></a:t>
            </a:r>
            <a:r>
              <a:rPr lang="ko-KR" altLang="en-US" sz="1600" b="0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ui-sans-serif"/>
                <a:sym typeface="Wingdings" pitchFamily="2" charset="2"/>
              </a:rPr>
              <a:t> 첫 구매 후 </a:t>
            </a:r>
            <a:r>
              <a:rPr lang="en-US" altLang="ko-KR" sz="1600" b="0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ui-sans-serif"/>
                <a:sym typeface="Wingdings" pitchFamily="2" charset="2"/>
              </a:rPr>
              <a:t>6</a:t>
            </a:r>
            <a:r>
              <a:rPr lang="ko-KR" altLang="en-US" sz="1600" b="0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ui-sans-serif"/>
                <a:sym typeface="Wingdings" pitchFamily="2" charset="2"/>
              </a:rPr>
              <a:t>개월을 재구매 유도 </a:t>
            </a:r>
            <a:r>
              <a:rPr lang="ko-KR" altLang="en-US" sz="1600" b="0" i="0" dirty="0" err="1">
                <a:solidFill>
                  <a:srgbClr val="C00000"/>
                </a:solidFill>
                <a:effectLst/>
                <a:highlight>
                  <a:srgbClr val="FFFF00"/>
                </a:highlight>
                <a:latin typeface="ui-sans-serif"/>
                <a:sym typeface="Wingdings" pitchFamily="2" charset="2"/>
              </a:rPr>
              <a:t>골든타임으로</a:t>
            </a:r>
            <a:r>
              <a:rPr lang="ko-KR" altLang="en-US" sz="1600" b="0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ui-sans-serif"/>
                <a:sym typeface="Wingdings" pitchFamily="2" charset="2"/>
              </a:rPr>
              <a:t> 정의 </a:t>
            </a:r>
            <a:endParaRPr lang="ko-KR" altLang="en-US" sz="1600" b="0" i="0" dirty="0">
              <a:solidFill>
                <a:srgbClr val="C00000"/>
              </a:solidFill>
              <a:effectLst/>
              <a:highlight>
                <a:srgbClr val="FFFF00"/>
              </a:highlight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3185090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3BCC9-96F4-89D9-044B-D960D2BA8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8ECE7A-1F40-E45C-398B-656677F6AC43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1A87EB-88A5-F636-CB9F-D035E5AEB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A1CB3985-F97A-E9C1-33B9-BDC03B783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kumimoji="1" lang="ko-KR" altLang="en-US" sz="2000" b="1" dirty="0">
                <a:solidFill>
                  <a:schemeClr val="tx2"/>
                </a:solidFill>
              </a:rPr>
              <a:t>올리스트의 재구매 부진은 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‘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가격 요인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’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과 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‘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경험 품질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’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의 문제가 아니었다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75C478-6B90-B48A-7D20-CAA533D81C47}"/>
              </a:ext>
            </a:extLst>
          </p:cNvPr>
          <p:cNvSpPr txBox="1"/>
          <p:nvPr/>
        </p:nvSpPr>
        <p:spPr>
          <a:xfrm>
            <a:off x="4724215" y="2030894"/>
            <a:ext cx="27435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&lt;</a:t>
            </a:r>
            <a:r>
              <a:rPr lang="ko-KR" altLang="en-US" sz="1600" b="1" dirty="0"/>
              <a:t> 첫 구매 배송 소요기간 </a:t>
            </a:r>
            <a:r>
              <a:rPr lang="en-US" altLang="ko-KR" sz="1600" b="1" dirty="0"/>
              <a:t>&gt;</a:t>
            </a:r>
            <a:r>
              <a:rPr lang="ko-KR" altLang="en-US" sz="1600" b="1" dirty="0"/>
              <a:t> </a:t>
            </a:r>
            <a:endParaRPr lang="en-US" altLang="ko-KR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4CCC83-3D5F-F97D-D38F-8CA1C74F718F}"/>
              </a:ext>
            </a:extLst>
          </p:cNvPr>
          <p:cNvSpPr txBox="1"/>
          <p:nvPr/>
        </p:nvSpPr>
        <p:spPr>
          <a:xfrm>
            <a:off x="8535140" y="2038704"/>
            <a:ext cx="2336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&lt;</a:t>
            </a:r>
            <a:r>
              <a:rPr lang="ko-KR" altLang="en-US" sz="1600" b="1" dirty="0"/>
              <a:t> 첫 구매 리뷰 점수 </a:t>
            </a:r>
            <a:r>
              <a:rPr lang="en-US" altLang="ko-KR" sz="1600" b="1" dirty="0"/>
              <a:t>&gt;</a:t>
            </a:r>
            <a:r>
              <a:rPr lang="ko-KR" altLang="en-US" sz="1600" b="1" dirty="0"/>
              <a:t> </a:t>
            </a:r>
            <a:endParaRPr lang="en-US" altLang="ko-KR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5D9D81-9087-1A39-DDF8-51EE3AFD5A50}"/>
              </a:ext>
            </a:extLst>
          </p:cNvPr>
          <p:cNvSpPr txBox="1"/>
          <p:nvPr/>
        </p:nvSpPr>
        <p:spPr>
          <a:xfrm>
            <a:off x="7749105" y="5428988"/>
            <a:ext cx="37949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rgbClr val="0070C0"/>
                </a:solidFill>
              </a:rPr>
              <a:t>※</a:t>
            </a:r>
            <a:r>
              <a:rPr lang="ko-KR" altLang="en-US" sz="1400" dirty="0">
                <a:solidFill>
                  <a:srgbClr val="0070C0"/>
                </a:solidFill>
              </a:rPr>
              <a:t> 첫 구매 주문 중 리뷰 존재 비율</a:t>
            </a:r>
            <a:r>
              <a:rPr lang="en-US" altLang="ko-KR" sz="1400" dirty="0">
                <a:solidFill>
                  <a:srgbClr val="0070C0"/>
                </a:solidFill>
              </a:rPr>
              <a:t>:</a:t>
            </a:r>
            <a:r>
              <a:rPr lang="ko-KR" altLang="en-US" sz="1400" dirty="0">
                <a:solidFill>
                  <a:srgbClr val="0070C0"/>
                </a:solidFill>
              </a:rPr>
              <a:t>  </a:t>
            </a:r>
            <a:r>
              <a:rPr lang="en-US" altLang="ko-KR" sz="1400" dirty="0">
                <a:solidFill>
                  <a:srgbClr val="0070C0"/>
                </a:solidFill>
              </a:rPr>
              <a:t>99.34%</a:t>
            </a:r>
          </a:p>
          <a:p>
            <a:pPr algn="ctr"/>
            <a:endParaRPr lang="ko-KR" altLang="en-US" sz="1600" dirty="0">
              <a:solidFill>
                <a:srgbClr val="0070C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7A1B45E-4582-0799-069C-CAECEA8BD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954" y="2461673"/>
            <a:ext cx="3301543" cy="28829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CFF7230-64B9-8372-290F-8A4A93ECE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3270" y="2461673"/>
            <a:ext cx="3260273" cy="28829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D8CD8EE-9634-C200-DCA0-02EF61052B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9316" y="2461673"/>
            <a:ext cx="3414484" cy="28829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137A4D7-9986-8E07-FD5D-CCDC79EDE8C2}"/>
              </a:ext>
            </a:extLst>
          </p:cNvPr>
          <p:cNvSpPr txBox="1"/>
          <p:nvPr/>
        </p:nvSpPr>
        <p:spPr>
          <a:xfrm>
            <a:off x="1407144" y="2024190"/>
            <a:ext cx="27435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&lt;</a:t>
            </a:r>
            <a:r>
              <a:rPr lang="ko-KR" altLang="en-US" sz="1600" b="1" dirty="0"/>
              <a:t> 첫 구매 결제 금액 </a:t>
            </a:r>
            <a:r>
              <a:rPr lang="en-US" altLang="ko-KR" sz="1600" b="1" dirty="0"/>
              <a:t>&gt;</a:t>
            </a:r>
            <a:r>
              <a:rPr lang="ko-KR" altLang="en-US" sz="1600" b="1" dirty="0"/>
              <a:t> </a:t>
            </a:r>
            <a:endParaRPr lang="en-US" altLang="ko-KR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47118E-8909-57DB-1CBF-D4C9A4DA1800}"/>
              </a:ext>
            </a:extLst>
          </p:cNvPr>
          <p:cNvSpPr txBox="1"/>
          <p:nvPr/>
        </p:nvSpPr>
        <p:spPr>
          <a:xfrm>
            <a:off x="908976" y="5896720"/>
            <a:ext cx="10248860" cy="871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chemeClr val="tx2"/>
                </a:solidFill>
                <a:highlight>
                  <a:srgbClr val="FFFF00"/>
                </a:highlight>
                <a:latin typeface=".AppleSystemUIFont"/>
              </a:rPr>
              <a:t>✅  </a:t>
            </a:r>
            <a:r>
              <a:rPr lang="ko-KR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재구매 여부는 첫 구매 경험의 질적 요소의 차이로 설명되지 않음 </a:t>
            </a:r>
            <a:endParaRPr lang="en-US" altLang="ko-KR" b="1" dirty="0">
              <a:solidFill>
                <a:srgbClr val="C00000"/>
              </a:solidFill>
              <a:highlight>
                <a:srgbClr val="FFFF00"/>
              </a:highlight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rgbClr val="C00000"/>
                </a:solidFill>
                <a:sym typeface="Wingdings" pitchFamily="2" charset="2"/>
              </a:rPr>
              <a:t></a:t>
            </a:r>
            <a:r>
              <a:rPr lang="ko-KR" altLang="en-US" b="1" dirty="0">
                <a:solidFill>
                  <a:srgbClr val="C00000"/>
                </a:solidFill>
                <a:sym typeface="Wingdings" pitchFamily="2" charset="2"/>
              </a:rPr>
              <a:t> </a:t>
            </a:r>
            <a:r>
              <a:rPr lang="en-US" altLang="ko-KR" b="1" dirty="0">
                <a:solidFill>
                  <a:srgbClr val="C00000"/>
                </a:solidFill>
                <a:sym typeface="Wingdings" pitchFamily="2" charset="2"/>
              </a:rPr>
              <a:t>Why? </a:t>
            </a:r>
            <a:endParaRPr lang="en-US" altLang="ko-KR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413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28DBF-74F1-A907-CD2F-70C065C05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7F4797-04AF-8672-4D75-3F4DE61642CB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171A81-C645-A356-0E26-4030C7AD7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2C3D312F-2E78-4965-3619-B05E53313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kumimoji="1" lang="ko-KR" altLang="en-US" sz="2000" b="1" dirty="0">
                <a:solidFill>
                  <a:schemeClr val="tx2"/>
                </a:solidFill>
              </a:rPr>
              <a:t>재구매는 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‘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충성도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’</a:t>
            </a:r>
            <a:r>
              <a:rPr kumimoji="1" lang="ko-KR" altLang="en-US" sz="2000" b="1" dirty="0" err="1">
                <a:solidFill>
                  <a:schemeClr val="tx2"/>
                </a:solidFill>
              </a:rPr>
              <a:t>라기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 보다는 첫 구매에서 채우지 못한 수요의 보충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8A9979-2FE7-A821-DFFE-53555D094561}"/>
              </a:ext>
            </a:extLst>
          </p:cNvPr>
          <p:cNvSpPr txBox="1"/>
          <p:nvPr/>
        </p:nvSpPr>
        <p:spPr>
          <a:xfrm>
            <a:off x="6589486" y="2024190"/>
            <a:ext cx="48423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&lt;</a:t>
            </a:r>
            <a:r>
              <a:rPr lang="ko-KR" altLang="en-US" sz="1600" b="1" dirty="0"/>
              <a:t> 동일 카테고리 재구매 고객의 카테고리 분포</a:t>
            </a:r>
            <a:r>
              <a:rPr lang="en-US" altLang="ko-KR" sz="1600" b="1" dirty="0"/>
              <a:t>&gt;</a:t>
            </a:r>
            <a:r>
              <a:rPr lang="ko-KR" altLang="en-US" sz="1600" b="1" dirty="0"/>
              <a:t> </a:t>
            </a:r>
            <a:endParaRPr lang="en-US" altLang="ko-KR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DAE04D-D09B-977F-71FF-5112E0A4D63A}"/>
              </a:ext>
            </a:extLst>
          </p:cNvPr>
          <p:cNvSpPr txBox="1"/>
          <p:nvPr/>
        </p:nvSpPr>
        <p:spPr>
          <a:xfrm>
            <a:off x="460829" y="2024190"/>
            <a:ext cx="55771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&lt;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30</a:t>
            </a:r>
            <a:r>
              <a:rPr lang="ko-KR" altLang="en-US" sz="1600" b="1" dirty="0"/>
              <a:t>일 이내 재구매 고객의 동일 카테고리 재구매 비율 </a:t>
            </a:r>
            <a:r>
              <a:rPr lang="en-US" altLang="ko-KR" sz="1600" b="1" dirty="0"/>
              <a:t>&gt;</a:t>
            </a:r>
            <a:r>
              <a:rPr lang="ko-KR" altLang="en-US" sz="1600" b="1" dirty="0"/>
              <a:t> </a:t>
            </a:r>
            <a:endParaRPr lang="en-US" altLang="ko-KR" sz="1600" b="1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396EEA8-6934-036C-188C-33AACB513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636" y="2573982"/>
            <a:ext cx="4381500" cy="31115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9DDBE8B-F140-353D-C8A2-FECB4E0DEB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2566724"/>
            <a:ext cx="5348259" cy="311875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547A2C5-E8C7-D34C-D759-B6F71E049B60}"/>
              </a:ext>
            </a:extLst>
          </p:cNvPr>
          <p:cNvSpPr txBox="1"/>
          <p:nvPr/>
        </p:nvSpPr>
        <p:spPr>
          <a:xfrm>
            <a:off x="1004392" y="5896720"/>
            <a:ext cx="4381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itchFamily="2" charset="2"/>
              <a:buChar char="ü"/>
            </a:pPr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재구매 고객의 </a:t>
            </a:r>
            <a:r>
              <a:rPr lang="en-US" altLang="ko-KR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60%</a:t>
            </a:r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 이상이 </a:t>
            </a:r>
            <a:endParaRPr lang="en-US" altLang="ko-KR" sz="1600" b="1" dirty="0">
              <a:solidFill>
                <a:srgbClr val="C00000"/>
              </a:solidFill>
              <a:highlight>
                <a:srgbClr val="FFFF00"/>
              </a:highlight>
            </a:endParaRPr>
          </a:p>
          <a:p>
            <a:pPr algn="ctr"/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첫 구매와 동일한 카테고리를 재구매</a:t>
            </a:r>
            <a:endParaRPr lang="ko-KR" altLang="en-US" sz="16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4AB6D3-467C-36E7-6AAF-E376172E3307}"/>
              </a:ext>
            </a:extLst>
          </p:cNvPr>
          <p:cNvSpPr txBox="1"/>
          <p:nvPr/>
        </p:nvSpPr>
        <p:spPr>
          <a:xfrm>
            <a:off x="5668652" y="5897803"/>
            <a:ext cx="64148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itchFamily="2" charset="2"/>
              <a:buChar char="ü"/>
            </a:pPr>
            <a:r>
              <a:rPr lang="ko-KR" altLang="en-US" sz="1600" b="1" dirty="0" err="1">
                <a:solidFill>
                  <a:srgbClr val="C00000"/>
                </a:solidFill>
                <a:highlight>
                  <a:srgbClr val="FFFF00"/>
                </a:highlight>
              </a:rPr>
              <a:t>침구・욕실</a:t>
            </a:r>
            <a:r>
              <a:rPr lang="en-US" altLang="ko-KR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,</a:t>
            </a:r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600" b="1" dirty="0" err="1">
                <a:solidFill>
                  <a:srgbClr val="C00000"/>
                </a:solidFill>
                <a:highlight>
                  <a:srgbClr val="FFFF00"/>
                </a:highlight>
              </a:rPr>
              <a:t>미용・건강</a:t>
            </a:r>
            <a:r>
              <a:rPr lang="en-US" altLang="ko-KR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,</a:t>
            </a:r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 생활용품 등 </a:t>
            </a:r>
            <a:endParaRPr lang="en-US" altLang="ko-KR" sz="1600" b="1" dirty="0">
              <a:solidFill>
                <a:srgbClr val="C00000"/>
              </a:solidFill>
              <a:highlight>
                <a:srgbClr val="FFFF00"/>
              </a:highlight>
            </a:endParaRPr>
          </a:p>
          <a:p>
            <a:pPr algn="ctr"/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소모성</a:t>
            </a:r>
            <a:r>
              <a:rPr lang="en-US" altLang="ko-KR" sz="1600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,</a:t>
            </a:r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 생활 밀착형 카테고리가 재구매를 주도</a:t>
            </a:r>
            <a:endParaRPr lang="ko-KR" altLang="en-US" sz="16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15571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6A4A53-051C-BE0A-80FC-DF381E10F31C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3129EC-23BF-0712-8FB1-7BD09F0B2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320E9709-D27E-59B2-BB95-CB21F4371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kumimoji="1" lang="ko-KR" altLang="en-US" sz="2000" b="1" dirty="0">
                <a:solidFill>
                  <a:schemeClr val="tx2"/>
                </a:solidFill>
              </a:rPr>
              <a:t>재구매가 아닌데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,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 올리스트 매출은 왜 성장했을까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?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D44437-7A12-7928-B6B4-EB45280EA20F}"/>
              </a:ext>
            </a:extLst>
          </p:cNvPr>
          <p:cNvSpPr txBox="1"/>
          <p:nvPr/>
        </p:nvSpPr>
        <p:spPr>
          <a:xfrm>
            <a:off x="751114" y="2198790"/>
            <a:ext cx="6070600" cy="4069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spcBef>
                <a:spcPts val="75"/>
              </a:spcBef>
              <a:spcAft>
                <a:spcPts val="75"/>
              </a:spcAft>
              <a:buFont typeface="Wingdings" pitchFamily="2" charset="2"/>
              <a:buChar char="u"/>
            </a:pPr>
            <a:r>
              <a:rPr lang="ko-KR" altLang="en-US" sz="2000" b="1" i="0" dirty="0">
                <a:solidFill>
                  <a:schemeClr val="tx2"/>
                </a:solidFill>
                <a:effectLst/>
                <a:latin typeface="ui-sans-serif"/>
              </a:rPr>
              <a:t>지금까지의 발견 요약</a:t>
            </a:r>
            <a:endParaRPr lang="en-US" altLang="ko-KR" sz="2000" b="1" i="0" dirty="0">
              <a:solidFill>
                <a:schemeClr val="tx2"/>
              </a:solidFill>
              <a:effectLst/>
              <a:latin typeface="ui-sans-serif"/>
            </a:endParaRPr>
          </a:p>
          <a:p>
            <a:pPr>
              <a:lnSpc>
                <a:spcPct val="200000"/>
              </a:lnSpc>
            </a:pPr>
            <a:r>
              <a:rPr lang="ko-KR" altLang="en-US" dirty="0">
                <a:solidFill>
                  <a:srgbClr val="4C6B03"/>
                </a:solidFill>
              </a:rPr>
              <a:t>✔ 재구매율은 전체 고객의 약 </a:t>
            </a:r>
            <a:r>
              <a:rPr lang="en-US" altLang="ko-KR" dirty="0">
                <a:solidFill>
                  <a:srgbClr val="4C6B03"/>
                </a:solidFill>
              </a:rPr>
              <a:t>3% </a:t>
            </a:r>
            <a:r>
              <a:rPr lang="ko-KR" altLang="en-US" dirty="0">
                <a:solidFill>
                  <a:srgbClr val="4C6B03"/>
                </a:solidFill>
              </a:rPr>
              <a:t>수준</a:t>
            </a:r>
          </a:p>
          <a:p>
            <a:pPr>
              <a:lnSpc>
                <a:spcPct val="200000"/>
              </a:lnSpc>
            </a:pPr>
            <a:r>
              <a:rPr lang="ko-KR" altLang="en-US" dirty="0">
                <a:solidFill>
                  <a:srgbClr val="4C6B03"/>
                </a:solidFill>
              </a:rPr>
              <a:t>✔ 재구매는 대부분 첫 구매 후 </a:t>
            </a:r>
            <a:r>
              <a:rPr lang="en-US" altLang="ko-KR" dirty="0">
                <a:solidFill>
                  <a:srgbClr val="4C6B03"/>
                </a:solidFill>
              </a:rPr>
              <a:t>30</a:t>
            </a:r>
            <a:r>
              <a:rPr lang="ko-KR" altLang="en-US" dirty="0">
                <a:solidFill>
                  <a:srgbClr val="4C6B03"/>
                </a:solidFill>
              </a:rPr>
              <a:t>일 이내 발생</a:t>
            </a:r>
          </a:p>
          <a:p>
            <a:pPr>
              <a:lnSpc>
                <a:spcPct val="200000"/>
              </a:lnSpc>
            </a:pPr>
            <a:r>
              <a:rPr lang="ko-KR" altLang="en-US" dirty="0">
                <a:solidFill>
                  <a:srgbClr val="4C6B03"/>
                </a:solidFill>
              </a:rPr>
              <a:t>✔ 재구매는 충성도보다 </a:t>
            </a:r>
            <a:r>
              <a:rPr lang="ko-KR" altLang="en-US" b="1" dirty="0">
                <a:solidFill>
                  <a:srgbClr val="4C6B03"/>
                </a:solidFill>
              </a:rPr>
              <a:t>첫 구매 수요 연장</a:t>
            </a:r>
            <a:r>
              <a:rPr lang="ko-KR" altLang="en-US" dirty="0">
                <a:solidFill>
                  <a:srgbClr val="4C6B03"/>
                </a:solidFill>
              </a:rPr>
              <a:t>에 가까움</a:t>
            </a:r>
            <a:endParaRPr lang="en-US" altLang="ko-KR" dirty="0">
              <a:solidFill>
                <a:srgbClr val="4C6B03"/>
              </a:solidFill>
            </a:endParaRPr>
          </a:p>
          <a:p>
            <a:pPr>
              <a:lnSpc>
                <a:spcPct val="200000"/>
              </a:lnSpc>
            </a:pPr>
            <a:endParaRPr lang="en-US" altLang="ko-KR" dirty="0"/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è"/>
            </a:pPr>
            <a:r>
              <a:rPr lang="en-US" altLang="ko-KR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Retention</a:t>
            </a:r>
            <a:r>
              <a:rPr lang="ko-KR" altLang="en-US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 지표만으로는 </a:t>
            </a:r>
            <a:endParaRPr lang="en-US" altLang="ko-KR" dirty="0">
              <a:solidFill>
                <a:srgbClr val="C00000"/>
              </a:solidFill>
              <a:highlight>
                <a:srgbClr val="FFFF00"/>
              </a:highlight>
              <a:sym typeface="Wingdings" pitchFamily="2" charset="2"/>
            </a:endParaRPr>
          </a:p>
          <a:p>
            <a:pPr marL="317500">
              <a:lnSpc>
                <a:spcPct val="200000"/>
              </a:lnSpc>
            </a:pPr>
            <a:r>
              <a:rPr lang="ko-KR" altLang="en-US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매출 성장의 원인을 설명하기 어려움</a:t>
            </a:r>
            <a:endParaRPr lang="ko-KR" altLang="en-US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CAA8F7F5-2561-893C-5B56-F0E33160C44F}"/>
              </a:ext>
            </a:extLst>
          </p:cNvPr>
          <p:cNvSpPr/>
          <p:nvPr/>
        </p:nvSpPr>
        <p:spPr>
          <a:xfrm>
            <a:off x="6821714" y="2198790"/>
            <a:ext cx="4532086" cy="4231039"/>
          </a:xfrm>
          <a:prstGeom prst="roundRect">
            <a:avLst>
              <a:gd name="adj" fmla="val 774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029BCD-ED1B-2115-B13B-79422115EE8F}"/>
              </a:ext>
            </a:extLst>
          </p:cNvPr>
          <p:cNvSpPr txBox="1"/>
          <p:nvPr/>
        </p:nvSpPr>
        <p:spPr>
          <a:xfrm>
            <a:off x="7024914" y="2356248"/>
            <a:ext cx="45574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dirty="0">
                <a:solidFill>
                  <a:schemeClr val="tx2"/>
                </a:solidFill>
              </a:rPr>
              <a:t>🧠 </a:t>
            </a:r>
            <a:r>
              <a:rPr lang="ko-KR" altLang="en-US" sz="3200" b="1" dirty="0">
                <a:solidFill>
                  <a:schemeClr val="tx2"/>
                </a:solidFill>
              </a:rPr>
              <a:t>질문을 바꿔보자 </a:t>
            </a:r>
            <a:r>
              <a:rPr lang="en-US" altLang="ko-KR" sz="3200" b="1" dirty="0">
                <a:solidFill>
                  <a:schemeClr val="tx2"/>
                </a:solidFill>
              </a:rPr>
              <a:t>!</a:t>
            </a:r>
            <a:endParaRPr lang="ko-KR" altLang="en-US" sz="3200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BC5535-17CF-5AB3-5865-9BB34224D16A}"/>
              </a:ext>
            </a:extLst>
          </p:cNvPr>
          <p:cNvSpPr txBox="1"/>
          <p:nvPr/>
        </p:nvSpPr>
        <p:spPr>
          <a:xfrm>
            <a:off x="7373256" y="3016524"/>
            <a:ext cx="3526972" cy="1164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buNone/>
            </a:pPr>
            <a:r>
              <a:rPr lang="ko-KR" altLang="en-US" dirty="0">
                <a:solidFill>
                  <a:schemeClr val="tx2"/>
                </a:solidFill>
                <a:effectLst/>
                <a:latin typeface=".AppleSystemUIFont"/>
              </a:rPr>
              <a:t>“누가 오래 남는가</a:t>
            </a:r>
            <a:r>
              <a:rPr lang="en-US" altLang="ko-KR" dirty="0">
                <a:solidFill>
                  <a:schemeClr val="tx2"/>
                </a:solidFill>
                <a:effectLst/>
                <a:latin typeface=".AppleSystemUIFont"/>
              </a:rPr>
              <a:t>?”</a:t>
            </a:r>
            <a:r>
              <a:rPr lang="ko-KR" altLang="en-US" dirty="0">
                <a:solidFill>
                  <a:schemeClr val="tx2"/>
                </a:solidFill>
                <a:effectLst/>
                <a:latin typeface=".AppleSystemUIFont"/>
              </a:rPr>
              <a:t>가 아니라</a:t>
            </a:r>
          </a:p>
          <a:p>
            <a:pPr algn="ctr">
              <a:lnSpc>
                <a:spcPct val="200000"/>
              </a:lnSpc>
              <a:buNone/>
            </a:pPr>
            <a:r>
              <a:rPr lang="ko-KR" altLang="en-US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Helvetica Neue" panose="02000503000000020004" pitchFamily="2" charset="0"/>
              </a:rPr>
              <a:t>“누가 매출을 만드는가</a:t>
            </a:r>
            <a:r>
              <a:rPr lang="en-US" altLang="ko-KR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Helvetica Neue" panose="02000503000000020004" pitchFamily="2" charset="0"/>
              </a:rPr>
              <a:t>?”</a:t>
            </a:r>
            <a:endParaRPr lang="ko-KR" altLang="en-US" sz="2000" dirty="0">
              <a:solidFill>
                <a:srgbClr val="C00000"/>
              </a:solidFill>
              <a:effectLst/>
              <a:highlight>
                <a:srgbClr val="FFFF00"/>
              </a:highlight>
              <a:latin typeface="Helvetica Neue" panose="0200050300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9D8F35-3CD5-3650-E353-1B9890B61523}"/>
              </a:ext>
            </a:extLst>
          </p:cNvPr>
          <p:cNvSpPr txBox="1"/>
          <p:nvPr/>
        </p:nvSpPr>
        <p:spPr>
          <a:xfrm>
            <a:off x="7024914" y="4452847"/>
            <a:ext cx="4415972" cy="1285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tx2"/>
                </a:solidFill>
                <a:effectLst/>
                <a:latin typeface=".AppleSystemUIFont"/>
              </a:rPr>
              <a:t>평균 고객이 아닌</a:t>
            </a:r>
            <a:r>
              <a:rPr lang="en-US" altLang="ko-KR" dirty="0">
                <a:solidFill>
                  <a:schemeClr val="tx2"/>
                </a:solidFill>
                <a:effectLst/>
                <a:latin typeface=".AppleSystemUIFont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ko-KR" altLang="en-US" b="1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매출을 만들어내는 고객 구조</a:t>
            </a:r>
            <a:r>
              <a:rPr lang="ko-KR" altLang="en-US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를 보기 위해</a:t>
            </a:r>
          </a:p>
          <a:p>
            <a:pPr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분석의 초점을 </a:t>
            </a:r>
            <a:r>
              <a:rPr lang="en" altLang="ko-KR" b="1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Revenue </a:t>
            </a:r>
            <a:r>
              <a:rPr lang="ko-KR" altLang="en-US" b="1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관점으로 전환</a:t>
            </a:r>
            <a:endParaRPr lang="ko-KR" altLang="en-US" dirty="0">
              <a:solidFill>
                <a:schemeClr val="tx2"/>
              </a:solidFill>
              <a:effectLst/>
              <a:latin typeface="Helvetica Neue" panose="02000503000000020004" pitchFamily="2" charset="0"/>
            </a:endParaRPr>
          </a:p>
        </p:txBody>
      </p: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3861979A-5D84-7967-A23E-8D27C2C4BD0A}"/>
              </a:ext>
            </a:extLst>
          </p:cNvPr>
          <p:cNvCxnSpPr/>
          <p:nvPr/>
        </p:nvCxnSpPr>
        <p:spPr>
          <a:xfrm>
            <a:off x="7010399" y="4539092"/>
            <a:ext cx="0" cy="1199235"/>
          </a:xfrm>
          <a:prstGeom prst="line">
            <a:avLst/>
          </a:prstGeom>
          <a:ln w="57150">
            <a:solidFill>
              <a:srgbClr val="FFA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533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A2E46-830F-231D-C82B-4C0CEF00A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lang="en" altLang="ko-KR" sz="2000" b="1" dirty="0">
                <a:solidFill>
                  <a:schemeClr val="tx2"/>
                </a:solidFill>
              </a:rPr>
              <a:t>Olist </a:t>
            </a:r>
            <a:r>
              <a:rPr lang="ko-KR" altLang="en-US" sz="2000" b="1" dirty="0">
                <a:solidFill>
                  <a:schemeClr val="tx2"/>
                </a:solidFill>
              </a:rPr>
              <a:t>매출은 평균 고객이 아니라</a:t>
            </a:r>
            <a:r>
              <a:rPr lang="en-US" altLang="ko-KR" sz="2000" b="1" dirty="0">
                <a:solidFill>
                  <a:schemeClr val="tx2"/>
                </a:solidFill>
              </a:rPr>
              <a:t>, </a:t>
            </a:r>
            <a:r>
              <a:rPr lang="ko-KR" altLang="en-US" sz="2000" b="1" dirty="0">
                <a:solidFill>
                  <a:schemeClr val="tx2"/>
                </a:solidFill>
              </a:rPr>
              <a:t>소수 고객의 꼬리</a:t>
            </a:r>
            <a:r>
              <a:rPr lang="en-US" altLang="ko-KR" sz="2000" b="1" dirty="0">
                <a:solidFill>
                  <a:schemeClr val="tx2"/>
                </a:solidFill>
              </a:rPr>
              <a:t>(</a:t>
            </a:r>
            <a:r>
              <a:rPr lang="en" altLang="ko-KR" sz="2000" b="1" dirty="0">
                <a:solidFill>
                  <a:schemeClr val="tx2"/>
                </a:solidFill>
              </a:rPr>
              <a:t>tail)</a:t>
            </a:r>
            <a:r>
              <a:rPr lang="ko-KR" altLang="en-US" sz="2000" b="1" dirty="0" err="1">
                <a:solidFill>
                  <a:schemeClr val="tx2"/>
                </a:solidFill>
              </a:rPr>
              <a:t>에</a:t>
            </a:r>
            <a:r>
              <a:rPr lang="ko-KR" altLang="en-US" sz="2000" b="1" dirty="0">
                <a:solidFill>
                  <a:schemeClr val="tx2"/>
                </a:solidFill>
              </a:rPr>
              <a:t> 의해 만들어진다</a:t>
            </a:r>
            <a:endParaRPr kumimoji="1" lang="ko-KR" altLang="en-US" sz="2000" b="1" dirty="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9B7D90-51E6-A391-3E99-6B4D097CC2FF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3DC90D-A1C8-3524-8279-5254BE443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3E8F221-3D5D-ED94-F13F-F14AD464F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939" y="2457450"/>
            <a:ext cx="6469627" cy="4254949"/>
          </a:xfrm>
          <a:prstGeom prst="rect">
            <a:avLst/>
          </a:prstGeom>
        </p:spPr>
      </p:pic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ECE3069D-BBDC-2546-F415-9F758B8D9725}"/>
              </a:ext>
            </a:extLst>
          </p:cNvPr>
          <p:cNvSpPr/>
          <p:nvPr/>
        </p:nvSpPr>
        <p:spPr>
          <a:xfrm>
            <a:off x="1394460" y="5200228"/>
            <a:ext cx="5929106" cy="979703"/>
          </a:xfrm>
          <a:prstGeom prst="roundRect">
            <a:avLst/>
          </a:prstGeom>
          <a:noFill/>
          <a:ln w="317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A2E147-722B-CEFC-6E9C-04FA43FB3C7A}"/>
              </a:ext>
            </a:extLst>
          </p:cNvPr>
          <p:cNvSpPr txBox="1"/>
          <p:nvPr/>
        </p:nvSpPr>
        <p:spPr>
          <a:xfrm>
            <a:off x="3380088" y="5200228"/>
            <a:ext cx="2407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chemeClr val="accent2"/>
                </a:solidFill>
              </a:rPr>
              <a:t>High</a:t>
            </a:r>
            <a:r>
              <a:rPr kumimoji="1" lang="ko-KR" altLang="en-US" dirty="0">
                <a:solidFill>
                  <a:schemeClr val="accent2"/>
                </a:solidFill>
              </a:rPr>
              <a:t> </a:t>
            </a:r>
            <a:r>
              <a:rPr kumimoji="1" lang="en-US" altLang="ko-KR" dirty="0">
                <a:solidFill>
                  <a:schemeClr val="accent2"/>
                </a:solidFill>
              </a:rPr>
              <a:t>Value</a:t>
            </a:r>
            <a:r>
              <a:rPr kumimoji="1" lang="ko-KR" altLang="en-US" dirty="0">
                <a:solidFill>
                  <a:schemeClr val="accent2"/>
                </a:solidFill>
              </a:rPr>
              <a:t> </a:t>
            </a:r>
            <a:r>
              <a:rPr kumimoji="1" lang="en-US" altLang="ko-KR" dirty="0">
                <a:solidFill>
                  <a:schemeClr val="accent2"/>
                </a:solidFill>
              </a:rPr>
              <a:t>Customer</a:t>
            </a:r>
            <a:endParaRPr kumimoji="1" lang="ko-KR" altLang="en-US" dirty="0">
              <a:solidFill>
                <a:schemeClr val="accent2"/>
              </a:solidFill>
            </a:endParaRPr>
          </a:p>
        </p:txBody>
      </p:sp>
      <p:sp>
        <p:nvSpPr>
          <p:cNvPr id="9" name="오른쪽 화살표[R] 8">
            <a:extLst>
              <a:ext uri="{FF2B5EF4-FFF2-40B4-BE49-F238E27FC236}">
                <a16:creationId xmlns:a16="http://schemas.microsoft.com/office/drawing/2014/main" id="{977CD6CF-2C91-6AF3-0B56-6C02A36E26FD}"/>
              </a:ext>
            </a:extLst>
          </p:cNvPr>
          <p:cNvSpPr/>
          <p:nvPr/>
        </p:nvSpPr>
        <p:spPr>
          <a:xfrm>
            <a:off x="2968879" y="5284893"/>
            <a:ext cx="411209" cy="217669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D5B80F-F1CD-7B33-544B-94EDD8F89436}"/>
              </a:ext>
            </a:extLst>
          </p:cNvPr>
          <p:cNvSpPr txBox="1"/>
          <p:nvPr/>
        </p:nvSpPr>
        <p:spPr>
          <a:xfrm>
            <a:off x="7490460" y="2457450"/>
            <a:ext cx="4593054" cy="3001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u"/>
            </a:pPr>
            <a:r>
              <a:rPr lang="en" altLang="ko-KR" sz="2000" b="1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High Value Customer </a:t>
            </a:r>
            <a:r>
              <a:rPr lang="ko-KR" altLang="en-US" sz="2000" b="1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정의</a:t>
            </a:r>
            <a:endParaRPr lang="ko-KR" altLang="en-US" sz="2000" dirty="0">
              <a:solidFill>
                <a:schemeClr val="tx2"/>
              </a:solidFill>
              <a:effectLst/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b="1" dirty="0">
                <a:solidFill>
                  <a:schemeClr val="tx2"/>
                </a:solidFill>
                <a:effectLst/>
                <a:latin typeface=".AppleSystemUIFont"/>
              </a:rPr>
              <a:t>기준 </a:t>
            </a:r>
            <a:r>
              <a:rPr lang="en-US" altLang="ko-KR" b="1" dirty="0">
                <a:solidFill>
                  <a:schemeClr val="tx2"/>
                </a:solidFill>
                <a:effectLst/>
                <a:latin typeface=".AppleSystemUIFont"/>
              </a:rPr>
              <a:t>: </a:t>
            </a:r>
            <a:r>
              <a:rPr lang="ko-KR" altLang="en-US" b="1" dirty="0">
                <a:solidFill>
                  <a:srgbClr val="4C6B03"/>
                </a:solidFill>
                <a:effectLst/>
                <a:latin typeface=".AppleSystemUIFont"/>
              </a:rPr>
              <a:t>고객별 </a:t>
            </a:r>
            <a:r>
              <a:rPr lang="en" altLang="ko-KR" b="1" dirty="0">
                <a:solidFill>
                  <a:srgbClr val="4C6B03"/>
                </a:solidFill>
                <a:effectLst/>
                <a:latin typeface=".AppleSystemUIFont"/>
              </a:rPr>
              <a:t>LTV </a:t>
            </a:r>
            <a:r>
              <a:rPr lang="ko-KR" altLang="en-US" b="1" dirty="0">
                <a:solidFill>
                  <a:srgbClr val="4C6B03"/>
                </a:solidFill>
                <a:effectLst/>
                <a:latin typeface=".AppleSystemUIFont"/>
              </a:rPr>
              <a:t>상위 </a:t>
            </a:r>
            <a:r>
              <a:rPr lang="en-US" altLang="ko-KR" b="1" dirty="0">
                <a:solidFill>
                  <a:srgbClr val="4C6B03"/>
                </a:solidFill>
                <a:effectLst/>
                <a:latin typeface=".AppleSystemUIFont"/>
              </a:rPr>
              <a:t>5%</a:t>
            </a:r>
            <a:endParaRPr lang="ko-KR" altLang="en-US" b="1" dirty="0">
              <a:solidFill>
                <a:srgbClr val="4C6B03"/>
              </a:solidFill>
              <a:effectLst/>
              <a:latin typeface=".AppleSystemUIFont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ko-KR" altLang="en-US" b="1" dirty="0">
                <a:solidFill>
                  <a:schemeClr val="tx2"/>
                </a:solidFill>
                <a:effectLst/>
                <a:latin typeface=".AppleSystemUIFont"/>
              </a:rPr>
              <a:t>근거 </a:t>
            </a:r>
            <a:r>
              <a:rPr lang="en-US" altLang="ko-KR" b="1" dirty="0">
                <a:solidFill>
                  <a:schemeClr val="tx2"/>
                </a:solidFill>
                <a:effectLst/>
                <a:latin typeface=".AppleSystemUIFont"/>
              </a:rPr>
              <a:t>: </a:t>
            </a:r>
            <a:r>
              <a:rPr lang="ko-KR" altLang="en-US" b="1" dirty="0">
                <a:solidFill>
                  <a:schemeClr val="tx2"/>
                </a:solidFill>
                <a:effectLst/>
                <a:latin typeface=".AppleSystemUIFont"/>
              </a:rPr>
              <a:t> </a:t>
            </a:r>
            <a:r>
              <a:rPr lang="ko-KR" altLang="en-US" b="1" dirty="0">
                <a:solidFill>
                  <a:srgbClr val="4C6B03"/>
                </a:solidFill>
                <a:effectLst/>
                <a:latin typeface=".AppleSystemUIFont"/>
              </a:rPr>
              <a:t>전체 고객의 </a:t>
            </a:r>
            <a:r>
              <a:rPr lang="en-US" altLang="ko-KR" b="1" dirty="0">
                <a:solidFill>
                  <a:srgbClr val="4C6B03"/>
                </a:solidFill>
                <a:effectLst/>
                <a:latin typeface=".AppleSystemUIFont"/>
              </a:rPr>
              <a:t>5%</a:t>
            </a:r>
            <a:r>
              <a:rPr lang="ko-KR" altLang="en-US" b="1" dirty="0">
                <a:solidFill>
                  <a:srgbClr val="4C6B03"/>
                </a:solidFill>
                <a:effectLst/>
                <a:latin typeface=".AppleSystemUIFont"/>
              </a:rPr>
              <a:t>가 </a:t>
            </a:r>
            <a:endParaRPr lang="en-US" altLang="ko-KR" b="1" dirty="0">
              <a:solidFill>
                <a:srgbClr val="4C6B03"/>
              </a:solidFill>
              <a:effectLst/>
              <a:latin typeface=".AppleSystemUIFont"/>
            </a:endParaRPr>
          </a:p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2"/>
                </a:solidFill>
                <a:latin typeface=".AppleSystemUIFont"/>
              </a:rPr>
              <a:t>                  </a:t>
            </a:r>
            <a:r>
              <a:rPr lang="ko-KR" altLang="en-US" b="1" dirty="0">
                <a:solidFill>
                  <a:srgbClr val="4C6B03"/>
                </a:solidFill>
                <a:effectLst/>
                <a:latin typeface=".AppleSystemUIFont"/>
              </a:rPr>
              <a:t>매출의 </a:t>
            </a:r>
            <a:r>
              <a:rPr lang="en-US" altLang="ko-KR" b="1" dirty="0">
                <a:solidFill>
                  <a:srgbClr val="4C6B03"/>
                </a:solidFill>
                <a:effectLst/>
                <a:latin typeface=".AppleSystemUIFont"/>
              </a:rPr>
              <a:t>26.7%</a:t>
            </a:r>
            <a:r>
              <a:rPr lang="ko-KR" altLang="en-US" b="1" dirty="0">
                <a:solidFill>
                  <a:srgbClr val="4C6B03"/>
                </a:solidFill>
                <a:effectLst/>
                <a:latin typeface=".AppleSystemUIFont"/>
              </a:rPr>
              <a:t> 차지</a:t>
            </a:r>
            <a:endParaRPr lang="en-US" altLang="ko-KR" sz="1600" b="1" dirty="0">
              <a:solidFill>
                <a:srgbClr val="4C6B03"/>
              </a:solidFill>
              <a:latin typeface=".AppleSystemUIFont"/>
            </a:endParaRPr>
          </a:p>
          <a:p>
            <a:pPr>
              <a:lnSpc>
                <a:spcPct val="150000"/>
              </a:lnSpc>
            </a:pPr>
            <a:endParaRPr lang="ko-KR" altLang="en-US" sz="1600" b="1" dirty="0">
              <a:solidFill>
                <a:srgbClr val="0E0E0E"/>
              </a:solidFill>
              <a:effectLst/>
              <a:latin typeface=".AppleSystemUIFont"/>
            </a:endParaRPr>
          </a:p>
          <a:p>
            <a:pPr marL="403225" indent="-388938">
              <a:lnSpc>
                <a:spcPct val="150000"/>
              </a:lnSpc>
            </a:pPr>
            <a:r>
              <a:rPr lang="en-US" altLang="ko-KR" sz="2000" dirty="0">
                <a:solidFill>
                  <a:srgbClr val="C00000"/>
                </a:solidFill>
                <a:latin typeface=".AppleSystemUIFont"/>
                <a:sym typeface="Wingdings" pitchFamily="2" charset="2"/>
              </a:rPr>
              <a:t></a:t>
            </a:r>
            <a:r>
              <a:rPr lang="ko-KR" altLang="en-US" sz="2000" dirty="0">
                <a:solidFill>
                  <a:srgbClr val="C00000"/>
                </a:solidFill>
                <a:latin typeface=".AppleSystemUIFont"/>
                <a:sym typeface="Wingdings" pitchFamily="2" charset="2"/>
              </a:rPr>
              <a:t> </a:t>
            </a:r>
            <a:r>
              <a:rPr lang="ko-KR" altLang="en-US" sz="2000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en-US" altLang="ko-KR" sz="2000" dirty="0">
                <a:solidFill>
                  <a:srgbClr val="C00000"/>
                </a:solidFill>
                <a:highlight>
                  <a:srgbClr val="FFFF00"/>
                </a:highlight>
                <a:latin typeface=".AppleSystemUIFont"/>
              </a:rPr>
              <a:t>High Value Customer</a:t>
            </a:r>
            <a:r>
              <a:rPr lang="ko-KR" altLang="en-US" sz="2000" dirty="0">
                <a:solidFill>
                  <a:srgbClr val="C00000"/>
                </a:solidFill>
                <a:highlight>
                  <a:srgbClr val="FFFF00"/>
                </a:highlight>
                <a:latin typeface=".AppleSystemUIFont"/>
              </a:rPr>
              <a:t> </a:t>
            </a:r>
            <a:r>
              <a:rPr lang="en-US" altLang="ko-KR" dirty="0">
                <a:solidFill>
                  <a:srgbClr val="C00000"/>
                </a:solidFill>
                <a:highlight>
                  <a:srgbClr val="FFFF00"/>
                </a:highlight>
                <a:latin typeface=".AppleSystemUIFont"/>
              </a:rPr>
              <a:t>(=</a:t>
            </a:r>
            <a:r>
              <a:rPr lang="ko-KR" altLang="en-US" dirty="0" err="1">
                <a:solidFill>
                  <a:srgbClr val="C00000"/>
                </a:solidFill>
                <a:highlight>
                  <a:srgbClr val="FFFF00"/>
                </a:highlight>
                <a:latin typeface=".AppleSystemUIFont"/>
              </a:rPr>
              <a:t>고가치</a:t>
            </a:r>
            <a:r>
              <a:rPr lang="ko-KR" altLang="en-US" dirty="0">
                <a:solidFill>
                  <a:srgbClr val="C00000"/>
                </a:solidFill>
                <a:highlight>
                  <a:srgbClr val="FFFF00"/>
                </a:highlight>
                <a:latin typeface=".AppleSystemUIFont"/>
              </a:rPr>
              <a:t> </a:t>
            </a:r>
            <a:r>
              <a:rPr lang="ko-KR" altLang="en-US" dirty="0" err="1">
                <a:solidFill>
                  <a:srgbClr val="C00000"/>
                </a:solidFill>
                <a:effectLst/>
                <a:highlight>
                  <a:srgbClr val="FFFF00"/>
                </a:highlight>
                <a:latin typeface=".AppleSystemUIFont"/>
              </a:rPr>
              <a:t>고객군</a:t>
            </a:r>
            <a:r>
              <a:rPr lang="en-US" altLang="ko-KR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.AppleSystemUIFont"/>
              </a:rPr>
              <a:t>)</a:t>
            </a:r>
            <a:r>
              <a:rPr lang="ko-KR" altLang="en-US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.AppleSystemUIFont"/>
              </a:rPr>
              <a:t> 중심으로 이후 분석 진행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E8FF15-E7DC-C478-2D9E-B989BB293ACD}"/>
              </a:ext>
            </a:extLst>
          </p:cNvPr>
          <p:cNvSpPr txBox="1"/>
          <p:nvPr/>
        </p:nvSpPr>
        <p:spPr>
          <a:xfrm>
            <a:off x="1394460" y="1924981"/>
            <a:ext cx="54707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2"/>
                </a:solidFill>
              </a:rPr>
              <a:t>&lt;</a:t>
            </a:r>
            <a:r>
              <a:rPr lang="ko-KR" altLang="en-US" sz="1600" b="1" dirty="0">
                <a:solidFill>
                  <a:schemeClr val="tx2"/>
                </a:solidFill>
              </a:rPr>
              <a:t> 누적 고객 비율 대비 누적 매출 비율 </a:t>
            </a:r>
            <a:r>
              <a:rPr lang="en-US" altLang="ko-KR" sz="1600" b="1" dirty="0">
                <a:solidFill>
                  <a:schemeClr val="tx2"/>
                </a:solidFill>
              </a:rPr>
              <a:t>(</a:t>
            </a:r>
            <a:r>
              <a:rPr lang="en" altLang="ko-KR" sz="1600" b="1" dirty="0">
                <a:solidFill>
                  <a:schemeClr val="tx2"/>
                </a:solidFill>
              </a:rPr>
              <a:t>Pareto Curve)</a:t>
            </a:r>
            <a:r>
              <a:rPr lang="en-US" altLang="ko-KR" sz="1600" b="1" dirty="0">
                <a:solidFill>
                  <a:schemeClr val="tx2"/>
                </a:solidFill>
              </a:rPr>
              <a:t>&gt;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endParaRPr lang="en-US" altLang="ko-KR" sz="16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891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294E95-2F78-7EE2-607B-E206210A59DE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2D8B25-E8F1-D00C-F0B1-D21688BAF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8F82E0CA-CE1E-E791-18F1-A591FBAD9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lang="ko-KR" altLang="en-US" sz="2000" b="1" dirty="0">
                <a:solidFill>
                  <a:schemeClr val="tx2"/>
                </a:solidFill>
              </a:rPr>
              <a:t>어떤 고객 </a:t>
            </a:r>
            <a:r>
              <a:rPr lang="en-US" altLang="ko-KR" sz="2000" b="1" dirty="0">
                <a:solidFill>
                  <a:schemeClr val="tx2"/>
                </a:solidFill>
              </a:rPr>
              <a:t>1%</a:t>
            </a:r>
            <a:r>
              <a:rPr lang="ko-KR" altLang="en-US" sz="2000" b="1" dirty="0" err="1">
                <a:solidFill>
                  <a:schemeClr val="tx2"/>
                </a:solidFill>
              </a:rPr>
              <a:t>를</a:t>
            </a:r>
            <a:r>
              <a:rPr lang="ko-KR" altLang="en-US" sz="2000" b="1" dirty="0">
                <a:solidFill>
                  <a:schemeClr val="tx2"/>
                </a:solidFill>
              </a:rPr>
              <a:t> 늘리느냐가 매출효율을 </a:t>
            </a:r>
            <a:r>
              <a:rPr lang="en-US" altLang="ko-KR" sz="2000" b="1" dirty="0">
                <a:solidFill>
                  <a:schemeClr val="tx2"/>
                </a:solidFill>
              </a:rPr>
              <a:t>5</a:t>
            </a:r>
            <a:r>
              <a:rPr lang="ko-KR" altLang="en-US" sz="2000" b="1" dirty="0">
                <a:solidFill>
                  <a:schemeClr val="tx2"/>
                </a:solidFill>
              </a:rPr>
              <a:t>배 이상 바꾼다 </a:t>
            </a:r>
            <a:endParaRPr kumimoji="1" lang="ko-KR" altLang="en-US" sz="2000" dirty="0">
              <a:solidFill>
                <a:schemeClr val="tx2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4EB0868-ADBF-D133-7AD9-29983310B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2356985"/>
            <a:ext cx="6027386" cy="35580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6A53BC-2747-0779-609C-83DD3E5232BB}"/>
              </a:ext>
            </a:extLst>
          </p:cNvPr>
          <p:cNvSpPr txBox="1"/>
          <p:nvPr/>
        </p:nvSpPr>
        <p:spPr>
          <a:xfrm>
            <a:off x="4143051" y="2574799"/>
            <a:ext cx="27911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7200" dirty="0">
                <a:solidFill>
                  <a:schemeClr val="accent2"/>
                </a:solidFill>
              </a:rPr>
              <a:t>5.35</a:t>
            </a:r>
            <a:r>
              <a:rPr kumimoji="1" lang="ko-KR" altLang="en-US" sz="7200" dirty="0">
                <a:solidFill>
                  <a:schemeClr val="accent2"/>
                </a:solidFill>
              </a:rPr>
              <a:t> </a:t>
            </a:r>
            <a:r>
              <a:rPr kumimoji="1" lang="en-US" altLang="ko-KR" sz="7200" dirty="0">
                <a:solidFill>
                  <a:schemeClr val="accent2"/>
                </a:solidFill>
              </a:rPr>
              <a:t>X</a:t>
            </a:r>
            <a:endParaRPr kumimoji="1" lang="ko-KR" altLang="en-US" sz="7200" dirty="0">
              <a:solidFill>
                <a:schemeClr val="accent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1EAC69-3C7D-6F9C-97C8-1ED4E7AC45CA}"/>
              </a:ext>
            </a:extLst>
          </p:cNvPr>
          <p:cNvSpPr txBox="1"/>
          <p:nvPr/>
        </p:nvSpPr>
        <p:spPr>
          <a:xfrm>
            <a:off x="7481132" y="2356983"/>
            <a:ext cx="4444816" cy="141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고가치 고객 </a:t>
            </a:r>
            <a:r>
              <a:rPr lang="en-US" altLang="ko-KR" sz="2000" b="1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1%</a:t>
            </a:r>
            <a:r>
              <a:rPr lang="ko-KR" altLang="en-US" sz="2000" b="1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는</a:t>
            </a:r>
            <a:endParaRPr lang="en-US" altLang="ko-KR" sz="2000" dirty="0">
              <a:solidFill>
                <a:schemeClr val="tx2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2"/>
                </a:solidFill>
                <a:latin typeface="Helvetica Neue" panose="02000503000000020004" pitchFamily="2" charset="0"/>
              </a:rPr>
              <a:t>전체 고객 평균 대비 </a:t>
            </a:r>
            <a:endParaRPr lang="en-US" altLang="ko-KR" sz="2000" b="1" dirty="0">
              <a:solidFill>
                <a:schemeClr val="tx2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약 </a:t>
            </a:r>
            <a:r>
              <a:rPr lang="en-US" altLang="ko-KR" sz="2000" b="1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5.35</a:t>
            </a:r>
            <a:r>
              <a:rPr lang="ko-KR" altLang="en-US" sz="2000" b="1" dirty="0">
                <a:solidFill>
                  <a:schemeClr val="tx2"/>
                </a:solidFill>
                <a:effectLst/>
                <a:latin typeface="Helvetica Neue" panose="02000503000000020004" pitchFamily="2" charset="0"/>
              </a:rPr>
              <a:t>배 높은 매출 기여도를 보임</a:t>
            </a:r>
            <a:endParaRPr lang="ko-KR" altLang="en-US" sz="2000" dirty="0">
              <a:solidFill>
                <a:schemeClr val="tx2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E8D16B-05D7-DAB9-9131-7B4E9AFF5EA9}"/>
              </a:ext>
            </a:extLst>
          </p:cNvPr>
          <p:cNvSpPr txBox="1"/>
          <p:nvPr/>
        </p:nvSpPr>
        <p:spPr>
          <a:xfrm>
            <a:off x="1095051" y="5904755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200" dirty="0">
              <a:solidFill>
                <a:srgbClr val="4C6B03"/>
              </a:solidFill>
            </a:endParaRPr>
          </a:p>
          <a:p>
            <a:r>
              <a:rPr lang="ko-KR" altLang="en-US" sz="1400" dirty="0">
                <a:solidFill>
                  <a:srgbClr val="4C6B03"/>
                </a:solidFill>
              </a:rPr>
              <a:t>전체 고객 </a:t>
            </a:r>
            <a:r>
              <a:rPr lang="en-US" altLang="ko-KR" sz="1400" dirty="0">
                <a:solidFill>
                  <a:srgbClr val="4C6B03"/>
                </a:solidFill>
              </a:rPr>
              <a:t>= </a:t>
            </a:r>
            <a:r>
              <a:rPr lang="ko-KR" altLang="en-US" sz="1400" dirty="0" err="1">
                <a:solidFill>
                  <a:srgbClr val="4C6B03"/>
                </a:solidFill>
              </a:rPr>
              <a:t>기준값</a:t>
            </a:r>
            <a:r>
              <a:rPr lang="ko-KR" altLang="en-US" sz="1400" dirty="0">
                <a:solidFill>
                  <a:srgbClr val="4C6B03"/>
                </a:solidFill>
              </a:rPr>
              <a:t> </a:t>
            </a:r>
            <a:r>
              <a:rPr lang="en-US" altLang="ko-KR" sz="1400" dirty="0">
                <a:solidFill>
                  <a:srgbClr val="4C6B03"/>
                </a:solidFill>
              </a:rPr>
              <a:t>1.0</a:t>
            </a:r>
          </a:p>
          <a:p>
            <a:r>
              <a:rPr lang="en" altLang="ko-KR" sz="1400" dirty="0">
                <a:solidFill>
                  <a:srgbClr val="4C6B03"/>
                </a:solidFill>
              </a:rPr>
              <a:t>Top 5% </a:t>
            </a:r>
            <a:r>
              <a:rPr lang="ko-KR" altLang="en-US" sz="1400" dirty="0">
                <a:solidFill>
                  <a:srgbClr val="4C6B03"/>
                </a:solidFill>
              </a:rPr>
              <a:t>고객 매출 비중</a:t>
            </a:r>
            <a:r>
              <a:rPr lang="en-US" altLang="ko-KR" sz="1400" dirty="0">
                <a:solidFill>
                  <a:srgbClr val="4C6B03"/>
                </a:solidFill>
              </a:rPr>
              <a:t>(26.73%) ÷ </a:t>
            </a:r>
            <a:r>
              <a:rPr lang="ko-KR" altLang="en-US" sz="1400" dirty="0">
                <a:solidFill>
                  <a:srgbClr val="4C6B03"/>
                </a:solidFill>
              </a:rPr>
              <a:t>고객 비중</a:t>
            </a:r>
            <a:r>
              <a:rPr lang="en-US" altLang="ko-KR" sz="1400" dirty="0">
                <a:solidFill>
                  <a:srgbClr val="4C6B03"/>
                </a:solidFill>
              </a:rPr>
              <a:t>(5%)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3E3989-C0E2-F3BF-1E03-74B5EA4370EB}"/>
              </a:ext>
            </a:extLst>
          </p:cNvPr>
          <p:cNvSpPr txBox="1"/>
          <p:nvPr/>
        </p:nvSpPr>
        <p:spPr>
          <a:xfrm>
            <a:off x="7402349" y="4115765"/>
            <a:ext cx="4602381" cy="1331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tx2"/>
                </a:solidFill>
                <a:latin typeface=".AppleSystemUIFont"/>
              </a:rPr>
              <a:t>✅  </a:t>
            </a:r>
            <a:r>
              <a:rPr lang="ko-KR" altLang="en-US" sz="2000" b="1" dirty="0">
                <a:solidFill>
                  <a:schemeClr val="tx2"/>
                </a:solidFill>
              </a:rPr>
              <a:t>핵심 질문 도출</a:t>
            </a:r>
            <a:endParaRPr lang="ko-KR" altLang="en-US" sz="2000" dirty="0">
              <a:solidFill>
                <a:schemeClr val="tx2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à"/>
            </a:pPr>
            <a:r>
              <a:rPr lang="ko-KR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우리가 늘려야 할  </a:t>
            </a:r>
            <a:r>
              <a:rPr lang="en-US" altLang="ko-KR" dirty="0">
                <a:solidFill>
                  <a:srgbClr val="C00000"/>
                </a:solidFill>
                <a:highlight>
                  <a:srgbClr val="FFFF00"/>
                </a:highlight>
              </a:rPr>
              <a:t>1%</a:t>
            </a:r>
            <a:r>
              <a:rPr lang="ko-KR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의 </a:t>
            </a:r>
            <a:r>
              <a:rPr lang="ko-KR" altLang="en-US" dirty="0" err="1">
                <a:solidFill>
                  <a:srgbClr val="C00000"/>
                </a:solidFill>
                <a:highlight>
                  <a:srgbClr val="FFFF00"/>
                </a:highlight>
              </a:rPr>
              <a:t>고가치</a:t>
            </a:r>
            <a:r>
              <a:rPr lang="ko-KR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 고객은 과연 어떤 사람들인가</a:t>
            </a:r>
            <a:r>
              <a:rPr lang="en-US" altLang="ko-KR" dirty="0">
                <a:solidFill>
                  <a:srgbClr val="C00000"/>
                </a:solidFill>
                <a:highlight>
                  <a:srgbClr val="FFFF00"/>
                </a:highlight>
              </a:rPr>
              <a:t>?</a:t>
            </a:r>
            <a:r>
              <a:rPr lang="ko-KR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   </a:t>
            </a:r>
          </a:p>
        </p:txBody>
      </p: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FB70D351-DD8B-C0E8-391B-DC0D576FF693}"/>
              </a:ext>
            </a:extLst>
          </p:cNvPr>
          <p:cNvCxnSpPr>
            <a:cxnSpLocks/>
          </p:cNvCxnSpPr>
          <p:nvPr/>
        </p:nvCxnSpPr>
        <p:spPr>
          <a:xfrm>
            <a:off x="968827" y="6045200"/>
            <a:ext cx="0" cy="567441"/>
          </a:xfrm>
          <a:prstGeom prst="line">
            <a:avLst/>
          </a:prstGeom>
          <a:ln w="38100">
            <a:solidFill>
              <a:srgbClr val="4C6B0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5636BE9-5DC2-3CE4-14F5-750A4250274B}"/>
              </a:ext>
            </a:extLst>
          </p:cNvPr>
          <p:cNvSpPr txBox="1"/>
          <p:nvPr/>
        </p:nvSpPr>
        <p:spPr>
          <a:xfrm>
            <a:off x="858747" y="1861332"/>
            <a:ext cx="64254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2"/>
                </a:solidFill>
              </a:rPr>
              <a:t>&lt;</a:t>
            </a:r>
            <a:r>
              <a:rPr lang="ko-KR" altLang="en-US" sz="1600" b="1" dirty="0">
                <a:solidFill>
                  <a:schemeClr val="tx2"/>
                </a:solidFill>
              </a:rPr>
              <a:t> 고객 </a:t>
            </a:r>
            <a:r>
              <a:rPr lang="en-US" altLang="ko-KR" sz="1600" b="1" dirty="0">
                <a:solidFill>
                  <a:schemeClr val="tx2"/>
                </a:solidFill>
              </a:rPr>
              <a:t>1%</a:t>
            </a:r>
            <a:r>
              <a:rPr lang="ko-KR" altLang="en-US" sz="1600" b="1" dirty="0">
                <a:solidFill>
                  <a:schemeClr val="tx2"/>
                </a:solidFill>
              </a:rPr>
              <a:t> 증가 시 매출 기여도 비교 </a:t>
            </a:r>
            <a:r>
              <a:rPr lang="en-US" altLang="ko-KR" sz="1600" b="1" dirty="0">
                <a:solidFill>
                  <a:schemeClr val="tx2"/>
                </a:solidFill>
              </a:rPr>
              <a:t>(Top 5% </a:t>
            </a:r>
            <a:r>
              <a:rPr lang="ko-KR" altLang="en-US" sz="1600" b="1" dirty="0">
                <a:solidFill>
                  <a:schemeClr val="tx2"/>
                </a:solidFill>
              </a:rPr>
              <a:t>고객 </a:t>
            </a:r>
            <a:r>
              <a:rPr lang="en-US" altLang="ko-KR" sz="1600" b="1" dirty="0">
                <a:solidFill>
                  <a:schemeClr val="tx2"/>
                </a:solidFill>
              </a:rPr>
              <a:t>vs. </a:t>
            </a:r>
            <a:r>
              <a:rPr lang="ko-KR" altLang="en-US" sz="1600" b="1" dirty="0">
                <a:solidFill>
                  <a:schemeClr val="tx2"/>
                </a:solidFill>
              </a:rPr>
              <a:t>전체 고객</a:t>
            </a:r>
            <a:r>
              <a:rPr lang="en-US" altLang="ko-KR" sz="1600" b="1" dirty="0">
                <a:solidFill>
                  <a:schemeClr val="tx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55159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DF886-4DA7-CC24-273A-7A1F09542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B68241-6E02-E7BA-D43D-C32B0188D366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BA500C-FBF3-7C36-0764-DFCFD05FF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9F15DA0E-3E77-3814-4BAE-2425C29C3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lang="ko-KR" altLang="en-US" sz="2000" b="1" dirty="0">
                <a:solidFill>
                  <a:schemeClr val="tx2"/>
                </a:solidFill>
              </a:rPr>
              <a:t>고가치 고객은 첫 구매부터 </a:t>
            </a:r>
            <a:r>
              <a:rPr lang="en-US" altLang="ko-KR" sz="2000" b="1" dirty="0">
                <a:solidFill>
                  <a:schemeClr val="tx2"/>
                </a:solidFill>
              </a:rPr>
              <a:t>‘</a:t>
            </a:r>
            <a:r>
              <a:rPr lang="ko-KR" altLang="en-US" sz="2000" b="1" dirty="0">
                <a:solidFill>
                  <a:schemeClr val="tx2"/>
                </a:solidFill>
              </a:rPr>
              <a:t>가치소비 성향</a:t>
            </a:r>
            <a:r>
              <a:rPr lang="en-US" altLang="ko-KR" sz="2000" b="1" dirty="0">
                <a:solidFill>
                  <a:schemeClr val="tx2"/>
                </a:solidFill>
              </a:rPr>
              <a:t>’</a:t>
            </a:r>
            <a:r>
              <a:rPr lang="ko-KR" altLang="en-US" sz="2000" b="1" dirty="0">
                <a:solidFill>
                  <a:schemeClr val="tx2"/>
                </a:solidFill>
              </a:rPr>
              <a:t>이 다르다</a:t>
            </a:r>
            <a:endParaRPr kumimoji="1" lang="ko-KR" altLang="en-US" sz="2000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A68A5D-E391-2127-35E7-210F9F456BF5}"/>
              </a:ext>
            </a:extLst>
          </p:cNvPr>
          <p:cNvSpPr txBox="1"/>
          <p:nvPr/>
        </p:nvSpPr>
        <p:spPr>
          <a:xfrm>
            <a:off x="694282" y="1690688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400" b="1" dirty="0">
              <a:solidFill>
                <a:schemeClr val="tx2"/>
              </a:solidFill>
            </a:endParaRPr>
          </a:p>
          <a:p>
            <a:r>
              <a:rPr lang="en-US" altLang="ko-KR" sz="1600" b="1" dirty="0">
                <a:solidFill>
                  <a:schemeClr val="tx2"/>
                </a:solidFill>
              </a:rPr>
              <a:t>&lt;</a:t>
            </a:r>
            <a:r>
              <a:rPr lang="ko-KR" altLang="en-US" sz="1600" b="1" dirty="0">
                <a:solidFill>
                  <a:schemeClr val="tx2"/>
                </a:solidFill>
              </a:rPr>
              <a:t> 고가치 고객의 첫 구매 카테고리 비교 </a:t>
            </a:r>
            <a:r>
              <a:rPr lang="en-US" altLang="ko-KR" sz="1600" b="1" dirty="0">
                <a:solidFill>
                  <a:schemeClr val="tx2"/>
                </a:solidFill>
              </a:rPr>
              <a:t>(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r>
              <a:rPr lang="en-US" altLang="ko-KR" sz="1600" b="1" dirty="0">
                <a:solidFill>
                  <a:schemeClr val="tx2"/>
                </a:solidFill>
              </a:rPr>
              <a:t>vs. </a:t>
            </a:r>
            <a:r>
              <a:rPr lang="ko-KR" altLang="en-US" sz="1600" b="1" dirty="0">
                <a:solidFill>
                  <a:schemeClr val="tx2"/>
                </a:solidFill>
              </a:rPr>
              <a:t>하위 </a:t>
            </a:r>
            <a:r>
              <a:rPr lang="en-US" altLang="ko-KR" sz="1600" b="1" dirty="0">
                <a:solidFill>
                  <a:schemeClr val="tx2"/>
                </a:solidFill>
              </a:rPr>
              <a:t>95%)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r>
              <a:rPr lang="en-US" altLang="ko-KR" sz="1600" b="1" dirty="0">
                <a:solidFill>
                  <a:schemeClr val="tx2"/>
                </a:solidFill>
              </a:rPr>
              <a:t>&gt;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endParaRPr lang="en-US" altLang="ko-KR" sz="1600" b="1" dirty="0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E3F3E7-AD41-1A92-F927-BFA2C5150915}"/>
              </a:ext>
            </a:extLst>
          </p:cNvPr>
          <p:cNvSpPr txBox="1"/>
          <p:nvPr/>
        </p:nvSpPr>
        <p:spPr>
          <a:xfrm>
            <a:off x="6253508" y="5635653"/>
            <a:ext cx="5778788" cy="785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2"/>
                </a:solidFill>
                <a:latin typeface=".AppleSystemUIFont"/>
              </a:rPr>
              <a:t>✅  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r>
              <a:rPr lang="ko-KR" altLang="en-US" sz="1600" b="1" dirty="0" err="1">
                <a:solidFill>
                  <a:schemeClr val="tx2"/>
                </a:solidFill>
              </a:rPr>
              <a:t>선물성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r>
              <a:rPr lang="en-US" altLang="ko-KR" sz="1600" b="1" dirty="0">
                <a:solidFill>
                  <a:schemeClr val="tx2"/>
                </a:solidFill>
              </a:rPr>
              <a:t>•</a:t>
            </a:r>
            <a:r>
              <a:rPr lang="ko-KR" altLang="en-US" sz="1600" b="1" dirty="0">
                <a:solidFill>
                  <a:schemeClr val="tx2"/>
                </a:solidFill>
              </a:rPr>
              <a:t> </a:t>
            </a:r>
            <a:r>
              <a:rPr lang="ko-KR" altLang="en-US" sz="1600" b="1" dirty="0" err="1">
                <a:solidFill>
                  <a:schemeClr val="tx2"/>
                </a:solidFill>
              </a:rPr>
              <a:t>취향성</a:t>
            </a:r>
            <a:r>
              <a:rPr lang="en-US" altLang="ko-KR" sz="1600" b="1" dirty="0">
                <a:solidFill>
                  <a:schemeClr val="tx2"/>
                </a:solidFill>
              </a:rPr>
              <a:t> •</a:t>
            </a:r>
            <a:r>
              <a:rPr lang="ko-KR" altLang="en-US" sz="1600" b="1" dirty="0">
                <a:solidFill>
                  <a:schemeClr val="tx2"/>
                </a:solidFill>
              </a:rPr>
              <a:t> 상대적으로 단가 높은 </a:t>
            </a:r>
            <a:r>
              <a:rPr lang="ko-KR" altLang="en-US" sz="1600" b="1" dirty="0" err="1">
                <a:solidFill>
                  <a:schemeClr val="tx2"/>
                </a:solidFill>
              </a:rPr>
              <a:t>상품군</a:t>
            </a:r>
            <a:endParaRPr lang="en-US" altLang="ko-KR" sz="1600" b="1" dirty="0">
              <a:solidFill>
                <a:schemeClr val="tx2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600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</a:t>
            </a:r>
            <a:r>
              <a:rPr lang="ko-KR" altLang="en-US" sz="1600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 고가치 고객 그룹의 차별화된 가치소비 성향을 시사</a:t>
            </a:r>
            <a:endParaRPr lang="ko-KR" altLang="en-US" sz="16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9DF0634-427B-3BA2-0089-1E6CB3C33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939" y="2440181"/>
            <a:ext cx="5242061" cy="4110463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5E781F0-FA88-7A41-3A23-663D76FBF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73110"/>
              </p:ext>
            </p:extLst>
          </p:nvPr>
        </p:nvGraphicFramePr>
        <p:xfrm>
          <a:off x="6335236" y="2440181"/>
          <a:ext cx="5160333" cy="29616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51175">
                  <a:extLst>
                    <a:ext uri="{9D8B030D-6E8A-4147-A177-3AD203B41FA5}">
                      <a16:colId xmlns:a16="http://schemas.microsoft.com/office/drawing/2014/main" val="3753855556"/>
                    </a:ext>
                  </a:extLst>
                </a:gridCol>
                <a:gridCol w="2169042">
                  <a:extLst>
                    <a:ext uri="{9D8B030D-6E8A-4147-A177-3AD203B41FA5}">
                      <a16:colId xmlns:a16="http://schemas.microsoft.com/office/drawing/2014/main" val="4253230068"/>
                    </a:ext>
                  </a:extLst>
                </a:gridCol>
                <a:gridCol w="2640116">
                  <a:extLst>
                    <a:ext uri="{9D8B030D-6E8A-4147-A177-3AD203B41FA5}">
                      <a16:colId xmlns:a16="http://schemas.microsoft.com/office/drawing/2014/main" val="2516516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카테고리명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 대표 상품 예시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54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ko-KR" altLang="en-US" sz="1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b="0" dirty="0" err="1">
                          <a:solidFill>
                            <a:schemeClr val="tx2"/>
                          </a:solidFill>
                        </a:rPr>
                        <a:t>relogios_presentes</a:t>
                      </a:r>
                      <a:endParaRPr lang="en" altLang="ko-KR" sz="1400" b="0" dirty="0">
                        <a:solidFill>
                          <a:schemeClr val="tx2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chemeClr val="tx2"/>
                          </a:solidFill>
                        </a:rPr>
                        <a:t> 시계</a:t>
                      </a:r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·</a:t>
                      </a:r>
                      <a:r>
                        <a:rPr lang="ko-KR" altLang="en-US" sz="1400" b="1" dirty="0">
                          <a:solidFill>
                            <a:schemeClr val="tx2"/>
                          </a:solidFill>
                        </a:rPr>
                        <a:t>선물용 </a:t>
                      </a:r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손목시계</a:t>
                      </a:r>
                      <a:r>
                        <a:rPr lang="en-US" altLang="ko-KR" sz="1400" b="0" dirty="0">
                          <a:solidFill>
                            <a:srgbClr val="4C6B03"/>
                          </a:solidFill>
                        </a:rPr>
                        <a:t>,</a:t>
                      </a: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 선물용 액세서리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9926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ko-KR" altLang="en-US" sz="1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b="0" dirty="0" err="1">
                          <a:solidFill>
                            <a:schemeClr val="tx2"/>
                          </a:solidFill>
                        </a:rPr>
                        <a:t>beleza_saude</a:t>
                      </a:r>
                      <a:endParaRPr lang="en" altLang="ko-KR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chemeClr val="tx2"/>
                          </a:solidFill>
                        </a:rPr>
                        <a:t> 미용</a:t>
                      </a:r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·</a:t>
                      </a:r>
                      <a:r>
                        <a:rPr lang="ko-KR" altLang="en-US" sz="1400" b="1" dirty="0">
                          <a:solidFill>
                            <a:schemeClr val="tx2"/>
                          </a:solidFill>
                        </a:rPr>
                        <a:t>건강 </a:t>
                      </a:r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en" altLang="ko-KR" sz="1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화장품</a:t>
                      </a:r>
                      <a:r>
                        <a:rPr lang="en-US" altLang="ko-KR" sz="1400" b="0" dirty="0">
                          <a:solidFill>
                            <a:srgbClr val="4C6B03"/>
                          </a:solidFill>
                        </a:rPr>
                        <a:t>,</a:t>
                      </a: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 향수</a:t>
                      </a:r>
                      <a:r>
                        <a:rPr lang="en-US" altLang="ko-KR" sz="1400" b="0" dirty="0">
                          <a:solidFill>
                            <a:srgbClr val="4C6B03"/>
                          </a:solidFill>
                        </a:rPr>
                        <a:t>,</a:t>
                      </a: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 미용기기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2157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ko-KR" altLang="en-US" sz="1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b="0" dirty="0" err="1">
                          <a:solidFill>
                            <a:schemeClr val="tx2"/>
                          </a:solidFill>
                        </a:rPr>
                        <a:t>informatica_acessorios</a:t>
                      </a:r>
                      <a:endParaRPr lang="en" altLang="ko-KR" sz="1400" b="0" dirty="0">
                        <a:solidFill>
                          <a:schemeClr val="tx2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chemeClr val="tx2"/>
                          </a:solidFill>
                        </a:rPr>
                        <a:t>컴퓨터</a:t>
                      </a:r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·</a:t>
                      </a:r>
                      <a:r>
                        <a:rPr lang="en" altLang="ko-KR" sz="1400" b="1" dirty="0">
                          <a:solidFill>
                            <a:schemeClr val="tx2"/>
                          </a:solidFill>
                        </a:rPr>
                        <a:t>IT </a:t>
                      </a:r>
                      <a:r>
                        <a:rPr lang="ko-KR" altLang="en-US" sz="1400" b="1" dirty="0">
                          <a:solidFill>
                            <a:schemeClr val="tx2"/>
                          </a:solidFill>
                        </a:rPr>
                        <a:t>주변기기</a:t>
                      </a:r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키보드</a:t>
                      </a:r>
                      <a:r>
                        <a:rPr lang="en-US" altLang="ko-KR" sz="1400" b="0" dirty="0">
                          <a:solidFill>
                            <a:srgbClr val="4C6B03"/>
                          </a:solidFill>
                        </a:rPr>
                        <a:t>,</a:t>
                      </a: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 마우스</a:t>
                      </a:r>
                      <a:r>
                        <a:rPr lang="en-US" altLang="ko-KR" sz="1400" b="0" dirty="0">
                          <a:solidFill>
                            <a:srgbClr val="4C6B03"/>
                          </a:solidFill>
                        </a:rPr>
                        <a:t>,</a:t>
                      </a: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 이어폰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5591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4</a:t>
                      </a:r>
                      <a:endParaRPr lang="ko-KR" altLang="en-US" sz="1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b="0" dirty="0" err="1">
                          <a:solidFill>
                            <a:schemeClr val="tx2"/>
                          </a:solidFill>
                        </a:rPr>
                        <a:t>cool_stuff</a:t>
                      </a:r>
                      <a:endParaRPr lang="en" altLang="ko-KR" sz="1400" b="0" dirty="0">
                        <a:solidFill>
                          <a:schemeClr val="tx2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chemeClr val="tx2"/>
                          </a:solidFill>
                        </a:rPr>
                        <a:t>라이프스타일</a:t>
                      </a:r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/</a:t>
                      </a:r>
                      <a:r>
                        <a:rPr lang="ko-KR" altLang="en-US" sz="1400" b="1" dirty="0">
                          <a:solidFill>
                            <a:schemeClr val="tx2"/>
                          </a:solidFill>
                        </a:rPr>
                        <a:t>취향 상품</a:t>
                      </a:r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 err="1">
                          <a:solidFill>
                            <a:srgbClr val="4C6B03"/>
                          </a:solidFill>
                        </a:rPr>
                        <a:t>굿즈</a:t>
                      </a:r>
                      <a:r>
                        <a:rPr lang="en-US" altLang="ko-KR" sz="1400" b="0" dirty="0">
                          <a:solidFill>
                            <a:srgbClr val="4C6B03"/>
                          </a:solidFill>
                        </a:rPr>
                        <a:t>,</a:t>
                      </a: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 인테리어 아이템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2429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5</a:t>
                      </a:r>
                      <a:endParaRPr lang="ko-KR" altLang="en-US" sz="1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b="0" dirty="0" err="1">
                          <a:solidFill>
                            <a:schemeClr val="tx2"/>
                          </a:solidFill>
                        </a:rPr>
                        <a:t>automotivo</a:t>
                      </a:r>
                      <a:endParaRPr lang="en" altLang="ko-KR" sz="1400" b="0" dirty="0">
                        <a:solidFill>
                          <a:schemeClr val="tx2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chemeClr val="tx2"/>
                          </a:solidFill>
                        </a:rPr>
                        <a:t>자동차 용품</a:t>
                      </a:r>
                      <a:r>
                        <a:rPr lang="en-US" altLang="ko-KR" sz="1400" b="1" dirty="0">
                          <a:solidFill>
                            <a:schemeClr val="tx2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차량 용품</a:t>
                      </a:r>
                      <a:r>
                        <a:rPr lang="en-US" altLang="ko-KR" sz="1400" b="0" dirty="0">
                          <a:solidFill>
                            <a:srgbClr val="4C6B03"/>
                          </a:solidFill>
                        </a:rPr>
                        <a:t>,</a:t>
                      </a: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 차량 액세서리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551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783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B36D6-3458-9F28-304C-B63C72560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93F343-9F29-3F96-C61B-FAEB98269727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7C1AE9-8808-F604-6D5B-F488E295D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94011F56-F639-BB72-B0E3-4E5F2231E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kumimoji="1" lang="ko-KR" altLang="en-US" sz="2000" b="1" dirty="0">
                <a:solidFill>
                  <a:schemeClr val="tx2"/>
                </a:solidFill>
              </a:rPr>
              <a:t>고가치 고객은 첫 구매부터 가격 허용도가 다르다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.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 </a:t>
            </a:r>
            <a:endParaRPr kumimoji="1" lang="ko-KR" altLang="en-US" sz="2000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7CB6AA-5B7F-4401-5D73-C179572F03AE}"/>
              </a:ext>
            </a:extLst>
          </p:cNvPr>
          <p:cNvSpPr txBox="1"/>
          <p:nvPr/>
        </p:nvSpPr>
        <p:spPr>
          <a:xfrm>
            <a:off x="612083" y="2034331"/>
            <a:ext cx="7600949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2"/>
                </a:solidFill>
              </a:rPr>
              <a:t>&lt;</a:t>
            </a:r>
            <a:r>
              <a:rPr lang="ko-KR" altLang="en-US" sz="1600" b="1" dirty="0">
                <a:solidFill>
                  <a:schemeClr val="tx2"/>
                </a:solidFill>
              </a:rPr>
              <a:t> 첫 구매 주문에 포함된 개별 상품 단가 분포 비교 </a:t>
            </a:r>
            <a:r>
              <a:rPr lang="ko-KR" altLang="en-US" sz="1600" dirty="0">
                <a:solidFill>
                  <a:schemeClr val="tx2"/>
                </a:solidFill>
              </a:rPr>
              <a:t> </a:t>
            </a:r>
            <a:r>
              <a:rPr lang="en-US" altLang="ko-KR" sz="1600" b="1" dirty="0">
                <a:solidFill>
                  <a:schemeClr val="tx2"/>
                </a:solidFill>
              </a:rPr>
              <a:t>&gt;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33822D0-BC1C-373A-626E-0C12F813A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709" y="2481943"/>
            <a:ext cx="6225698" cy="39265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1A7F97-7F4C-5D79-29A3-B1746954F698}"/>
              </a:ext>
            </a:extLst>
          </p:cNvPr>
          <p:cNvSpPr txBox="1"/>
          <p:nvPr/>
        </p:nvSpPr>
        <p:spPr>
          <a:xfrm>
            <a:off x="7830207" y="3032915"/>
            <a:ext cx="4253307" cy="2375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u"/>
            </a:pPr>
            <a:r>
              <a:rPr lang="ko-KR" altLang="en-US" b="1" dirty="0">
                <a:solidFill>
                  <a:schemeClr val="tx2"/>
                </a:solidFill>
              </a:rPr>
              <a:t>첫 구매 상품 단가 중앙값</a:t>
            </a:r>
            <a:r>
              <a:rPr lang="en-US" altLang="ko-KR" b="1" dirty="0">
                <a:solidFill>
                  <a:schemeClr val="tx2"/>
                </a:solidFill>
              </a:rPr>
              <a:t> (Median)</a:t>
            </a:r>
            <a:endParaRPr lang="ko-KR" altLang="en-US" b="1" dirty="0">
              <a:solidFill>
                <a:schemeClr val="tx2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" altLang="ko-KR" b="1" dirty="0">
                <a:solidFill>
                  <a:srgbClr val="4C6B03"/>
                </a:solidFill>
              </a:rPr>
              <a:t>High Value </a:t>
            </a:r>
            <a:r>
              <a:rPr lang="ko-KR" altLang="en-US" b="1" dirty="0">
                <a:solidFill>
                  <a:srgbClr val="4C6B03"/>
                </a:solidFill>
              </a:rPr>
              <a:t>고객 </a:t>
            </a:r>
            <a:r>
              <a:rPr lang="en-US" altLang="ko-KR" b="1" dirty="0">
                <a:solidFill>
                  <a:srgbClr val="4C6B03"/>
                </a:solidFill>
              </a:rPr>
              <a:t>: 455.9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" altLang="ko-KR" b="1" dirty="0">
                <a:solidFill>
                  <a:srgbClr val="4C6B03"/>
                </a:solidFill>
              </a:rPr>
              <a:t>Normal </a:t>
            </a:r>
            <a:r>
              <a:rPr lang="ko-KR" altLang="en-US" b="1" dirty="0">
                <a:solidFill>
                  <a:srgbClr val="4C6B03"/>
                </a:solidFill>
              </a:rPr>
              <a:t>고객     </a:t>
            </a:r>
            <a:r>
              <a:rPr lang="en-US" altLang="ko-KR" b="1" dirty="0">
                <a:solidFill>
                  <a:srgbClr val="4C6B03"/>
                </a:solidFill>
              </a:rPr>
              <a:t>: 69.9</a:t>
            </a:r>
          </a:p>
          <a:p>
            <a:pPr>
              <a:lnSpc>
                <a:spcPct val="200000"/>
              </a:lnSpc>
              <a:buNone/>
            </a:pPr>
            <a:r>
              <a:rPr lang="en-US" altLang="ko-KR" sz="2400" b="1" dirty="0">
                <a:solidFill>
                  <a:srgbClr val="C00000"/>
                </a:solidFill>
                <a:highlight>
                  <a:srgbClr val="FFFF00"/>
                </a:highlight>
              </a:rPr>
              <a:t>→ </a:t>
            </a:r>
            <a:r>
              <a:rPr lang="ko-KR" altLang="en-US" sz="2400" b="1" dirty="0">
                <a:solidFill>
                  <a:srgbClr val="C00000"/>
                </a:solidFill>
                <a:highlight>
                  <a:srgbClr val="FFFF00"/>
                </a:highlight>
              </a:rPr>
              <a:t>약 </a:t>
            </a:r>
            <a:r>
              <a:rPr lang="en-US" altLang="ko-KR" sz="2400" b="1" dirty="0">
                <a:solidFill>
                  <a:srgbClr val="C00000"/>
                </a:solidFill>
                <a:highlight>
                  <a:srgbClr val="FFFF00"/>
                </a:highlight>
              </a:rPr>
              <a:t>6.5</a:t>
            </a:r>
            <a:r>
              <a:rPr lang="ko-KR" altLang="en-US" sz="2400" b="1" dirty="0">
                <a:solidFill>
                  <a:srgbClr val="C00000"/>
                </a:solidFill>
                <a:highlight>
                  <a:srgbClr val="FFFF00"/>
                </a:highlight>
              </a:rPr>
              <a:t>배 차이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580BD8-14D8-86FD-C320-C784CB18D414}"/>
              </a:ext>
            </a:extLst>
          </p:cNvPr>
          <p:cNvSpPr txBox="1"/>
          <p:nvPr/>
        </p:nvSpPr>
        <p:spPr>
          <a:xfrm>
            <a:off x="4659085" y="2932207"/>
            <a:ext cx="2708023" cy="5674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/>
              <a:t> </a:t>
            </a:r>
            <a:r>
              <a:rPr lang="en" altLang="ko-KR" sz="1100" b="1" dirty="0">
                <a:solidFill>
                  <a:srgbClr val="4C6B03"/>
                </a:solidFill>
              </a:rPr>
              <a:t>High Value</a:t>
            </a:r>
            <a:r>
              <a:rPr lang="en-US" altLang="ko-KR" sz="1100" dirty="0">
                <a:solidFill>
                  <a:srgbClr val="4C6B03"/>
                </a:solidFill>
              </a:rPr>
              <a:t>: </a:t>
            </a:r>
            <a:r>
              <a:rPr lang="en" altLang="ko-KR" sz="1100" b="1" dirty="0">
                <a:solidFill>
                  <a:srgbClr val="0070C0"/>
                </a:solidFill>
              </a:rPr>
              <a:t>LTV </a:t>
            </a:r>
            <a:r>
              <a:rPr lang="ko-KR" altLang="en-US" sz="1100" b="1" dirty="0">
                <a:solidFill>
                  <a:srgbClr val="0070C0"/>
                </a:solidFill>
              </a:rPr>
              <a:t>기준 상위 </a:t>
            </a:r>
            <a:r>
              <a:rPr lang="en-US" altLang="ko-KR" sz="1100" b="1" dirty="0">
                <a:solidFill>
                  <a:srgbClr val="0070C0"/>
                </a:solidFill>
              </a:rPr>
              <a:t>5%</a:t>
            </a:r>
            <a:r>
              <a:rPr lang="ko-KR" altLang="en-US" sz="1100" b="1" dirty="0">
                <a:solidFill>
                  <a:srgbClr val="0070C0"/>
                </a:solidFill>
              </a:rPr>
              <a:t> 고객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>
                <a:solidFill>
                  <a:srgbClr val="4C6B03"/>
                </a:solidFill>
              </a:rPr>
              <a:t> </a:t>
            </a:r>
            <a:r>
              <a:rPr lang="en" altLang="ko-KR" sz="1100" b="1" dirty="0">
                <a:solidFill>
                  <a:srgbClr val="4C6B03"/>
                </a:solidFill>
              </a:rPr>
              <a:t>Normal</a:t>
            </a:r>
            <a:r>
              <a:rPr lang="en-US" altLang="ko-KR" sz="1100" dirty="0">
                <a:solidFill>
                  <a:srgbClr val="4C6B03"/>
                </a:solidFill>
              </a:rPr>
              <a:t>: </a:t>
            </a:r>
            <a:r>
              <a:rPr lang="en" altLang="ko-KR" sz="1100" b="1" dirty="0">
                <a:solidFill>
                  <a:srgbClr val="0070C0"/>
                </a:solidFill>
              </a:rPr>
              <a:t>LTV </a:t>
            </a:r>
            <a:r>
              <a:rPr lang="ko-KR" altLang="en-US" sz="1100" b="1" dirty="0">
                <a:solidFill>
                  <a:srgbClr val="0070C0"/>
                </a:solidFill>
              </a:rPr>
              <a:t>기준 하위 </a:t>
            </a:r>
            <a:r>
              <a:rPr lang="en-US" altLang="ko-KR" sz="1100" b="1" dirty="0">
                <a:solidFill>
                  <a:srgbClr val="0070C0"/>
                </a:solidFill>
              </a:rPr>
              <a:t>95%</a:t>
            </a:r>
            <a:r>
              <a:rPr lang="ko-KR" altLang="en-US" sz="1100" b="1" dirty="0">
                <a:solidFill>
                  <a:srgbClr val="0070C0"/>
                </a:solidFill>
              </a:rPr>
              <a:t> 고객</a:t>
            </a:r>
          </a:p>
        </p:txBody>
      </p:sp>
    </p:spTree>
    <p:extLst>
      <p:ext uri="{BB962C8B-B14F-4D97-AF65-F5344CB8AC3E}">
        <p14:creationId xmlns:p14="http://schemas.microsoft.com/office/powerpoint/2010/main" val="3246663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E609AF-F4CF-6114-37A7-BF01CF23303A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61A6D3-B730-0C81-34B0-707E15318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FA80CB6-E859-1547-6023-32B8AFE4D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2508354"/>
            <a:ext cx="5811521" cy="38633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C2E9628-0085-F498-FF3F-E623F6A1C9B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11" t="6953" r="23011" b="3276"/>
          <a:stretch>
            <a:fillRect/>
          </a:stretch>
        </p:blipFill>
        <p:spPr>
          <a:xfrm>
            <a:off x="6470554" y="2508354"/>
            <a:ext cx="4719415" cy="3863340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E5042541-30F3-D759-C238-3B7F8B368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kumimoji="1" lang="ko-KR" altLang="en-US" sz="2000" b="1" dirty="0">
                <a:solidFill>
                  <a:schemeClr val="tx2"/>
                </a:solidFill>
              </a:rPr>
              <a:t>대도시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•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경제 중심 지역 중심으로 고가치 고객의 수가 집중된다</a:t>
            </a:r>
            <a:endParaRPr kumimoji="1" lang="ko-KR" altLang="en-US" sz="2000" dirty="0">
              <a:solidFill>
                <a:schemeClr val="tx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C0847-2D5E-B317-BE9F-10FF3AD5BBAB}"/>
              </a:ext>
            </a:extLst>
          </p:cNvPr>
          <p:cNvSpPr txBox="1"/>
          <p:nvPr/>
        </p:nvSpPr>
        <p:spPr>
          <a:xfrm>
            <a:off x="1455958" y="1948829"/>
            <a:ext cx="38902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/>
              <a:t>&lt;</a:t>
            </a:r>
            <a:r>
              <a:rPr lang="ko-KR" altLang="en-US" sz="1600" b="1" dirty="0"/>
              <a:t> 고가치 고객의 지역적</a:t>
            </a:r>
            <a:r>
              <a:rPr lang="en-US" altLang="ko-KR" sz="1600" b="1" dirty="0"/>
              <a:t>(state)</a:t>
            </a:r>
            <a:r>
              <a:rPr lang="ko-KR" altLang="en-US" sz="1600" b="1" dirty="0"/>
              <a:t> 분포 </a:t>
            </a:r>
            <a:r>
              <a:rPr lang="ko-KR" altLang="en-US" sz="1600" dirty="0"/>
              <a:t> </a:t>
            </a:r>
            <a:r>
              <a:rPr lang="en-US" altLang="ko-KR" sz="1600" b="1" dirty="0"/>
              <a:t>&gt;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A7FC6F2-01EF-9341-C44E-1096D0C60992}"/>
              </a:ext>
            </a:extLst>
          </p:cNvPr>
          <p:cNvSpPr/>
          <p:nvPr/>
        </p:nvSpPr>
        <p:spPr>
          <a:xfrm>
            <a:off x="1200150" y="2766060"/>
            <a:ext cx="2125980" cy="3605634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오른쪽 화살표[R] 10">
            <a:extLst>
              <a:ext uri="{FF2B5EF4-FFF2-40B4-BE49-F238E27FC236}">
                <a16:creationId xmlns:a16="http://schemas.microsoft.com/office/drawing/2014/main" id="{4EEFAA0B-A743-A62E-65F5-B02356252967}"/>
              </a:ext>
            </a:extLst>
          </p:cNvPr>
          <p:cNvSpPr/>
          <p:nvPr/>
        </p:nvSpPr>
        <p:spPr>
          <a:xfrm>
            <a:off x="3632835" y="4834890"/>
            <a:ext cx="4926330" cy="50292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7FC50B0-EDC2-8412-4C26-D79928D71881}"/>
              </a:ext>
            </a:extLst>
          </p:cNvPr>
          <p:cNvSpPr/>
          <p:nvPr/>
        </p:nvSpPr>
        <p:spPr>
          <a:xfrm>
            <a:off x="9269730" y="4366260"/>
            <a:ext cx="1257300" cy="109728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D34040-5D81-B957-7E93-2C79A2DB21A7}"/>
              </a:ext>
            </a:extLst>
          </p:cNvPr>
          <p:cNvSpPr txBox="1"/>
          <p:nvPr/>
        </p:nvSpPr>
        <p:spPr>
          <a:xfrm>
            <a:off x="4407282" y="2889106"/>
            <a:ext cx="1789272" cy="8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b="1" dirty="0">
                <a:solidFill>
                  <a:srgbClr val="4C6B03"/>
                </a:solidFill>
              </a:rPr>
              <a:t>SP: </a:t>
            </a:r>
            <a:r>
              <a:rPr kumimoji="1" lang="ko-KR" altLang="en-US" sz="1200" dirty="0">
                <a:solidFill>
                  <a:srgbClr val="0070C0"/>
                </a:solidFill>
              </a:rPr>
              <a:t>상파울루</a:t>
            </a:r>
            <a:r>
              <a:rPr kumimoji="1" lang="ko-KR" altLang="en-US" sz="1200" dirty="0">
                <a:solidFill>
                  <a:schemeClr val="tx2"/>
                </a:solidFill>
              </a:rPr>
              <a:t> </a:t>
            </a:r>
            <a:r>
              <a:rPr kumimoji="1" lang="en-US" altLang="ko-KR" sz="1200" dirty="0">
                <a:solidFill>
                  <a:schemeClr val="tx2"/>
                </a:solidFill>
              </a:rPr>
              <a:t>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b="1" dirty="0">
                <a:solidFill>
                  <a:srgbClr val="4C6B03"/>
                </a:solidFill>
              </a:rPr>
              <a:t>RJ:</a:t>
            </a:r>
            <a:r>
              <a:rPr kumimoji="1" lang="ko-KR" altLang="en-US" sz="1200" b="1" dirty="0">
                <a:solidFill>
                  <a:srgbClr val="4C6B03"/>
                </a:solidFill>
              </a:rPr>
              <a:t> </a:t>
            </a:r>
            <a:r>
              <a:rPr kumimoji="1" lang="ko-KR" altLang="en-US" sz="1200" dirty="0">
                <a:solidFill>
                  <a:srgbClr val="0070C0"/>
                </a:solidFill>
              </a:rPr>
              <a:t>리우데자네이루</a:t>
            </a:r>
            <a:endParaRPr kumimoji="1" lang="en-US" altLang="ko-KR" sz="1200" dirty="0">
              <a:solidFill>
                <a:srgbClr val="0070C0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b="1" dirty="0">
                <a:solidFill>
                  <a:srgbClr val="4C6B03"/>
                </a:solidFill>
              </a:rPr>
              <a:t>MG:</a:t>
            </a:r>
            <a:r>
              <a:rPr kumimoji="1" lang="ko-KR" altLang="en-US" sz="1200" b="1" dirty="0">
                <a:solidFill>
                  <a:srgbClr val="4C6B03"/>
                </a:solidFill>
              </a:rPr>
              <a:t> </a:t>
            </a:r>
            <a:r>
              <a:rPr kumimoji="1" lang="ko-KR" altLang="en-US" sz="1200" dirty="0" err="1">
                <a:solidFill>
                  <a:srgbClr val="0070C0"/>
                </a:solidFill>
              </a:rPr>
              <a:t>미나스제라이스</a:t>
            </a:r>
            <a:endParaRPr kumimoji="1" lang="ko-KR" altLang="en-US" sz="1200" dirty="0">
              <a:solidFill>
                <a:srgbClr val="0070C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1DA69C8-17AC-4E45-6A8A-F5623009B1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4740" y="5878703"/>
            <a:ext cx="1084580" cy="49299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FFB1D1-2474-377E-5E58-20B6CF9C4825}"/>
              </a:ext>
            </a:extLst>
          </p:cNvPr>
          <p:cNvSpPr txBox="1"/>
          <p:nvPr/>
        </p:nvSpPr>
        <p:spPr>
          <a:xfrm>
            <a:off x="1356852" y="2985744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dirty="0">
                <a:solidFill>
                  <a:schemeClr val="bg1"/>
                </a:solidFill>
              </a:rPr>
              <a:t>1646</a:t>
            </a:r>
            <a:endParaRPr kumimoji="1"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37DEF4-2B77-2B53-F20F-98120951FA44}"/>
              </a:ext>
            </a:extLst>
          </p:cNvPr>
          <p:cNvSpPr txBox="1"/>
          <p:nvPr/>
        </p:nvSpPr>
        <p:spPr>
          <a:xfrm>
            <a:off x="2084887" y="4824740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dirty="0">
                <a:solidFill>
                  <a:schemeClr val="bg1"/>
                </a:solidFill>
              </a:rPr>
              <a:t>615</a:t>
            </a:r>
            <a:endParaRPr kumimoji="1"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679F64-7660-EDC1-7CE4-75C22B659729}"/>
              </a:ext>
            </a:extLst>
          </p:cNvPr>
          <p:cNvSpPr txBox="1"/>
          <p:nvPr/>
        </p:nvSpPr>
        <p:spPr>
          <a:xfrm>
            <a:off x="2768947" y="4955545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dirty="0">
                <a:solidFill>
                  <a:schemeClr val="bg1"/>
                </a:solidFill>
              </a:rPr>
              <a:t>541</a:t>
            </a:r>
            <a:endParaRPr kumimoji="1"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BD52C7-B559-71F3-D718-181AB96ED0EC}"/>
              </a:ext>
            </a:extLst>
          </p:cNvPr>
          <p:cNvSpPr txBox="1"/>
          <p:nvPr/>
        </p:nvSpPr>
        <p:spPr>
          <a:xfrm>
            <a:off x="9683084" y="3644467"/>
            <a:ext cx="2350832" cy="102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 dirty="0">
                <a:solidFill>
                  <a:srgbClr val="0E0E0E"/>
                </a:solidFill>
                <a:highlight>
                  <a:srgbClr val="FFFF00"/>
                </a:highlight>
                <a:latin typeface=".AppleSystemUIFont"/>
              </a:rPr>
              <a:t>브라질  </a:t>
            </a:r>
            <a:r>
              <a:rPr lang="ko-KR" altLang="en-US" sz="1400" b="1" dirty="0" err="1">
                <a:solidFill>
                  <a:srgbClr val="0E0E0E"/>
                </a:solidFill>
                <a:highlight>
                  <a:srgbClr val="FFFF00"/>
                </a:highlight>
                <a:latin typeface=".AppleSystemUIFont"/>
              </a:rPr>
              <a:t>경제∙소비의</a:t>
            </a:r>
            <a:r>
              <a:rPr lang="ko-KR" altLang="en-US" sz="1400" b="1" dirty="0">
                <a:solidFill>
                  <a:srgbClr val="0E0E0E"/>
                </a:solidFill>
                <a:highlight>
                  <a:srgbClr val="FFFF00"/>
                </a:highlight>
                <a:latin typeface=".AppleSystemUIFont"/>
              </a:rPr>
              <a:t> 중심지 </a:t>
            </a:r>
            <a:endParaRPr lang="en-US" altLang="ko-KR" sz="1400" b="1" dirty="0">
              <a:solidFill>
                <a:srgbClr val="0E0E0E"/>
              </a:solidFill>
              <a:highlight>
                <a:srgbClr val="FFFF00"/>
              </a:highlight>
              <a:latin typeface=".AppleSystemUIFont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 b="1" dirty="0">
                <a:solidFill>
                  <a:srgbClr val="0E0E0E"/>
                </a:solidFill>
                <a:highlight>
                  <a:srgbClr val="FFFF00"/>
                </a:highlight>
                <a:latin typeface=".AppleSystemUIFont"/>
              </a:rPr>
              <a:t>남동부 대도시권</a:t>
            </a:r>
            <a:endParaRPr lang="en-US" altLang="ko-KR" sz="1400" b="1" dirty="0">
              <a:solidFill>
                <a:srgbClr val="C00000"/>
              </a:solidFill>
              <a:highlight>
                <a:srgbClr val="FFFF00"/>
              </a:highlight>
              <a:latin typeface=".AppleSystemUIFont"/>
            </a:endParaRPr>
          </a:p>
          <a:p>
            <a:pPr algn="ctr">
              <a:lnSpc>
                <a:spcPct val="150000"/>
              </a:lnSpc>
            </a:pPr>
            <a:endParaRPr lang="en-US" altLang="ko-KR" sz="1400" b="1" dirty="0">
              <a:solidFill>
                <a:srgbClr val="0E0E0E"/>
              </a:solidFill>
              <a:highlight>
                <a:srgbClr val="FFFF00"/>
              </a:highlight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2001057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0F480-5CDE-727E-3633-8FB807F60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537A60CF-6C7B-7672-CE44-851B79331461}"/>
              </a:ext>
            </a:extLst>
          </p:cNvPr>
          <p:cNvSpPr/>
          <p:nvPr/>
        </p:nvSpPr>
        <p:spPr>
          <a:xfrm>
            <a:off x="4367598" y="2356982"/>
            <a:ext cx="3452609" cy="4226697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388DCD-506C-20FC-41D0-A9F71C8A0AA7}"/>
              </a:ext>
            </a:extLst>
          </p:cNvPr>
          <p:cNvSpPr txBox="1"/>
          <p:nvPr/>
        </p:nvSpPr>
        <p:spPr>
          <a:xfrm>
            <a:off x="7323566" y="145601"/>
            <a:ext cx="4759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PBL 2. </a:t>
            </a:r>
            <a:r>
              <a:rPr lang="ko-KR" altLang="en-US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서비스 분석</a:t>
            </a:r>
            <a:r>
              <a:rPr lang="en-US" altLang="ko-KR" sz="1400" dirty="0">
                <a:solidFill>
                  <a:schemeClr val="tx2"/>
                </a:solidFill>
                <a:latin typeface="Noto Sans Syriac SemiBold" panose="020B0502040504020204" pitchFamily="34" charset="0"/>
                <a:cs typeface="Noto Sans Syriac SemiBold" panose="020B0502040504020204" pitchFamily="34" charset="0"/>
              </a:rPr>
              <a:t>_26.01.26</a:t>
            </a:r>
            <a:endParaRPr lang="ko-KR" altLang="en-US" sz="1400" dirty="0">
              <a:solidFill>
                <a:schemeClr val="tx2"/>
              </a:solidFill>
              <a:latin typeface="Noto Sans Syriac SemiBold" panose="020B0502040504020204" pitchFamily="34" charset="0"/>
              <a:cs typeface="Noto Sans Syriac SemiBold" panose="020B0502040504020204" pitchFamily="34" charset="0"/>
            </a:endParaRPr>
          </a:p>
        </p:txBody>
      </p:sp>
      <p:pic>
        <p:nvPicPr>
          <p:cNvPr id="5" name="그림 4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DB42DA-29DE-EAC6-3743-A92BC2661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854F0BEC-BAAC-8F5A-8E2A-60585E2EA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673"/>
            <a:ext cx="10515600" cy="571015"/>
          </a:xfrm>
          <a:solidFill>
            <a:srgbClr val="FFCB3C"/>
          </a:solidFill>
        </p:spPr>
        <p:txBody>
          <a:bodyPr>
            <a:noAutofit/>
          </a:bodyPr>
          <a:lstStyle/>
          <a:p>
            <a:pPr algn="ctr"/>
            <a:r>
              <a:rPr kumimoji="1" lang="ko-KR" altLang="en-US" sz="2000" b="1" dirty="0">
                <a:solidFill>
                  <a:schemeClr val="tx2"/>
                </a:solidFill>
              </a:rPr>
              <a:t>고가치 고객 세그먼트에 집중한 </a:t>
            </a:r>
            <a:r>
              <a:rPr kumimoji="1" lang="en-US" altLang="ko-KR" sz="2000" b="1" dirty="0">
                <a:solidFill>
                  <a:schemeClr val="tx2"/>
                </a:solidFill>
              </a:rPr>
              <a:t>AARRR </a:t>
            </a:r>
            <a:r>
              <a:rPr kumimoji="1" lang="ko-KR" altLang="en-US" sz="2000" b="1" dirty="0">
                <a:solidFill>
                  <a:schemeClr val="tx2"/>
                </a:solidFill>
              </a:rPr>
              <a:t>재설계 전략</a:t>
            </a:r>
            <a:endParaRPr kumimoji="1" lang="ko-KR" altLang="en-US" sz="2000" dirty="0">
              <a:solidFill>
                <a:schemeClr val="tx2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AA483DD0-0E83-946E-0DAB-C1372C64666B}"/>
              </a:ext>
            </a:extLst>
          </p:cNvPr>
          <p:cNvSpPr/>
          <p:nvPr/>
        </p:nvSpPr>
        <p:spPr>
          <a:xfrm>
            <a:off x="4563755" y="1865687"/>
            <a:ext cx="3085744" cy="66620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>
                <a:solidFill>
                  <a:schemeClr val="bg1"/>
                </a:solidFill>
              </a:rPr>
              <a:t>Activation</a:t>
            </a:r>
          </a:p>
          <a:p>
            <a:pPr algn="ctr"/>
            <a:r>
              <a:rPr kumimoji="1" lang="ko-KR" altLang="en-US" sz="1200" dirty="0" err="1">
                <a:solidFill>
                  <a:schemeClr val="bg1"/>
                </a:solidFill>
              </a:rPr>
              <a:t>고가치</a:t>
            </a:r>
            <a:r>
              <a:rPr kumimoji="1" lang="ko-KR" altLang="en-US" sz="1200" dirty="0">
                <a:solidFill>
                  <a:schemeClr val="bg1"/>
                </a:solidFill>
              </a:rPr>
              <a:t> 고객 분포 높은 지역 집중</a:t>
            </a:r>
            <a:r>
              <a:rPr kumimoji="1" lang="en-US" altLang="ko-KR" sz="1200" dirty="0">
                <a:solidFill>
                  <a:schemeClr val="bg1"/>
                </a:solidFill>
              </a:rPr>
              <a:t> </a:t>
            </a:r>
            <a:endParaRPr kumimoji="1"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EE3B2C1-624D-80FD-3E44-E1268C02DE88}"/>
              </a:ext>
            </a:extLst>
          </p:cNvPr>
          <p:cNvSpPr/>
          <p:nvPr/>
        </p:nvSpPr>
        <p:spPr>
          <a:xfrm>
            <a:off x="821342" y="2356983"/>
            <a:ext cx="3351950" cy="4226697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944E5E22-29F1-0395-56B1-A847A8FE74AE}"/>
              </a:ext>
            </a:extLst>
          </p:cNvPr>
          <p:cNvSpPr/>
          <p:nvPr/>
        </p:nvSpPr>
        <p:spPr>
          <a:xfrm>
            <a:off x="991547" y="1865687"/>
            <a:ext cx="3070272" cy="66620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b="1" dirty="0">
                <a:solidFill>
                  <a:schemeClr val="bg1"/>
                </a:solidFill>
              </a:rPr>
              <a:t> </a:t>
            </a:r>
            <a:r>
              <a:rPr kumimoji="1" lang="en-US" altLang="ko-KR" b="1" dirty="0">
                <a:solidFill>
                  <a:schemeClr val="bg1"/>
                </a:solidFill>
              </a:rPr>
              <a:t>Acquisition</a:t>
            </a:r>
          </a:p>
          <a:p>
            <a:pPr algn="ctr"/>
            <a:r>
              <a:rPr kumimoji="1" lang="ko-KR" altLang="en-US" sz="1400" dirty="0">
                <a:solidFill>
                  <a:schemeClr val="bg1"/>
                </a:solidFill>
              </a:rPr>
              <a:t>카테고리 기반 </a:t>
            </a:r>
            <a:r>
              <a:rPr kumimoji="1" lang="ko-KR" altLang="en-US" sz="1400" dirty="0" err="1">
                <a:solidFill>
                  <a:schemeClr val="bg1"/>
                </a:solidFill>
              </a:rPr>
              <a:t>고가치</a:t>
            </a:r>
            <a:r>
              <a:rPr kumimoji="1" lang="ko-KR" altLang="en-US" sz="1400" dirty="0">
                <a:solidFill>
                  <a:schemeClr val="bg1"/>
                </a:solidFill>
              </a:rPr>
              <a:t> 고객 유입</a:t>
            </a:r>
            <a:r>
              <a:rPr kumimoji="1" lang="en-US" altLang="ko-KR" sz="1400" dirty="0">
                <a:solidFill>
                  <a:schemeClr val="bg1"/>
                </a:solidFill>
              </a:rPr>
              <a:t> </a:t>
            </a:r>
            <a:endParaRPr kumimoji="1"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CAAB196-D77F-08F2-795D-711D2BDFF958}"/>
              </a:ext>
            </a:extLst>
          </p:cNvPr>
          <p:cNvSpPr/>
          <p:nvPr/>
        </p:nvSpPr>
        <p:spPr>
          <a:xfrm>
            <a:off x="8001850" y="2356981"/>
            <a:ext cx="3351950" cy="4226697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C6FFD1-5BFE-363A-2EB0-476E850FAB37}"/>
              </a:ext>
            </a:extLst>
          </p:cNvPr>
          <p:cNvSpPr txBox="1"/>
          <p:nvPr/>
        </p:nvSpPr>
        <p:spPr>
          <a:xfrm>
            <a:off x="898434" y="2692378"/>
            <a:ext cx="327147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b="1" dirty="0">
                <a:solidFill>
                  <a:srgbClr val="4C6B03"/>
                </a:solidFill>
              </a:rPr>
              <a:t>Why?</a:t>
            </a:r>
          </a:p>
          <a:p>
            <a:pPr marL="142875" indent="-142875"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</a:rPr>
              <a:t>-</a:t>
            </a:r>
            <a:r>
              <a:rPr kumimoji="1" lang="ko-KR" altLang="en-US" sz="1400" dirty="0">
                <a:solidFill>
                  <a:srgbClr val="002060"/>
                </a:solidFill>
              </a:rPr>
              <a:t> 특정 카테고리에서 </a:t>
            </a:r>
            <a:r>
              <a:rPr kumimoji="1" lang="ko-KR" altLang="en-US" sz="1400" dirty="0" err="1">
                <a:solidFill>
                  <a:srgbClr val="002060"/>
                </a:solidFill>
              </a:rPr>
              <a:t>고가치</a:t>
            </a:r>
            <a:r>
              <a:rPr kumimoji="1" lang="ko-KR" altLang="en-US" sz="1400" dirty="0">
                <a:solidFill>
                  <a:srgbClr val="002060"/>
                </a:solidFill>
              </a:rPr>
              <a:t> 고객 발생   가능성 높음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</a:rPr>
              <a:t>-</a:t>
            </a:r>
            <a:r>
              <a:rPr kumimoji="1" lang="ko-KR" altLang="en-US" sz="1400" dirty="0">
                <a:solidFill>
                  <a:srgbClr val="002060"/>
                </a:solidFill>
              </a:rPr>
              <a:t> 질 높은 유입이 매출에 중요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endParaRPr kumimoji="1" lang="ko-KR" alt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620D00-9DB1-14D6-86B4-F7DC73988F00}"/>
              </a:ext>
            </a:extLst>
          </p:cNvPr>
          <p:cNvSpPr txBox="1"/>
          <p:nvPr/>
        </p:nvSpPr>
        <p:spPr>
          <a:xfrm>
            <a:off x="903948" y="5383806"/>
            <a:ext cx="2110514" cy="11124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b="1" dirty="0">
                <a:solidFill>
                  <a:srgbClr val="4C6B03"/>
                </a:solidFill>
              </a:rPr>
              <a:t>Acquisition</a:t>
            </a:r>
            <a:r>
              <a:rPr kumimoji="1" lang="ko-KR" altLang="en-US" b="1" dirty="0">
                <a:solidFill>
                  <a:srgbClr val="4C6B03"/>
                </a:solidFill>
              </a:rPr>
              <a:t> </a:t>
            </a:r>
            <a:r>
              <a:rPr kumimoji="1" lang="en-US" altLang="ko-KR" b="1" dirty="0">
                <a:solidFill>
                  <a:srgbClr val="4C6B03"/>
                </a:solidFill>
              </a:rPr>
              <a:t>KPI</a:t>
            </a:r>
            <a:r>
              <a:rPr kumimoji="1" lang="ko-KR" altLang="en-US" b="1" dirty="0">
                <a:solidFill>
                  <a:srgbClr val="4C6B03"/>
                </a:solidFill>
              </a:rPr>
              <a:t> </a:t>
            </a:r>
            <a:r>
              <a:rPr kumimoji="1" lang="en-US" altLang="ko-KR" b="1" dirty="0">
                <a:solidFill>
                  <a:srgbClr val="4C6B03"/>
                </a:solidFill>
              </a:rPr>
              <a:t>:</a:t>
            </a:r>
            <a:r>
              <a:rPr kumimoji="1" lang="ko-KR" altLang="en-US" b="1" dirty="0">
                <a:solidFill>
                  <a:srgbClr val="4C6B03"/>
                </a:solidFill>
              </a:rPr>
              <a:t> </a:t>
            </a:r>
            <a:endParaRPr kumimoji="1" lang="en-US" altLang="ko-KR" b="1" dirty="0">
              <a:solidFill>
                <a:srgbClr val="4C6B03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</a:rPr>
              <a:t>-</a:t>
            </a:r>
            <a:r>
              <a:rPr kumimoji="1" lang="ko-KR" altLang="en-US" sz="1400" dirty="0">
                <a:solidFill>
                  <a:srgbClr val="002060"/>
                </a:solidFill>
              </a:rPr>
              <a:t> </a:t>
            </a:r>
            <a:r>
              <a:rPr kumimoji="1" lang="ko-KR" altLang="en-US" sz="1400" dirty="0" err="1">
                <a:solidFill>
                  <a:srgbClr val="002060"/>
                </a:solidFill>
              </a:rPr>
              <a:t>고가치</a:t>
            </a:r>
            <a:r>
              <a:rPr kumimoji="1" lang="ko-KR" altLang="en-US" sz="1400" dirty="0">
                <a:solidFill>
                  <a:srgbClr val="002060"/>
                </a:solidFill>
              </a:rPr>
              <a:t> 고객 비중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</a:rPr>
              <a:t>-</a:t>
            </a:r>
            <a:r>
              <a:rPr kumimoji="1" lang="ko-KR" altLang="en-US" sz="1400" dirty="0">
                <a:solidFill>
                  <a:srgbClr val="002060"/>
                </a:solidFill>
              </a:rPr>
              <a:t> 첫 구매 </a:t>
            </a:r>
            <a:r>
              <a:rPr kumimoji="1" lang="ko-KR" altLang="en-US" sz="1400" dirty="0" err="1">
                <a:solidFill>
                  <a:srgbClr val="002060"/>
                </a:solidFill>
              </a:rPr>
              <a:t>객단가</a:t>
            </a:r>
            <a:r>
              <a:rPr kumimoji="1" lang="ko-KR" altLang="en-US" sz="1400" dirty="0">
                <a:solidFill>
                  <a:srgbClr val="002060"/>
                </a:solidFill>
              </a:rPr>
              <a:t> </a:t>
            </a:r>
            <a:r>
              <a:rPr kumimoji="1" lang="en-US" altLang="ko-KR" sz="1400" dirty="0">
                <a:solidFill>
                  <a:srgbClr val="002060"/>
                </a:solidFill>
              </a:rPr>
              <a:t>(AOV)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CA67CA-97AE-B6D8-3D34-505295FC264B}"/>
              </a:ext>
            </a:extLst>
          </p:cNvPr>
          <p:cNvSpPr txBox="1"/>
          <p:nvPr/>
        </p:nvSpPr>
        <p:spPr>
          <a:xfrm>
            <a:off x="913953" y="4042590"/>
            <a:ext cx="2797561" cy="1615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4C6B03"/>
                </a:solidFill>
              </a:rPr>
              <a:t>How?</a:t>
            </a: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solidFill>
                  <a:srgbClr val="002060"/>
                </a:solidFill>
              </a:rPr>
              <a:t>홈</a:t>
            </a:r>
            <a:r>
              <a:rPr kumimoji="1" lang="en-US" altLang="ko-KR" sz="1400" dirty="0">
                <a:solidFill>
                  <a:srgbClr val="002060"/>
                </a:solidFill>
              </a:rPr>
              <a:t>/</a:t>
            </a:r>
            <a:r>
              <a:rPr kumimoji="1" lang="ko-KR" altLang="en-US" sz="1400" dirty="0">
                <a:solidFill>
                  <a:srgbClr val="002060"/>
                </a:solidFill>
              </a:rPr>
              <a:t>검색</a:t>
            </a:r>
            <a:r>
              <a:rPr kumimoji="1" lang="en-US" altLang="ko-KR" sz="1400" dirty="0">
                <a:solidFill>
                  <a:srgbClr val="002060"/>
                </a:solidFill>
              </a:rPr>
              <a:t>/</a:t>
            </a:r>
            <a:r>
              <a:rPr kumimoji="1" lang="ko-KR" altLang="en-US" sz="1400" dirty="0">
                <a:solidFill>
                  <a:srgbClr val="002060"/>
                </a:solidFill>
              </a:rPr>
              <a:t>광고 진입점에서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solidFill>
                  <a:srgbClr val="002060"/>
                </a:solidFill>
              </a:rPr>
              <a:t>시계・선물</a:t>
            </a:r>
            <a:r>
              <a:rPr kumimoji="1" lang="en-US" altLang="ko-KR" sz="1400" dirty="0">
                <a:solidFill>
                  <a:srgbClr val="002060"/>
                </a:solidFill>
              </a:rPr>
              <a:t>,</a:t>
            </a:r>
            <a:r>
              <a:rPr kumimoji="1" lang="ko-KR" altLang="en-US" sz="1400" dirty="0" err="1">
                <a:solidFill>
                  <a:srgbClr val="002060"/>
                </a:solidFill>
              </a:rPr>
              <a:t>뷰티・헬스</a:t>
            </a:r>
            <a:r>
              <a:rPr kumimoji="1" lang="en-US" altLang="ko-KR" sz="1400" dirty="0">
                <a:solidFill>
                  <a:srgbClr val="002060"/>
                </a:solidFill>
              </a:rPr>
              <a:t>,</a:t>
            </a:r>
            <a:r>
              <a:rPr kumimoji="1" lang="ko-KR" altLang="en-US" sz="1400" dirty="0">
                <a:solidFill>
                  <a:srgbClr val="002060"/>
                </a:solidFill>
              </a:rPr>
              <a:t> </a:t>
            </a:r>
            <a:r>
              <a:rPr kumimoji="1" lang="en-US" altLang="ko-KR" sz="1400" dirty="0">
                <a:solidFill>
                  <a:srgbClr val="002060"/>
                </a:solidFill>
              </a:rPr>
              <a:t>IT</a:t>
            </a:r>
            <a:r>
              <a:rPr kumimoji="1" lang="ko-KR" altLang="en-US" sz="1400" dirty="0">
                <a:solidFill>
                  <a:srgbClr val="002060"/>
                </a:solidFill>
              </a:rPr>
              <a:t>액세서리 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solidFill>
                  <a:srgbClr val="002060"/>
                </a:solidFill>
              </a:rPr>
              <a:t>카테고리 우선 노출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endParaRPr kumimoji="1" lang="ko-KR" altLang="en-US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EED8F3-ED68-EE1F-1FD4-629573D1308E}"/>
              </a:ext>
            </a:extLst>
          </p:cNvPr>
          <p:cNvSpPr txBox="1"/>
          <p:nvPr/>
        </p:nvSpPr>
        <p:spPr>
          <a:xfrm>
            <a:off x="4503475" y="2680766"/>
            <a:ext cx="3304110" cy="9739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4C6B03"/>
                </a:solidFill>
              </a:rPr>
              <a:t>Why?</a:t>
            </a: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</a:rPr>
              <a:t>-</a:t>
            </a:r>
            <a:r>
              <a:rPr kumimoji="1" lang="ko-KR" altLang="en-US" sz="1400" dirty="0">
                <a:solidFill>
                  <a:srgbClr val="002060"/>
                </a:solidFill>
              </a:rPr>
              <a:t> </a:t>
            </a:r>
            <a:r>
              <a:rPr kumimoji="1" lang="ko-KR" altLang="en-US" sz="1400" dirty="0" err="1">
                <a:solidFill>
                  <a:srgbClr val="002060"/>
                </a:solidFill>
              </a:rPr>
              <a:t>고가치</a:t>
            </a:r>
            <a:r>
              <a:rPr kumimoji="1" lang="ko-KR" altLang="en-US" sz="1400" dirty="0">
                <a:solidFill>
                  <a:srgbClr val="002060"/>
                </a:solidFill>
              </a:rPr>
              <a:t> 고객은 특정 지역</a:t>
            </a:r>
            <a:r>
              <a:rPr kumimoji="1" lang="en-US" altLang="ko-KR" sz="1400" dirty="0">
                <a:solidFill>
                  <a:srgbClr val="002060"/>
                </a:solidFill>
              </a:rPr>
              <a:t>,</a:t>
            </a:r>
            <a:r>
              <a:rPr kumimoji="1" lang="ko-KR" altLang="en-US" sz="1400" dirty="0">
                <a:solidFill>
                  <a:srgbClr val="002060"/>
                </a:solidFill>
              </a:rPr>
              <a:t>조건에 집중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</a:rPr>
              <a:t>-</a:t>
            </a:r>
            <a:r>
              <a:rPr kumimoji="1" lang="ko-KR" altLang="en-US" sz="1400" dirty="0">
                <a:solidFill>
                  <a:srgbClr val="002060"/>
                </a:solidFill>
              </a:rPr>
              <a:t> 초기 전환 경험이 매출 구조 좌우</a:t>
            </a:r>
            <a:endParaRPr kumimoji="1" lang="en-US" altLang="ko-KR" sz="1400" dirty="0">
              <a:solidFill>
                <a:srgbClr val="00206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115C78-7B58-013F-AC7D-C8F83B2FF7F4}"/>
              </a:ext>
            </a:extLst>
          </p:cNvPr>
          <p:cNvSpPr txBox="1"/>
          <p:nvPr/>
        </p:nvSpPr>
        <p:spPr>
          <a:xfrm>
            <a:off x="4503475" y="3821754"/>
            <a:ext cx="3073277" cy="129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4C6B03"/>
                </a:solidFill>
              </a:rPr>
              <a:t>How?</a:t>
            </a: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solidFill>
                  <a:srgbClr val="002060"/>
                </a:solidFill>
              </a:rPr>
              <a:t>고객 밀집 지역 중심 메시지 차별화 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ko-KR" altLang="en-US" sz="1400" dirty="0">
                <a:solidFill>
                  <a:srgbClr val="002060"/>
                </a:solidFill>
              </a:rPr>
              <a:t>빠른 배송</a:t>
            </a:r>
            <a:r>
              <a:rPr kumimoji="1" lang="en-US" altLang="ko-KR" sz="1400" dirty="0">
                <a:solidFill>
                  <a:srgbClr val="002060"/>
                </a:solidFill>
              </a:rPr>
              <a:t>/</a:t>
            </a:r>
            <a:r>
              <a:rPr kumimoji="1" lang="ko-KR" altLang="en-US" sz="1400" dirty="0">
                <a:solidFill>
                  <a:srgbClr val="002060"/>
                </a:solidFill>
              </a:rPr>
              <a:t> 프리미엄 셀러 강조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ko-KR" altLang="en-US" sz="1400" dirty="0">
                <a:solidFill>
                  <a:srgbClr val="002060"/>
                </a:solidFill>
              </a:rPr>
              <a:t>가치 소비 메시지 강화</a:t>
            </a:r>
            <a:endParaRPr kumimoji="1" lang="en-US" altLang="ko-KR" sz="1400" dirty="0">
              <a:solidFill>
                <a:srgbClr val="00206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FBBA55-2797-29D8-20B6-3BD97418D364}"/>
              </a:ext>
            </a:extLst>
          </p:cNvPr>
          <p:cNvSpPr txBox="1"/>
          <p:nvPr/>
        </p:nvSpPr>
        <p:spPr>
          <a:xfrm>
            <a:off x="4525643" y="5127358"/>
            <a:ext cx="2857962" cy="14356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b="1" dirty="0">
                <a:solidFill>
                  <a:srgbClr val="4C6B03"/>
                </a:solidFill>
              </a:rPr>
              <a:t>Activation KPI</a:t>
            </a:r>
            <a:r>
              <a:rPr kumimoji="1" lang="ko-KR" altLang="en-US" b="1" dirty="0">
                <a:solidFill>
                  <a:srgbClr val="4C6B03"/>
                </a:solidFill>
              </a:rPr>
              <a:t> </a:t>
            </a:r>
            <a:r>
              <a:rPr kumimoji="1" lang="en-US" altLang="ko-KR" b="1" dirty="0">
                <a:solidFill>
                  <a:srgbClr val="4C6B03"/>
                </a:solidFill>
              </a:rPr>
              <a:t>:</a:t>
            </a:r>
            <a:r>
              <a:rPr kumimoji="1" lang="ko-KR" altLang="en-US" b="1" dirty="0">
                <a:solidFill>
                  <a:srgbClr val="4C6B03"/>
                </a:solidFill>
              </a:rPr>
              <a:t> </a:t>
            </a:r>
            <a:endParaRPr kumimoji="1" lang="en-US" altLang="ko-KR" b="1" dirty="0">
              <a:solidFill>
                <a:srgbClr val="4C6B03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</a:rPr>
              <a:t>-</a:t>
            </a:r>
            <a:r>
              <a:rPr kumimoji="1" lang="ko-KR" altLang="en-US" sz="1400" dirty="0">
                <a:solidFill>
                  <a:srgbClr val="002060"/>
                </a:solidFill>
              </a:rPr>
              <a:t> 첫 구매 </a:t>
            </a:r>
            <a:r>
              <a:rPr kumimoji="1" lang="ko-KR" altLang="en-US" sz="1400" dirty="0" err="1">
                <a:solidFill>
                  <a:srgbClr val="002060"/>
                </a:solidFill>
              </a:rPr>
              <a:t>전환율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</a:rPr>
              <a:t>-</a:t>
            </a:r>
            <a:r>
              <a:rPr kumimoji="1" lang="ko-KR" altLang="en-US" sz="1400" dirty="0">
                <a:solidFill>
                  <a:srgbClr val="002060"/>
                </a:solidFill>
              </a:rPr>
              <a:t> 첫 구매 </a:t>
            </a:r>
            <a:r>
              <a:rPr kumimoji="1" lang="ko-KR" altLang="en-US" sz="1400" dirty="0" err="1">
                <a:solidFill>
                  <a:srgbClr val="002060"/>
                </a:solidFill>
              </a:rPr>
              <a:t>완료율</a:t>
            </a:r>
            <a:r>
              <a:rPr kumimoji="1" lang="ko-KR" altLang="en-US" sz="1400" dirty="0">
                <a:solidFill>
                  <a:srgbClr val="002060"/>
                </a:solidFill>
              </a:rPr>
              <a:t> </a:t>
            </a:r>
            <a:r>
              <a:rPr kumimoji="1" lang="en-US" altLang="ko-KR" sz="1400" dirty="0">
                <a:solidFill>
                  <a:srgbClr val="002060"/>
                </a:solidFill>
              </a:rPr>
              <a:t>(delivered </a:t>
            </a:r>
            <a:r>
              <a:rPr kumimoji="1" lang="ko-KR" altLang="en-US" sz="1400" dirty="0">
                <a:solidFill>
                  <a:srgbClr val="002060"/>
                </a:solidFill>
              </a:rPr>
              <a:t>기준</a:t>
            </a:r>
            <a:r>
              <a:rPr kumimoji="1" lang="en-US" altLang="ko-KR" sz="1400" dirty="0">
                <a:solidFill>
                  <a:srgbClr val="002060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</a:rPr>
              <a:t>-</a:t>
            </a:r>
            <a:r>
              <a:rPr kumimoji="1" lang="ko-KR" altLang="en-US" sz="1400" dirty="0">
                <a:solidFill>
                  <a:srgbClr val="002060"/>
                </a:solidFill>
              </a:rPr>
              <a:t> 첫 구매 </a:t>
            </a:r>
            <a:r>
              <a:rPr kumimoji="1" lang="ko-KR" altLang="en-US" sz="1400" dirty="0" err="1">
                <a:solidFill>
                  <a:srgbClr val="002060"/>
                </a:solidFill>
              </a:rPr>
              <a:t>객단가</a:t>
            </a:r>
            <a:r>
              <a:rPr kumimoji="1" lang="ko-KR" altLang="en-US" sz="1400" dirty="0">
                <a:solidFill>
                  <a:srgbClr val="002060"/>
                </a:solidFill>
              </a:rPr>
              <a:t> </a:t>
            </a:r>
            <a:r>
              <a:rPr kumimoji="1" lang="en-US" altLang="ko-KR" sz="1400" dirty="0">
                <a:solidFill>
                  <a:srgbClr val="002060"/>
                </a:solidFill>
              </a:rPr>
              <a:t>(AOV)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0DF5E5-596F-72A6-BD0F-D3DEB45A50FA}"/>
              </a:ext>
            </a:extLst>
          </p:cNvPr>
          <p:cNvSpPr txBox="1"/>
          <p:nvPr/>
        </p:nvSpPr>
        <p:spPr>
          <a:xfrm>
            <a:off x="8147970" y="2680145"/>
            <a:ext cx="3187091" cy="9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4C6B03"/>
                </a:solidFill>
              </a:rPr>
              <a:t>Why?</a:t>
            </a: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</a:rPr>
              <a:t>-</a:t>
            </a:r>
            <a:r>
              <a:rPr kumimoji="1" lang="ko-KR" altLang="en-US" sz="1400" dirty="0">
                <a:solidFill>
                  <a:srgbClr val="002060"/>
                </a:solidFill>
              </a:rPr>
              <a:t> 매출은 첫 구매 시점에 결정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  <a:sym typeface="Wingdings" pitchFamily="2" charset="2"/>
              </a:rPr>
              <a:t></a:t>
            </a:r>
            <a:r>
              <a:rPr kumimoji="1" lang="ko-KR" altLang="en-US" sz="1400" dirty="0">
                <a:solidFill>
                  <a:srgbClr val="002060"/>
                </a:solidFill>
                <a:sym typeface="Wingdings" pitchFamily="2" charset="2"/>
              </a:rPr>
              <a:t> </a:t>
            </a:r>
            <a:r>
              <a:rPr kumimoji="1" lang="ko-KR" altLang="en-US" sz="1400" dirty="0">
                <a:solidFill>
                  <a:srgbClr val="002060"/>
                </a:solidFill>
              </a:rPr>
              <a:t>유지보다는 초기 전환 극대화 전략</a:t>
            </a:r>
            <a:endParaRPr kumimoji="1" lang="en-US" altLang="ko-KR" sz="1400" dirty="0">
              <a:solidFill>
                <a:srgbClr val="00206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274789-3752-1F11-5A20-9CBA8DEAE9CC}"/>
              </a:ext>
            </a:extLst>
          </p:cNvPr>
          <p:cNvSpPr txBox="1"/>
          <p:nvPr/>
        </p:nvSpPr>
        <p:spPr>
          <a:xfrm>
            <a:off x="8162484" y="3749184"/>
            <a:ext cx="2940228" cy="1620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4C6B03"/>
                </a:solidFill>
              </a:rPr>
              <a:t>How?</a:t>
            </a:r>
          </a:p>
          <a:p>
            <a:pPr>
              <a:lnSpc>
                <a:spcPct val="150000"/>
              </a:lnSpc>
            </a:pPr>
            <a:r>
              <a:rPr kumimoji="1" lang="ko-KR" altLang="en-US" sz="1400" dirty="0">
                <a:solidFill>
                  <a:srgbClr val="002060"/>
                </a:solidFill>
              </a:rPr>
              <a:t>첫 구매 화면에 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ko-KR" altLang="en-US" sz="1400" dirty="0">
                <a:solidFill>
                  <a:srgbClr val="002060"/>
                </a:solidFill>
              </a:rPr>
              <a:t>프리미엄 상품</a:t>
            </a:r>
            <a:r>
              <a:rPr kumimoji="1" lang="en-US" altLang="ko-KR" sz="1400" dirty="0">
                <a:solidFill>
                  <a:srgbClr val="002060"/>
                </a:solidFill>
              </a:rPr>
              <a:t>/</a:t>
            </a:r>
            <a:r>
              <a:rPr kumimoji="1" lang="ko-KR" altLang="en-US" sz="1400" dirty="0">
                <a:solidFill>
                  <a:srgbClr val="002060"/>
                </a:solidFill>
              </a:rPr>
              <a:t>옵션 강조 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ko-KR" altLang="en-US" sz="1400" dirty="0">
                <a:solidFill>
                  <a:srgbClr val="002060"/>
                </a:solidFill>
              </a:rPr>
              <a:t>버들 구성</a:t>
            </a:r>
            <a:r>
              <a:rPr kumimoji="1" lang="en-US" altLang="ko-KR" sz="1400" dirty="0">
                <a:solidFill>
                  <a:srgbClr val="002060"/>
                </a:solidFill>
              </a:rPr>
              <a:t>,</a:t>
            </a:r>
            <a:r>
              <a:rPr kumimoji="1" lang="ko-KR" altLang="en-US" sz="1400" dirty="0">
                <a:solidFill>
                  <a:srgbClr val="002060"/>
                </a:solidFill>
              </a:rPr>
              <a:t> 수량 가이드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ko-KR" altLang="en-US" sz="1400" dirty="0">
                <a:solidFill>
                  <a:srgbClr val="002060"/>
                </a:solidFill>
              </a:rPr>
              <a:t>고가 </a:t>
            </a:r>
            <a:r>
              <a:rPr kumimoji="1" lang="ko-KR" altLang="en-US" sz="1400" dirty="0" err="1">
                <a:solidFill>
                  <a:srgbClr val="002060"/>
                </a:solidFill>
              </a:rPr>
              <a:t>상품군</a:t>
            </a:r>
            <a:r>
              <a:rPr kumimoji="1" lang="ko-KR" altLang="en-US" sz="1400" dirty="0">
                <a:solidFill>
                  <a:srgbClr val="002060"/>
                </a:solidFill>
              </a:rPr>
              <a:t> 구매 시 혜택 제공</a:t>
            </a:r>
            <a:endParaRPr kumimoji="1" lang="en-US" altLang="ko-KR" sz="1400" dirty="0">
              <a:solidFill>
                <a:srgbClr val="00206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62E6A-ED90-7FEC-43EA-39A1FFA5F3A5}"/>
              </a:ext>
            </a:extLst>
          </p:cNvPr>
          <p:cNvSpPr txBox="1"/>
          <p:nvPr/>
        </p:nvSpPr>
        <p:spPr>
          <a:xfrm>
            <a:off x="8178083" y="5411243"/>
            <a:ext cx="1944763" cy="11124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b="1" dirty="0">
                <a:solidFill>
                  <a:srgbClr val="4C6B03"/>
                </a:solidFill>
              </a:rPr>
              <a:t>Revenue KPI</a:t>
            </a:r>
            <a:r>
              <a:rPr kumimoji="1" lang="ko-KR" altLang="en-US" b="1" dirty="0">
                <a:solidFill>
                  <a:srgbClr val="4C6B03"/>
                </a:solidFill>
              </a:rPr>
              <a:t> </a:t>
            </a:r>
            <a:r>
              <a:rPr kumimoji="1" lang="en-US" altLang="ko-KR" b="1" dirty="0">
                <a:solidFill>
                  <a:srgbClr val="4C6B03"/>
                </a:solidFill>
              </a:rPr>
              <a:t>:</a:t>
            </a:r>
            <a:r>
              <a:rPr kumimoji="1" lang="ko-KR" altLang="en-US" b="1" dirty="0">
                <a:solidFill>
                  <a:srgbClr val="4C6B03"/>
                </a:solidFill>
              </a:rPr>
              <a:t> </a:t>
            </a:r>
            <a:endParaRPr kumimoji="1" lang="en-US" altLang="ko-KR" b="1" dirty="0">
              <a:solidFill>
                <a:srgbClr val="4C6B03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</a:rPr>
              <a:t>-</a:t>
            </a:r>
            <a:r>
              <a:rPr kumimoji="1" lang="ko-KR" altLang="en-US" sz="1400" dirty="0">
                <a:solidFill>
                  <a:srgbClr val="002060"/>
                </a:solidFill>
              </a:rPr>
              <a:t> 첫 구매 매출 기여도</a:t>
            </a:r>
            <a:endParaRPr kumimoji="1" lang="en-US" altLang="ko-KR" sz="1400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rgbClr val="002060"/>
                </a:solidFill>
              </a:rPr>
              <a:t>-</a:t>
            </a:r>
            <a:r>
              <a:rPr kumimoji="1" lang="ko-KR" altLang="en-US" sz="1400" dirty="0">
                <a:solidFill>
                  <a:srgbClr val="002060"/>
                </a:solidFill>
              </a:rPr>
              <a:t> </a:t>
            </a:r>
            <a:r>
              <a:rPr kumimoji="1" lang="ko-KR" altLang="en-US" sz="1400" dirty="0" err="1">
                <a:solidFill>
                  <a:srgbClr val="002060"/>
                </a:solidFill>
              </a:rPr>
              <a:t>고가치</a:t>
            </a:r>
            <a:r>
              <a:rPr kumimoji="1" lang="ko-KR" altLang="en-US" sz="1400" dirty="0">
                <a:solidFill>
                  <a:srgbClr val="002060"/>
                </a:solidFill>
              </a:rPr>
              <a:t> 고객 </a:t>
            </a:r>
            <a:r>
              <a:rPr kumimoji="1" lang="en-US" altLang="ko-KR" sz="1400" dirty="0">
                <a:solidFill>
                  <a:srgbClr val="002060"/>
                </a:solidFill>
              </a:rPr>
              <a:t>LTV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3AF7C5AE-5EB7-1AA4-B602-B3065FB1C4CE}"/>
              </a:ext>
            </a:extLst>
          </p:cNvPr>
          <p:cNvSpPr/>
          <p:nvPr/>
        </p:nvSpPr>
        <p:spPr>
          <a:xfrm>
            <a:off x="8152614" y="1865687"/>
            <a:ext cx="2985840" cy="66620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/>
              <a:t>Revenue-focused</a:t>
            </a:r>
          </a:p>
          <a:p>
            <a:pPr algn="ctr"/>
            <a:r>
              <a:rPr kumimoji="1" lang="en-US" altLang="ko-KR" b="1" dirty="0"/>
              <a:t>Retention</a:t>
            </a:r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013997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00E0A-0372-FC8F-B8D8-0B78DD367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그래픽, 로고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370483-F766-F589-9A8C-AE71CC77A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5383"/>
            <a:ext cx="1707878" cy="1707878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F40468F8-1761-CD8B-5A4C-AF6FACBA81F9}"/>
              </a:ext>
            </a:extLst>
          </p:cNvPr>
          <p:cNvSpPr txBox="1">
            <a:spLocks/>
          </p:cNvSpPr>
          <p:nvPr/>
        </p:nvSpPr>
        <p:spPr>
          <a:xfrm>
            <a:off x="838200" y="1119673"/>
            <a:ext cx="10515600" cy="571015"/>
          </a:xfrm>
          <a:prstGeom prst="rect">
            <a:avLst/>
          </a:prstGeom>
          <a:solidFill>
            <a:srgbClr val="FFCB3C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2000" b="1" dirty="0">
                <a:solidFill>
                  <a:srgbClr val="002060"/>
                </a:solidFill>
              </a:rPr>
              <a:t>결론 </a:t>
            </a:r>
            <a:r>
              <a:rPr kumimoji="1" lang="en-US" altLang="ko-KR" sz="2000" b="1" dirty="0">
                <a:solidFill>
                  <a:srgbClr val="002060"/>
                </a:solidFill>
              </a:rPr>
              <a:t>&amp;</a:t>
            </a:r>
            <a:r>
              <a:rPr kumimoji="1" lang="ko-KR" altLang="en-US" sz="2000" b="1" dirty="0">
                <a:solidFill>
                  <a:srgbClr val="002060"/>
                </a:solidFill>
              </a:rPr>
              <a:t> </a:t>
            </a:r>
            <a:r>
              <a:rPr kumimoji="1" lang="en-US" altLang="ko-KR" sz="2000" b="1" dirty="0">
                <a:solidFill>
                  <a:srgbClr val="002060"/>
                </a:solidFill>
              </a:rPr>
              <a:t>KPT </a:t>
            </a:r>
            <a:r>
              <a:rPr kumimoji="1" lang="ko-KR" altLang="en-US" sz="2000" b="1" dirty="0">
                <a:solidFill>
                  <a:srgbClr val="002060"/>
                </a:solidFill>
              </a:rPr>
              <a:t>회고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CAD6E8D1-FFD2-C7AE-3D00-9FC44475117B}"/>
              </a:ext>
            </a:extLst>
          </p:cNvPr>
          <p:cNvSpPr/>
          <p:nvPr/>
        </p:nvSpPr>
        <p:spPr>
          <a:xfrm>
            <a:off x="853938" y="1839561"/>
            <a:ext cx="5102725" cy="66620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/>
              <a:t>AARRR </a:t>
            </a:r>
            <a:r>
              <a:rPr kumimoji="1" lang="ko-KR" altLang="en-US" b="1" dirty="0"/>
              <a:t>기반 핵심 결론</a:t>
            </a:r>
            <a:r>
              <a:rPr kumimoji="1" lang="en-US" altLang="ko-KR" b="1" dirty="0"/>
              <a:t> </a:t>
            </a:r>
            <a:endParaRPr kumimoji="1" lang="ko-KR" altLang="en-US" b="1" dirty="0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F1E4AD88-8CBE-FBE1-1649-5C11DC3F9BCB}"/>
              </a:ext>
            </a:extLst>
          </p:cNvPr>
          <p:cNvSpPr/>
          <p:nvPr/>
        </p:nvSpPr>
        <p:spPr>
          <a:xfrm>
            <a:off x="6096001" y="1839561"/>
            <a:ext cx="5242062" cy="66620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b="1" dirty="0">
                <a:solidFill>
                  <a:schemeClr val="bg1"/>
                </a:solidFill>
              </a:rPr>
              <a:t>KPT </a:t>
            </a:r>
            <a:r>
              <a:rPr kumimoji="1" lang="ko-KR" altLang="en-US" b="1" dirty="0">
                <a:solidFill>
                  <a:schemeClr val="bg1"/>
                </a:solidFill>
              </a:rPr>
              <a:t>회고</a:t>
            </a:r>
            <a:r>
              <a:rPr kumimoji="1" lang="en-US" altLang="ko-KR" b="1" dirty="0">
                <a:solidFill>
                  <a:schemeClr val="bg1"/>
                </a:solidFill>
              </a:rPr>
              <a:t> </a:t>
            </a:r>
            <a:endParaRPr kumimoji="1" lang="ko-KR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A021962-4BA4-34CB-5FCC-C85EA76FAA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899362"/>
              </p:ext>
            </p:extLst>
          </p:nvPr>
        </p:nvGraphicFramePr>
        <p:xfrm>
          <a:off x="853938" y="2654640"/>
          <a:ext cx="5102726" cy="3393464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144679">
                  <a:extLst>
                    <a:ext uri="{9D8B030D-6E8A-4147-A177-3AD203B41FA5}">
                      <a16:colId xmlns:a16="http://schemas.microsoft.com/office/drawing/2014/main" val="2311415412"/>
                    </a:ext>
                  </a:extLst>
                </a:gridCol>
                <a:gridCol w="3958047">
                  <a:extLst>
                    <a:ext uri="{9D8B030D-6E8A-4147-A177-3AD203B41FA5}">
                      <a16:colId xmlns:a16="http://schemas.microsoft.com/office/drawing/2014/main" val="3069014822"/>
                    </a:ext>
                  </a:extLst>
                </a:gridCol>
              </a:tblGrid>
              <a:tr h="7548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b="1" dirty="0">
                          <a:solidFill>
                            <a:srgbClr val="002060"/>
                          </a:solidFill>
                        </a:rPr>
                        <a:t>Acquisition</a:t>
                      </a:r>
                      <a:endParaRPr lang="en" altLang="ko-KR" sz="14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고가치 고객은 특정 카테고리</a:t>
                      </a:r>
                      <a:r>
                        <a:rPr lang="en-US" altLang="ko-KR" sz="1400" b="0" dirty="0">
                          <a:solidFill>
                            <a:srgbClr val="4C6B03"/>
                          </a:solidFill>
                        </a:rPr>
                        <a:t>·</a:t>
                      </a: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대도시 지역에 집중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유입의 양보다 질이 성장에 중요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3898257"/>
                  </a:ext>
                </a:extLst>
              </a:tr>
              <a:tr h="8352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b="1" dirty="0">
                          <a:solidFill>
                            <a:srgbClr val="002060"/>
                          </a:solidFill>
                        </a:rPr>
                        <a:t>Activation</a:t>
                      </a:r>
                      <a:endParaRPr lang="en" altLang="ko-KR" sz="14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첫 구매에서 이미 고가치</a:t>
                      </a:r>
                      <a:r>
                        <a:rPr lang="en-US" altLang="ko-KR" sz="1400" dirty="0">
                          <a:solidFill>
                            <a:srgbClr val="4C6B03"/>
                          </a:solidFill>
                        </a:rPr>
                        <a:t>/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일반 고객 분기 발생</a:t>
                      </a:r>
                      <a:endParaRPr lang="en-US" altLang="ko-KR" sz="1400" dirty="0">
                        <a:solidFill>
                          <a:srgbClr val="4C6B03"/>
                        </a:solidFill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 → 카테고리</a:t>
                      </a:r>
                      <a:r>
                        <a:rPr lang="en-US" altLang="ko-KR" sz="1400" dirty="0">
                          <a:solidFill>
                            <a:srgbClr val="4C6B03"/>
                          </a:solidFill>
                        </a:rPr>
                        <a:t>,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 가격이 초기 전환 결정</a:t>
                      </a:r>
                      <a:endParaRPr lang="en-US" altLang="ko-KR" sz="1400" dirty="0">
                        <a:solidFill>
                          <a:srgbClr val="4C6B0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6301439"/>
                  </a:ext>
                </a:extLst>
              </a:tr>
              <a:tr h="660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b="1" dirty="0">
                          <a:solidFill>
                            <a:srgbClr val="002060"/>
                          </a:solidFill>
                        </a:rPr>
                        <a:t>Retention</a:t>
                      </a:r>
                      <a:endParaRPr lang="en" altLang="ko-KR" sz="14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재구매는 대부분 첫 달 내 발생 </a:t>
                      </a:r>
                      <a:endParaRPr lang="en-US" altLang="ko-KR" sz="1400" dirty="0">
                        <a:solidFill>
                          <a:srgbClr val="4C6B03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장기 </a:t>
                      </a:r>
                      <a:r>
                        <a:rPr lang="ko-KR" altLang="en-US" sz="1400" dirty="0" err="1">
                          <a:solidFill>
                            <a:srgbClr val="4C6B03"/>
                          </a:solidFill>
                        </a:rPr>
                        <a:t>리텐션만으로는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 성장 한계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1548266"/>
                  </a:ext>
                </a:extLst>
              </a:tr>
              <a:tr h="660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b="1" dirty="0">
                          <a:solidFill>
                            <a:srgbClr val="002060"/>
                          </a:solidFill>
                        </a:rPr>
                        <a:t>Revenue</a:t>
                      </a:r>
                      <a:endParaRPr lang="en" altLang="ko-KR" sz="14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>
                          <a:solidFill>
                            <a:srgbClr val="4C6B03"/>
                          </a:solidFill>
                        </a:rPr>
                        <a:t>LTV 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상위 </a:t>
                      </a:r>
                      <a:r>
                        <a:rPr lang="en-US" altLang="ko-KR" sz="1400" dirty="0">
                          <a:solidFill>
                            <a:srgbClr val="4C6B03"/>
                          </a:solidFill>
                        </a:rPr>
                        <a:t>5%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 고객이</a:t>
                      </a:r>
                      <a:r>
                        <a:rPr lang="en-US" altLang="ko-KR" sz="1400" dirty="0">
                          <a:solidFill>
                            <a:srgbClr val="4C6B03"/>
                          </a:solidFill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매출 </a:t>
                      </a:r>
                      <a:r>
                        <a:rPr lang="en-US" altLang="ko-KR" sz="1400" dirty="0">
                          <a:solidFill>
                            <a:srgbClr val="4C6B03"/>
                          </a:solidFill>
                        </a:rPr>
                        <a:t>26.7%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 차지</a:t>
                      </a:r>
                      <a:endParaRPr lang="en-US" altLang="ko-KR" sz="1400" dirty="0">
                        <a:solidFill>
                          <a:srgbClr val="4C6B03"/>
                        </a:solidFill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고가치 고객 </a:t>
                      </a:r>
                      <a:r>
                        <a:rPr lang="en-US" altLang="ko-KR" sz="1400" dirty="0">
                          <a:solidFill>
                            <a:srgbClr val="4C6B03"/>
                          </a:solidFill>
                        </a:rPr>
                        <a:t>1%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 증가 시 매출효과 </a:t>
                      </a:r>
                      <a:r>
                        <a:rPr lang="en-US" altLang="ko-KR" sz="1400" dirty="0">
                          <a:solidFill>
                            <a:srgbClr val="4C6B03"/>
                          </a:solidFill>
                        </a:rPr>
                        <a:t>5.35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6033327"/>
                  </a:ext>
                </a:extLst>
              </a:tr>
              <a:tr h="4831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b="1" dirty="0">
                          <a:solidFill>
                            <a:srgbClr val="002060"/>
                          </a:solidFill>
                        </a:rPr>
                        <a:t>Referral</a:t>
                      </a:r>
                      <a:endParaRPr lang="en" altLang="ko-KR" sz="14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관련 데이터 부재로 분석 제외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47697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F27ECAE-D450-DD1C-7606-2ED7CF5BFE37}"/>
              </a:ext>
            </a:extLst>
          </p:cNvPr>
          <p:cNvSpPr txBox="1"/>
          <p:nvPr/>
        </p:nvSpPr>
        <p:spPr>
          <a:xfrm>
            <a:off x="979714" y="6230983"/>
            <a:ext cx="10665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</a:t>
            </a:r>
            <a:r>
              <a:rPr kumimoji="1" lang="ko-KR" altLang="en-US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 </a:t>
            </a:r>
            <a:r>
              <a:rPr kumimoji="1" lang="en-US" altLang="ko-KR" b="1" dirty="0" err="1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Olist</a:t>
            </a:r>
            <a:r>
              <a:rPr kumimoji="1" lang="ko-KR" altLang="en-US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의 성장은 </a:t>
            </a:r>
            <a:r>
              <a:rPr kumimoji="1" lang="en-US" altLang="ko-KR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Retention </a:t>
            </a:r>
            <a:r>
              <a:rPr kumimoji="1" lang="ko-KR" altLang="en-US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개선보다는 고가치 고객의 </a:t>
            </a:r>
            <a:r>
              <a:rPr lang="en" altLang="ko-KR" b="1" dirty="0">
                <a:solidFill>
                  <a:srgbClr val="C00000"/>
                </a:solidFill>
                <a:highlight>
                  <a:srgbClr val="FFFF00"/>
                </a:highlight>
              </a:rPr>
              <a:t>Acquisition</a:t>
            </a:r>
            <a:r>
              <a:rPr lang="ko-KR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과 </a:t>
            </a:r>
            <a:r>
              <a:rPr lang="en-US" altLang="ko-KR" b="1" dirty="0">
                <a:solidFill>
                  <a:srgbClr val="C00000"/>
                </a:solidFill>
                <a:highlight>
                  <a:srgbClr val="FFFF00"/>
                </a:highlight>
              </a:rPr>
              <a:t>Activation </a:t>
            </a:r>
            <a:r>
              <a:rPr lang="ko-KR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강화에 달려있음</a:t>
            </a:r>
            <a:r>
              <a:rPr lang="en-US" altLang="ko-KR" b="1" dirty="0">
                <a:solidFill>
                  <a:srgbClr val="C00000"/>
                </a:solidFill>
                <a:highlight>
                  <a:srgbClr val="FFFF00"/>
                </a:highlight>
              </a:rPr>
              <a:t>.</a:t>
            </a:r>
            <a:r>
              <a:rPr lang="ko-KR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kumimoji="1" lang="ko-KR" altLang="en-US" b="1" dirty="0">
                <a:solidFill>
                  <a:srgbClr val="C00000"/>
                </a:solidFill>
                <a:highlight>
                  <a:srgbClr val="FFFF00"/>
                </a:highlight>
                <a:sym typeface="Wingdings" pitchFamily="2" charset="2"/>
              </a:rPr>
              <a:t> </a:t>
            </a:r>
            <a:endParaRPr kumimoji="1" lang="ko-KR" altLang="en-US" b="1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513B946-FE67-E5EB-12F6-8D5BA947D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437016"/>
              </p:ext>
            </p:extLst>
          </p:nvPr>
        </p:nvGraphicFramePr>
        <p:xfrm>
          <a:off x="6165669" y="2674132"/>
          <a:ext cx="5102726" cy="3359458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927462">
                  <a:extLst>
                    <a:ext uri="{9D8B030D-6E8A-4147-A177-3AD203B41FA5}">
                      <a16:colId xmlns:a16="http://schemas.microsoft.com/office/drawing/2014/main" val="2311415412"/>
                    </a:ext>
                  </a:extLst>
                </a:gridCol>
                <a:gridCol w="4175264">
                  <a:extLst>
                    <a:ext uri="{9D8B030D-6E8A-4147-A177-3AD203B41FA5}">
                      <a16:colId xmlns:a16="http://schemas.microsoft.com/office/drawing/2014/main" val="3069014822"/>
                    </a:ext>
                  </a:extLst>
                </a:gridCol>
              </a:tblGrid>
              <a:tr h="11378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rgbClr val="002060"/>
                          </a:solidFill>
                        </a:rPr>
                        <a:t>Keep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rgbClr val="002060"/>
                          </a:solidFill>
                        </a:rPr>
                        <a:t>(</a:t>
                      </a:r>
                      <a:r>
                        <a:rPr lang="ko-KR" altLang="en-US" sz="1400" b="1" dirty="0" err="1">
                          <a:solidFill>
                            <a:srgbClr val="002060"/>
                          </a:solidFill>
                        </a:rPr>
                        <a:t>잘한점</a:t>
                      </a:r>
                      <a:r>
                        <a:rPr lang="en-US" altLang="ko-KR" sz="1400" b="1" dirty="0">
                          <a:solidFill>
                            <a:srgbClr val="002060"/>
                          </a:solidFill>
                        </a:rPr>
                        <a:t>)</a:t>
                      </a:r>
                      <a:endParaRPr lang="en" altLang="ko-KR" sz="1400" b="1" dirty="0">
                        <a:solidFill>
                          <a:srgbClr val="002060"/>
                        </a:solidFill>
                      </a:endParaRPr>
                    </a:p>
                    <a:p>
                      <a:pPr algn="ctr" latinLnBrk="1"/>
                      <a:endParaRPr lang="ko-KR" alt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" altLang="ko-KR" sz="1400" b="0" dirty="0">
                          <a:solidFill>
                            <a:srgbClr val="4C6B03"/>
                          </a:solidFill>
                        </a:rPr>
                        <a:t>AARRR </a:t>
                      </a: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프레임으로 성장 병목 구조화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파레토 분석으로 전략 타겟</a:t>
                      </a:r>
                      <a:r>
                        <a:rPr lang="en" altLang="ko-KR" sz="1400" b="0" dirty="0">
                          <a:solidFill>
                            <a:srgbClr val="4C6B03"/>
                          </a:solidFill>
                        </a:rPr>
                        <a:t> </a:t>
                      </a: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명확화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“왜 이 </a:t>
                      </a:r>
                      <a:r>
                        <a:rPr lang="ko-KR" altLang="en-US" sz="1400" b="0" dirty="0" err="1">
                          <a:solidFill>
                            <a:srgbClr val="4C6B03"/>
                          </a:solidFill>
                        </a:rPr>
                        <a:t>고객인가”를</a:t>
                      </a:r>
                      <a:r>
                        <a:rPr lang="ko-KR" altLang="en-US" sz="1400" b="0" dirty="0">
                          <a:solidFill>
                            <a:srgbClr val="4C6B03"/>
                          </a:solidFill>
                        </a:rPr>
                        <a:t> 데이터로 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3898257"/>
                  </a:ext>
                </a:extLst>
              </a:tr>
              <a:tr h="11378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rgbClr val="002060"/>
                          </a:solidFill>
                        </a:rPr>
                        <a:t>Problem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rgbClr val="002060"/>
                          </a:solidFill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rgbClr val="002060"/>
                          </a:solidFill>
                        </a:rPr>
                        <a:t>한계</a:t>
                      </a:r>
                      <a:r>
                        <a:rPr lang="en-US" altLang="ko-KR" sz="1400" b="1" dirty="0">
                          <a:solidFill>
                            <a:srgbClr val="002060"/>
                          </a:solidFill>
                        </a:rPr>
                        <a:t>)</a:t>
                      </a:r>
                      <a:endParaRPr lang="ko-KR" alt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수수료율</a:t>
                      </a:r>
                      <a:r>
                        <a:rPr lang="en-US" altLang="ko-KR" sz="1400" dirty="0">
                          <a:solidFill>
                            <a:srgbClr val="4C6B03"/>
                          </a:solidFill>
                        </a:rPr>
                        <a:t>·</a:t>
                      </a:r>
                      <a:r>
                        <a:rPr lang="en" altLang="ko-KR" sz="1400" dirty="0">
                          <a:solidFill>
                            <a:srgbClr val="4C6B03"/>
                          </a:solidFill>
                        </a:rPr>
                        <a:t>CAC 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데이터 부재로 수익 분석 한계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" altLang="ko-KR" sz="1400" dirty="0">
                          <a:solidFill>
                            <a:srgbClr val="4C6B03"/>
                          </a:solidFill>
                        </a:rPr>
                        <a:t>Activation 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단계 행동 데이터 부족</a:t>
                      </a:r>
                      <a:endParaRPr lang="en-US" altLang="ko-KR" sz="1400" dirty="0">
                        <a:solidFill>
                          <a:srgbClr val="4C6B03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분석 방향 합의 및 전환을 위한 시간 부족</a:t>
                      </a:r>
                      <a:endParaRPr lang="en-US" altLang="ko-KR" sz="1400" dirty="0">
                        <a:solidFill>
                          <a:srgbClr val="4C6B0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6301439"/>
                  </a:ext>
                </a:extLst>
              </a:tr>
              <a:tr h="10838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b="1" dirty="0">
                          <a:solidFill>
                            <a:srgbClr val="002060"/>
                          </a:solidFill>
                        </a:rPr>
                        <a:t>Try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rgbClr val="002060"/>
                          </a:solidFill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rgbClr val="002060"/>
                          </a:solidFill>
                        </a:rPr>
                        <a:t>계획</a:t>
                      </a:r>
                      <a:r>
                        <a:rPr lang="en-US" altLang="ko-KR" sz="1400" b="1" dirty="0">
                          <a:solidFill>
                            <a:srgbClr val="002060"/>
                          </a:solidFill>
                        </a:rPr>
                        <a:t>)</a:t>
                      </a:r>
                      <a:endParaRPr lang="en" altLang="ko-KR" sz="1400" b="1" dirty="0">
                        <a:solidFill>
                          <a:srgbClr val="002060"/>
                        </a:solidFill>
                      </a:endParaRPr>
                    </a:p>
                    <a:p>
                      <a:pPr algn="ctr" latinLnBrk="1"/>
                      <a:endParaRPr lang="ko-KR" alt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분석 목적에 맞는 </a:t>
                      </a:r>
                      <a:r>
                        <a:rPr lang="ko-KR" altLang="en-US" sz="1400" dirty="0" err="1">
                          <a:solidFill>
                            <a:srgbClr val="4C6B03"/>
                          </a:solidFill>
                        </a:rPr>
                        <a:t>데이터셋인지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 충분히 사전탐색의 시간 갖기  </a:t>
                      </a:r>
                      <a:endParaRPr lang="en-US" altLang="ko-KR" sz="1400" dirty="0">
                        <a:solidFill>
                          <a:srgbClr val="4C6B03"/>
                        </a:solidFill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복잡한 구조</a:t>
                      </a:r>
                      <a:r>
                        <a:rPr lang="en-US" altLang="ko-KR" sz="1400" dirty="0">
                          <a:solidFill>
                            <a:srgbClr val="4C6B03"/>
                          </a:solidFill>
                        </a:rPr>
                        <a:t>,</a:t>
                      </a:r>
                      <a:r>
                        <a:rPr lang="ko-KR" altLang="en-US" sz="1400" dirty="0">
                          <a:solidFill>
                            <a:srgbClr val="4C6B03"/>
                          </a:solidFill>
                        </a:rPr>
                        <a:t> 대규모 데이터셋 분석 경험 높이기</a:t>
                      </a:r>
                      <a:endParaRPr lang="en-US" altLang="ko-KR" sz="1400" dirty="0">
                        <a:solidFill>
                          <a:srgbClr val="4C6B03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1548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398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1254</TotalTime>
  <Words>3864</Words>
  <Application>Microsoft Macintosh PowerPoint</Application>
  <PresentationFormat>와이드스크린</PresentationFormat>
  <Paragraphs>464</Paragraphs>
  <Slides>17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.AppleSystemUIFont</vt:lpstr>
      <vt:lpstr>맑은 고딕</vt:lpstr>
      <vt:lpstr>ui-sans-serif</vt:lpstr>
      <vt:lpstr>Arial</vt:lpstr>
      <vt:lpstr>Helvetica Neue</vt:lpstr>
      <vt:lpstr>Noto Sans Syriac SemiBold</vt:lpstr>
      <vt:lpstr>Wingdings</vt:lpstr>
      <vt:lpstr>Office 테마</vt:lpstr>
      <vt:lpstr>PowerPoint 프레젠테이션</vt:lpstr>
      <vt:lpstr>PowerPoint 프레젠테이션</vt:lpstr>
      <vt:lpstr>Olist 성장은 어디에서 기인하는 것일까?  </vt:lpstr>
      <vt:lpstr>보이는 성장 뒤에 숨은 구조는 무엇일까? </vt:lpstr>
      <vt:lpstr>신뢰 가능한 데이터 구조 위에서 분석 설계 기획</vt:lpstr>
      <vt:lpstr>올리스트의 성장은 재구매(Retention)에 의해 만들어지고 있지 않다</vt:lpstr>
      <vt:lpstr>의미있는 재구매 고객을 추려낼 수 있을까?  </vt:lpstr>
      <vt:lpstr>올리스트의 재구매 부진은 ‘가격 요인’과 ‘경험 품질’의 문제가 아니었다</vt:lpstr>
      <vt:lpstr>재구매는 ‘충성도’라기 보다는 첫 구매에서 채우지 못한 수요의 보충  </vt:lpstr>
      <vt:lpstr>재구매가 아닌데, 올리스트 매출은 왜 성장했을까?  </vt:lpstr>
      <vt:lpstr>Olist 매출은 평균 고객이 아니라, 소수 고객의 꼬리(tail)에 의해 만들어진다</vt:lpstr>
      <vt:lpstr>어떤 고객 1%를 늘리느냐가 매출효율을 5배 이상 바꾼다 </vt:lpstr>
      <vt:lpstr>고가치 고객은 첫 구매부터 ‘가치소비 성향’이 다르다</vt:lpstr>
      <vt:lpstr>고가치 고객은 첫 구매부터 가격 허용도가 다르다. </vt:lpstr>
      <vt:lpstr>대도시•경제 중심 지역 중심으로 고가치 고객의 수가 집중된다</vt:lpstr>
      <vt:lpstr>고가치 고객 세그먼트에 집중한 AARRR 재설계 전략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Ui-jin park</dc:creator>
  <cp:lastModifiedBy>Ui-jin park</cp:lastModifiedBy>
  <cp:revision>14</cp:revision>
  <dcterms:created xsi:type="dcterms:W3CDTF">2026-01-22T05:48:17Z</dcterms:created>
  <dcterms:modified xsi:type="dcterms:W3CDTF">2026-01-24T09:39:08Z</dcterms:modified>
</cp:coreProperties>
</file>